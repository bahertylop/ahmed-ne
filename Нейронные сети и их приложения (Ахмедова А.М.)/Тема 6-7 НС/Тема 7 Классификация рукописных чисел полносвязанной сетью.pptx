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61" r:id="rId3"/>
    <p:sldId id="363" r:id="rId4"/>
    <p:sldId id="396" r:id="rId5"/>
    <p:sldId id="397" r:id="rId6"/>
    <p:sldId id="398" r:id="rId7"/>
    <p:sldId id="399" r:id="rId8"/>
    <p:sldId id="364" r:id="rId9"/>
    <p:sldId id="366" r:id="rId10"/>
    <p:sldId id="365" r:id="rId11"/>
    <p:sldId id="367" r:id="rId12"/>
    <p:sldId id="376" r:id="rId13"/>
    <p:sldId id="380" r:id="rId14"/>
    <p:sldId id="400" r:id="rId15"/>
    <p:sldId id="378" r:id="rId16"/>
    <p:sldId id="394" r:id="rId17"/>
    <p:sldId id="381" r:id="rId18"/>
    <p:sldId id="401" r:id="rId19"/>
    <p:sldId id="402" r:id="rId20"/>
    <p:sldId id="403" r:id="rId21"/>
    <p:sldId id="404" r:id="rId22"/>
    <p:sldId id="405" r:id="rId23"/>
    <p:sldId id="406" r:id="rId24"/>
    <p:sldId id="407" r:id="rId25"/>
    <p:sldId id="371" r:id="rId26"/>
    <p:sldId id="370" r:id="rId27"/>
    <p:sldId id="408" r:id="rId28"/>
    <p:sldId id="409" r:id="rId29"/>
  </p:sldIdLst>
  <p:sldSz cx="4597400" cy="3467100"/>
  <p:notesSz cx="4597400" cy="34671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7" d="100"/>
          <a:sy n="127" d="100"/>
        </p:scale>
        <p:origin x="-1465" y="-8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614" y="1074801"/>
            <a:ext cx="3916965" cy="72809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229" y="1941576"/>
            <a:ext cx="3225736" cy="86677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10/19/2021</a:t>
            </a:fld>
            <a:endParaRPr lang="en-US" smtClean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600" spc="15" dirty="0" smtClean="0">
                <a:solidFill>
                  <a:srgbClr val="FFD564"/>
                </a:solidFill>
                <a:latin typeface="Arial"/>
                <a:cs typeface="Arial"/>
              </a:rPr>
              <a:t>‹#›</a:t>
            </a:fld>
            <a:r>
              <a:rPr sz="600" spc="70" dirty="0" smtClean="0">
                <a:solidFill>
                  <a:srgbClr val="FFD564"/>
                </a:solidFill>
                <a:latin typeface="Arial"/>
                <a:cs typeface="Arial"/>
              </a:rPr>
              <a:t>/11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10/19/2021</a:t>
            </a:fld>
            <a:endParaRPr lang="en-US" smtClean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600" spc="15" dirty="0" smtClean="0">
                <a:solidFill>
                  <a:srgbClr val="FFD564"/>
                </a:solidFill>
                <a:latin typeface="Arial"/>
                <a:cs typeface="Arial"/>
              </a:rPr>
              <a:t>‹#›</a:t>
            </a:fld>
            <a:r>
              <a:rPr sz="600" spc="70" dirty="0" smtClean="0">
                <a:solidFill>
                  <a:srgbClr val="FFD564"/>
                </a:solidFill>
                <a:latin typeface="Arial"/>
                <a:cs typeface="Arial"/>
              </a:rPr>
              <a:t>/11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409" y="797433"/>
            <a:ext cx="2004564" cy="228828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3220" y="797433"/>
            <a:ext cx="2004564" cy="228828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10/19/2021</a:t>
            </a:fld>
            <a:endParaRPr lang="en-US" smtClean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600" spc="15" dirty="0" smtClean="0">
                <a:solidFill>
                  <a:srgbClr val="FFD564"/>
                </a:solidFill>
                <a:latin typeface="Arial"/>
                <a:cs typeface="Arial"/>
              </a:rPr>
              <a:t>‹#›</a:t>
            </a:fld>
            <a:r>
              <a:rPr sz="600" spc="70" dirty="0" smtClean="0">
                <a:solidFill>
                  <a:srgbClr val="FFD564"/>
                </a:solidFill>
                <a:latin typeface="Arial"/>
                <a:cs typeface="Arial"/>
              </a:rPr>
              <a:t>/11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10/19/2021</a:t>
            </a:fld>
            <a:endParaRPr lang="en-US" smtClean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600" spc="15" dirty="0" smtClean="0">
                <a:solidFill>
                  <a:srgbClr val="FFD564"/>
                </a:solidFill>
                <a:latin typeface="Arial"/>
                <a:cs typeface="Arial"/>
              </a:rPr>
              <a:t>‹#›</a:t>
            </a:fld>
            <a:r>
              <a:rPr sz="600" spc="70" dirty="0" smtClean="0">
                <a:solidFill>
                  <a:srgbClr val="FFD564"/>
                </a:solidFill>
                <a:latin typeface="Arial"/>
                <a:cs typeface="Arial"/>
              </a:rPr>
              <a:t>/11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10/19/2021</a:t>
            </a:fld>
            <a:endParaRPr lang="en-US" smtClean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600" spc="15" dirty="0" smtClean="0">
                <a:solidFill>
                  <a:srgbClr val="FFD564"/>
                </a:solidFill>
                <a:latin typeface="Arial"/>
                <a:cs typeface="Arial"/>
              </a:rPr>
              <a:t>‹#›</a:t>
            </a:fld>
            <a:r>
              <a:rPr sz="600" spc="70" dirty="0" smtClean="0">
                <a:solidFill>
                  <a:srgbClr val="FFD564"/>
                </a:solidFill>
                <a:latin typeface="Arial"/>
                <a:cs typeface="Arial"/>
              </a:rPr>
              <a:t>/11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4608004" cy="34559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0847" y="666783"/>
            <a:ext cx="3546500" cy="95763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6786" y="3224403"/>
            <a:ext cx="1474622" cy="17335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409" y="3224403"/>
            <a:ext cx="1059884" cy="17335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10/19/2021</a:t>
            </a:fld>
            <a:endParaRPr lang="en-US" smtClean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600" spc="15" dirty="0" smtClean="0">
                <a:solidFill>
                  <a:srgbClr val="FFD564"/>
                </a:solidFill>
                <a:latin typeface="Arial"/>
                <a:cs typeface="Arial"/>
              </a:rPr>
              <a:t>‹#›</a:t>
            </a:fld>
            <a:r>
              <a:rPr sz="600" spc="70" dirty="0" smtClean="0">
                <a:solidFill>
                  <a:srgbClr val="FFD564"/>
                </a:solidFill>
                <a:latin typeface="Arial"/>
                <a:cs typeface="Arial"/>
              </a:rPr>
              <a:t>/11</a:t>
            </a:r>
            <a:endParaRPr sz="600">
              <a:latin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lfira233/NN/blob/main/Klass_ruk_chisel_mnist.ipynb" TargetMode="Externa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docs/stable/nn.html#linear" TargetMode="Externa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2302" y="978712"/>
            <a:ext cx="3823400" cy="60243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lang="ru-RU" spc="-65" dirty="0">
                <a:solidFill>
                  <a:srgbClr val="FFD564"/>
                </a:solidFill>
                <a:latin typeface="Arial"/>
                <a:cs typeface="Arial"/>
              </a:rPr>
              <a:t>Тема </a:t>
            </a:r>
            <a:r>
              <a:rPr lang="ru-RU" spc="-65" dirty="0" smtClean="0">
                <a:solidFill>
                  <a:srgbClr val="FFD564"/>
                </a:solidFill>
                <a:latin typeface="Arial"/>
                <a:cs typeface="Arial"/>
              </a:rPr>
              <a:t>7 </a:t>
            </a:r>
            <a:r>
              <a:rPr lang="ru-RU" spc="-65" dirty="0">
                <a:solidFill>
                  <a:srgbClr val="FFD564"/>
                </a:solidFill>
                <a:latin typeface="Arial"/>
                <a:cs typeface="Arial"/>
              </a:rPr>
              <a:t>Классификация рукописных чисел </a:t>
            </a:r>
            <a:r>
              <a:rPr lang="ru-RU" spc="-65" dirty="0" err="1">
                <a:solidFill>
                  <a:srgbClr val="FFD564"/>
                </a:solidFill>
                <a:latin typeface="Arial"/>
                <a:cs typeface="Arial"/>
              </a:rPr>
              <a:t>полносвязанной</a:t>
            </a:r>
            <a:r>
              <a:rPr lang="ru-RU" spc="-65" dirty="0">
                <a:solidFill>
                  <a:srgbClr val="FFD564"/>
                </a:solidFill>
                <a:latin typeface="Arial"/>
                <a:cs typeface="Arial"/>
              </a:rPr>
              <a:t> </a:t>
            </a:r>
            <a:r>
              <a:rPr lang="ru-RU" spc="-65" dirty="0" smtClean="0">
                <a:solidFill>
                  <a:srgbClr val="FFD564"/>
                </a:solidFill>
                <a:latin typeface="Arial"/>
                <a:cs typeface="Arial"/>
              </a:rPr>
              <a:t>сетью</a:t>
            </a:r>
            <a:endParaRPr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17652" y="1257731"/>
            <a:ext cx="3798050" cy="0"/>
          </a:xfrm>
          <a:custGeom>
            <a:avLst/>
            <a:gdLst/>
            <a:ahLst/>
            <a:cxnLst/>
            <a:rect l="l" t="t" r="r" b="b"/>
            <a:pathLst>
              <a:path w="3798050">
                <a:moveTo>
                  <a:pt x="0" y="0"/>
                </a:moveTo>
                <a:lnTo>
                  <a:pt x="3798050" y="0"/>
                </a:lnTo>
              </a:path>
            </a:pathLst>
          </a:custGeom>
          <a:ln w="25305">
            <a:solidFill>
              <a:srgbClr val="FFD564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" y="361950"/>
            <a:ext cx="3895725" cy="196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object 7"/>
          <p:cNvSpPr txBox="1"/>
          <p:nvPr/>
        </p:nvSpPr>
        <p:spPr>
          <a:xfrm>
            <a:off x="4249801" y="3248202"/>
            <a:ext cx="203835" cy="1092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ru-RU" sz="600" spc="55" dirty="0" smtClean="0">
                <a:solidFill>
                  <a:srgbClr val="FFD564"/>
                </a:solidFill>
                <a:latin typeface="Arial"/>
                <a:cs typeface="Arial"/>
              </a:rPr>
              <a:t>1</a:t>
            </a:r>
            <a:r>
              <a:rPr sz="600" spc="55" dirty="0" smtClean="0">
                <a:solidFill>
                  <a:srgbClr val="FFD564"/>
                </a:solidFill>
                <a:latin typeface="Arial"/>
                <a:cs typeface="Arial"/>
              </a:rPr>
              <a:t>/</a:t>
            </a:r>
            <a:r>
              <a:rPr lang="ru-RU" sz="600" spc="55" dirty="0" smtClean="0">
                <a:solidFill>
                  <a:srgbClr val="FFD564"/>
                </a:solidFill>
                <a:latin typeface="Arial"/>
                <a:cs typeface="Arial"/>
              </a:rPr>
              <a:t>2</a:t>
            </a:r>
            <a:endParaRPr sz="60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0700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7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ru-RU" sz="600" spc="55" dirty="0" smtClean="0">
                <a:solidFill>
                  <a:srgbClr val="FFD564"/>
                </a:solidFill>
                <a:latin typeface="Arial"/>
                <a:cs typeface="Arial"/>
              </a:rPr>
              <a:t>3</a:t>
            </a:r>
            <a:endParaRPr sz="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133350"/>
            <a:ext cx="4485099" cy="278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6142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7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ru-RU" sz="600" spc="55" dirty="0" smtClean="0">
                <a:solidFill>
                  <a:srgbClr val="FFD564"/>
                </a:solidFill>
                <a:latin typeface="Arial"/>
                <a:cs typeface="Arial"/>
              </a:rPr>
              <a:t>4</a:t>
            </a:r>
            <a:endParaRPr sz="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209550"/>
            <a:ext cx="4502918" cy="202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7679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7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ru-RU" sz="600" spc="55" dirty="0" smtClean="0">
                <a:solidFill>
                  <a:srgbClr val="FFD564"/>
                </a:solidFill>
                <a:latin typeface="Arial"/>
                <a:cs typeface="Arial"/>
              </a:rPr>
              <a:t>5</a:t>
            </a:r>
            <a:endParaRPr sz="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64" y="209550"/>
            <a:ext cx="446831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9922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7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ru-RU" sz="600" spc="55" dirty="0" smtClean="0">
                <a:solidFill>
                  <a:srgbClr val="FFD564"/>
                </a:solidFill>
                <a:latin typeface="Arial"/>
                <a:cs typeface="Arial"/>
              </a:rPr>
              <a:t>6</a:t>
            </a:r>
            <a:endParaRPr sz="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36" y="209550"/>
            <a:ext cx="4381500" cy="206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9735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7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ru-RU" sz="600" spc="55" dirty="0" smtClean="0">
                <a:solidFill>
                  <a:srgbClr val="FFD564"/>
                </a:solidFill>
                <a:latin typeface="Arial"/>
                <a:cs typeface="Arial"/>
              </a:rPr>
              <a:t>7</a:t>
            </a:r>
            <a:endParaRPr sz="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61" y="209550"/>
            <a:ext cx="4333875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3452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7"/>
          <p:cNvSpPr txBox="1"/>
          <p:nvPr/>
        </p:nvSpPr>
        <p:spPr>
          <a:xfrm>
            <a:off x="4351718" y="3276040"/>
            <a:ext cx="203835" cy="1092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ru-RU" sz="600" spc="55" dirty="0" smtClean="0">
                <a:solidFill>
                  <a:srgbClr val="FFD564"/>
                </a:solidFill>
                <a:latin typeface="Arial"/>
                <a:cs typeface="Arial"/>
              </a:rPr>
              <a:t>8</a:t>
            </a:r>
            <a:endParaRPr sz="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" y="110939"/>
            <a:ext cx="3246437" cy="319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2757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7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ru-RU" sz="600" spc="55" dirty="0" smtClean="0">
                <a:solidFill>
                  <a:srgbClr val="FFD564"/>
                </a:solidFill>
                <a:latin typeface="Arial"/>
                <a:cs typeface="Arial"/>
              </a:rPr>
              <a:t>9</a:t>
            </a:r>
            <a:endParaRPr sz="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438150"/>
            <a:ext cx="4400204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3893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7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ru-RU" sz="600" spc="55" dirty="0" smtClean="0">
                <a:solidFill>
                  <a:srgbClr val="FFD564"/>
                </a:solidFill>
                <a:latin typeface="Arial"/>
                <a:cs typeface="Arial"/>
              </a:rPr>
              <a:t>10</a:t>
            </a:r>
            <a:endParaRPr sz="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" y="285750"/>
            <a:ext cx="4500563" cy="240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3795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7"/>
          <p:cNvSpPr txBox="1"/>
          <p:nvPr/>
        </p:nvSpPr>
        <p:spPr>
          <a:xfrm>
            <a:off x="4342866" y="3283021"/>
            <a:ext cx="203835" cy="1092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ru-RU" sz="600" spc="55" dirty="0" smtClean="0">
                <a:solidFill>
                  <a:srgbClr val="FFD564"/>
                </a:solidFill>
                <a:latin typeface="Arial"/>
                <a:cs typeface="Arial"/>
              </a:rPr>
              <a:t>11</a:t>
            </a:r>
            <a:endParaRPr sz="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00" y="152797"/>
            <a:ext cx="4470802" cy="1255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0775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291526" y="3248202"/>
            <a:ext cx="249936" cy="1092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ru-RU" sz="600" spc="55" dirty="0" smtClean="0">
                <a:solidFill>
                  <a:srgbClr val="FFD564"/>
                </a:solidFill>
                <a:latin typeface="Arial"/>
                <a:cs typeface="Arial"/>
              </a:rPr>
              <a:t>12</a:t>
            </a:r>
            <a:endParaRPr sz="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1" y="379172"/>
            <a:ext cx="4452562" cy="4590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1424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7"/>
          <p:cNvSpPr txBox="1"/>
          <p:nvPr/>
        </p:nvSpPr>
        <p:spPr>
          <a:xfrm>
            <a:off x="4291526" y="3248202"/>
            <a:ext cx="249936" cy="1092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ru-RU" sz="600" spc="55" dirty="0" smtClean="0">
                <a:solidFill>
                  <a:srgbClr val="FFD564"/>
                </a:solidFill>
                <a:latin typeface="Arial"/>
                <a:cs typeface="Arial"/>
              </a:rPr>
              <a:t>13</a:t>
            </a:r>
            <a:endParaRPr sz="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" y="32332"/>
            <a:ext cx="3048000" cy="3325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3422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7"/>
          <p:cNvSpPr txBox="1"/>
          <p:nvPr/>
        </p:nvSpPr>
        <p:spPr>
          <a:xfrm>
            <a:off x="4291526" y="3248202"/>
            <a:ext cx="249936" cy="1092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ru-RU" sz="600" spc="55" dirty="0" smtClean="0">
                <a:solidFill>
                  <a:srgbClr val="FFD564"/>
                </a:solidFill>
                <a:latin typeface="Arial"/>
                <a:cs typeface="Arial"/>
              </a:rPr>
              <a:t>14</a:t>
            </a:r>
            <a:endParaRPr sz="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953" y="67579"/>
            <a:ext cx="1153747" cy="3342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7203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7"/>
          <p:cNvSpPr txBox="1"/>
          <p:nvPr/>
        </p:nvSpPr>
        <p:spPr>
          <a:xfrm>
            <a:off x="4291526" y="3260912"/>
            <a:ext cx="249936" cy="1092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ru-RU" sz="600" spc="55" dirty="0" smtClean="0">
                <a:solidFill>
                  <a:srgbClr val="FFD564"/>
                </a:solidFill>
                <a:latin typeface="Arial"/>
                <a:cs typeface="Arial"/>
              </a:rPr>
              <a:t>15</a:t>
            </a:r>
            <a:endParaRPr sz="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631" y="57150"/>
            <a:ext cx="4038600" cy="2811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1958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291526" y="3248202"/>
            <a:ext cx="249936" cy="1092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ru-RU" sz="600" spc="55" dirty="0" smtClean="0">
                <a:solidFill>
                  <a:srgbClr val="FFD564"/>
                </a:solidFill>
                <a:latin typeface="Arial"/>
                <a:cs typeface="Arial"/>
              </a:rPr>
              <a:t>16</a:t>
            </a:r>
            <a:endParaRPr sz="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00" y="514350"/>
            <a:ext cx="2984500" cy="1655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6583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7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ru-RU" sz="600" spc="55" dirty="0" smtClean="0">
                <a:solidFill>
                  <a:srgbClr val="FFD564"/>
                </a:solidFill>
                <a:latin typeface="Arial"/>
                <a:cs typeface="Arial"/>
              </a:rPr>
              <a:t>17</a:t>
            </a:r>
            <a:endParaRPr sz="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285750"/>
            <a:ext cx="4453636" cy="1513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3110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7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ru-RU" sz="600" spc="55" dirty="0" smtClean="0">
                <a:solidFill>
                  <a:srgbClr val="FFD564"/>
                </a:solidFill>
                <a:latin typeface="Arial"/>
                <a:cs typeface="Arial"/>
              </a:rPr>
              <a:t>18</a:t>
            </a:r>
            <a:endParaRPr sz="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79" y="171501"/>
            <a:ext cx="4473742" cy="2601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11057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7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ru-RU" sz="600" spc="55" dirty="0" smtClean="0">
                <a:solidFill>
                  <a:srgbClr val="FFD564"/>
                </a:solidFill>
                <a:latin typeface="Arial"/>
                <a:cs typeface="Arial"/>
              </a:rPr>
              <a:t>19</a:t>
            </a:r>
            <a:endParaRPr sz="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" y="38100"/>
            <a:ext cx="3657599" cy="3361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42100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7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ru-RU" sz="600" spc="55" dirty="0" smtClean="0">
                <a:solidFill>
                  <a:srgbClr val="FFD564"/>
                </a:solidFill>
                <a:latin typeface="Arial"/>
                <a:cs typeface="Arial"/>
              </a:rPr>
              <a:t>20</a:t>
            </a:r>
            <a:endParaRPr sz="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" y="36478"/>
            <a:ext cx="3129802" cy="3373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317500" y="301869"/>
            <a:ext cx="1371600" cy="381000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2170723" y="1581150"/>
            <a:ext cx="609600" cy="304800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2650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7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ru-RU" sz="600" spc="55" dirty="0" smtClean="0">
                <a:solidFill>
                  <a:srgbClr val="FFD564"/>
                </a:solidFill>
                <a:latin typeface="Arial"/>
                <a:cs typeface="Arial"/>
              </a:rPr>
              <a:t>21</a:t>
            </a:r>
            <a:endParaRPr sz="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" y="133350"/>
            <a:ext cx="3690237" cy="2975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47616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7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ru-RU" sz="600" spc="55" dirty="0" smtClean="0">
                <a:solidFill>
                  <a:srgbClr val="FFD564"/>
                </a:solidFill>
                <a:latin typeface="Arial"/>
                <a:cs typeface="Arial"/>
              </a:rPr>
              <a:t>22</a:t>
            </a:r>
            <a:endParaRPr sz="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" y="10258"/>
            <a:ext cx="3076164" cy="3399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165100" y="126023"/>
            <a:ext cx="1295400" cy="228600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317500" y="2876550"/>
            <a:ext cx="2286000" cy="76200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317500" y="3193592"/>
            <a:ext cx="1752600" cy="109220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4524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7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ru-RU" sz="600" spc="55" dirty="0" smtClean="0">
                <a:solidFill>
                  <a:srgbClr val="FFD564"/>
                </a:solidFill>
                <a:latin typeface="Arial"/>
                <a:cs typeface="Arial"/>
              </a:rPr>
              <a:t>23</a:t>
            </a:r>
            <a:endParaRPr sz="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" y="133350"/>
            <a:ext cx="3841750" cy="292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73424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7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ru-RU" sz="600" spc="55" dirty="0" smtClean="0">
                <a:solidFill>
                  <a:srgbClr val="FFD564"/>
                </a:solidFill>
                <a:latin typeface="Arial"/>
                <a:cs typeface="Arial"/>
              </a:rPr>
              <a:t>24</a:t>
            </a:r>
            <a:endParaRPr sz="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614" y="209551"/>
            <a:ext cx="3933207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79335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88900" y="209550"/>
            <a:ext cx="4267200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dirty="0" smtClean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По ссылке</a:t>
            </a: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en-US" u="sng" dirty="0">
                <a:solidFill>
                  <a:srgbClr val="0000FF"/>
                </a:solidFill>
                <a:latin typeface="Times New Roman"/>
                <a:ea typeface="Calibri"/>
                <a:cs typeface="Times New Roman"/>
                <a:hlinkClick r:id="rId2"/>
              </a:rPr>
              <a:t>https://</a:t>
            </a:r>
            <a:r>
              <a:rPr lang="en-US" u="sng" dirty="0" smtClean="0">
                <a:solidFill>
                  <a:srgbClr val="0000FF"/>
                </a:solidFill>
                <a:latin typeface="Times New Roman"/>
                <a:ea typeface="Calibri"/>
                <a:cs typeface="Times New Roman"/>
                <a:hlinkClick r:id="rId2"/>
              </a:rPr>
              <a:t>github.com/Alfira233/NN/blob/main/Klass_ruk_chisel_mnist.ipynb</a:t>
            </a:r>
            <a:endParaRPr lang="ru-RU" u="sng" smtClean="0">
              <a:solidFill>
                <a:srgbClr val="0000FF"/>
              </a:solidFill>
              <a:latin typeface="Times New Roman"/>
              <a:ea typeface="Calibri"/>
              <a:cs typeface="Times New Roman"/>
            </a:endParaRP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smtClean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хранится </a:t>
            </a:r>
            <a:r>
              <a:rPr lang="ru-RU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код, который был представлен ранее</a:t>
            </a:r>
            <a:endParaRPr lang="ru-RU" sz="1600" dirty="0">
              <a:solidFill>
                <a:schemeClr val="bg1"/>
              </a:solidFill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804131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2635" y="0"/>
            <a:ext cx="4419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Aft>
                <a:spcPts val="0"/>
              </a:spcAft>
            </a:pPr>
            <a:r>
              <a:rPr lang="ru-RU" dirty="0" smtClean="0">
                <a:solidFill>
                  <a:srgbClr val="FFC000"/>
                </a:solidFill>
                <a:latin typeface="Times New Roman"/>
                <a:ea typeface="Calibri"/>
                <a:cs typeface="Times New Roman"/>
              </a:rPr>
              <a:t>Задание 1:</a:t>
            </a:r>
            <a:endParaRPr lang="ru-RU" sz="1600" dirty="0">
              <a:solidFill>
                <a:srgbClr val="FFC000"/>
              </a:solidFill>
              <a:ea typeface="Calibri"/>
              <a:cs typeface="Times New Roman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17058" y="285750"/>
            <a:ext cx="4419600" cy="30585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sz="950" dirty="0">
                <a:solidFill>
                  <a:schemeClr val="bg1"/>
                </a:solidFill>
                <a:latin typeface="Roboto"/>
              </a:rPr>
              <a:t>Запустите </a:t>
            </a:r>
            <a:r>
              <a:rPr lang="ru-RU" sz="950" dirty="0" smtClean="0">
                <a:solidFill>
                  <a:schemeClr val="bg1"/>
                </a:solidFill>
                <a:latin typeface="Roboto"/>
              </a:rPr>
              <a:t>код</a:t>
            </a:r>
            <a:r>
              <a:rPr lang="ru-RU" sz="950" dirty="0">
                <a:solidFill>
                  <a:schemeClr val="bg1"/>
                </a:solidFill>
                <a:latin typeface="Roboto"/>
              </a:rPr>
              <a:t> на GPU. </a:t>
            </a:r>
            <a:endParaRPr lang="ru-RU" sz="950" dirty="0" smtClean="0">
              <a:solidFill>
                <a:schemeClr val="bg1"/>
              </a:solidFill>
              <a:latin typeface="Roboto"/>
            </a:endParaRPr>
          </a:p>
          <a:p>
            <a:pPr>
              <a:lnSpc>
                <a:spcPct val="120000"/>
              </a:lnSpc>
            </a:pPr>
            <a:r>
              <a:rPr lang="ru-RU" sz="950" dirty="0" smtClean="0">
                <a:solidFill>
                  <a:schemeClr val="bg1"/>
                </a:solidFill>
                <a:latin typeface="Roboto"/>
              </a:rPr>
              <a:t>В </a:t>
            </a:r>
            <a:r>
              <a:rPr lang="ru-RU" sz="950" dirty="0">
                <a:solidFill>
                  <a:schemeClr val="bg1"/>
                </a:solidFill>
                <a:latin typeface="Roboto"/>
              </a:rPr>
              <a:t>последнем шаге мы рисовали график </a:t>
            </a:r>
            <a:r>
              <a:rPr lang="ru-RU" sz="950" dirty="0" err="1">
                <a:solidFill>
                  <a:schemeClr val="bg1"/>
                </a:solidFill>
                <a:latin typeface="Roboto"/>
              </a:rPr>
              <a:t>accuracy</a:t>
            </a:r>
            <a:r>
              <a:rPr lang="ru-RU" sz="950" dirty="0">
                <a:solidFill>
                  <a:schemeClr val="bg1"/>
                </a:solidFill>
                <a:latin typeface="Roboto"/>
              </a:rPr>
              <a:t> и </a:t>
            </a:r>
            <a:r>
              <a:rPr lang="ru-RU" sz="950" dirty="0" err="1">
                <a:solidFill>
                  <a:schemeClr val="bg1"/>
                </a:solidFill>
                <a:latin typeface="Roboto"/>
              </a:rPr>
              <a:t>loss</a:t>
            </a:r>
            <a:r>
              <a:rPr lang="ru-RU" sz="950" dirty="0">
                <a:solidFill>
                  <a:schemeClr val="bg1"/>
                </a:solidFill>
                <a:latin typeface="Roboto"/>
              </a:rPr>
              <a:t> на </a:t>
            </a:r>
            <a:r>
              <a:rPr lang="ru-RU" sz="950" dirty="0" err="1">
                <a:solidFill>
                  <a:schemeClr val="bg1"/>
                </a:solidFill>
                <a:latin typeface="Roboto"/>
              </a:rPr>
              <a:t>валидации</a:t>
            </a:r>
            <a:r>
              <a:rPr lang="ru-RU" sz="950" dirty="0">
                <a:solidFill>
                  <a:schemeClr val="bg1"/>
                </a:solidFill>
                <a:latin typeface="Roboto"/>
              </a:rPr>
              <a:t>. </a:t>
            </a:r>
            <a:r>
              <a:rPr lang="ru-RU" sz="950" dirty="0" smtClean="0">
                <a:solidFill>
                  <a:schemeClr val="bg1"/>
                </a:solidFill>
                <a:latin typeface="Roboto"/>
              </a:rPr>
              <a:t>Исследуйте, </a:t>
            </a:r>
            <a:r>
              <a:rPr lang="ru-RU" sz="950" dirty="0">
                <a:solidFill>
                  <a:schemeClr val="bg1"/>
                </a:solidFill>
                <a:latin typeface="Roboto"/>
              </a:rPr>
              <a:t>что с ними происходит на </a:t>
            </a:r>
            <a:r>
              <a:rPr lang="ru-RU" sz="950" dirty="0" err="1">
                <a:solidFill>
                  <a:schemeClr val="bg1"/>
                </a:solidFill>
                <a:latin typeface="Roboto"/>
              </a:rPr>
              <a:t>train'е</a:t>
            </a:r>
            <a:r>
              <a:rPr lang="ru-RU" sz="950" dirty="0">
                <a:solidFill>
                  <a:schemeClr val="bg1"/>
                </a:solidFill>
                <a:latin typeface="Roboto"/>
              </a:rPr>
              <a:t>?</a:t>
            </a:r>
          </a:p>
          <a:p>
            <a:pPr>
              <a:lnSpc>
                <a:spcPct val="120000"/>
              </a:lnSpc>
              <a:buFont typeface="Arial"/>
              <a:buChar char="•"/>
            </a:pPr>
            <a:r>
              <a:rPr lang="ru-RU" sz="950" dirty="0">
                <a:solidFill>
                  <a:schemeClr val="bg1"/>
                </a:solidFill>
                <a:latin typeface="Roboto"/>
              </a:rPr>
              <a:t>Постройте на одном графике </a:t>
            </a:r>
            <a:r>
              <a:rPr lang="ru-RU" sz="950" dirty="0" err="1">
                <a:solidFill>
                  <a:schemeClr val="bg1"/>
                </a:solidFill>
                <a:latin typeface="Roboto"/>
              </a:rPr>
              <a:t>loss</a:t>
            </a:r>
            <a:r>
              <a:rPr lang="ru-RU" sz="950" dirty="0">
                <a:solidFill>
                  <a:schemeClr val="bg1"/>
                </a:solidFill>
                <a:latin typeface="Roboto"/>
              </a:rPr>
              <a:t> для </a:t>
            </a:r>
            <a:r>
              <a:rPr lang="ru-RU" sz="950" dirty="0" err="1">
                <a:solidFill>
                  <a:schemeClr val="bg1"/>
                </a:solidFill>
                <a:latin typeface="Roboto"/>
              </a:rPr>
              <a:t>train</a:t>
            </a:r>
            <a:r>
              <a:rPr lang="ru-RU" sz="950" dirty="0">
                <a:solidFill>
                  <a:schemeClr val="bg1"/>
                </a:solidFill>
                <a:latin typeface="Roboto"/>
              </a:rPr>
              <a:t> и </a:t>
            </a:r>
            <a:r>
              <a:rPr lang="ru-RU" sz="950" dirty="0" err="1">
                <a:solidFill>
                  <a:schemeClr val="bg1"/>
                </a:solidFill>
                <a:latin typeface="Roboto"/>
              </a:rPr>
              <a:t>validation</a:t>
            </a:r>
            <a:r>
              <a:rPr lang="ru-RU" sz="950" dirty="0">
                <a:solidFill>
                  <a:schemeClr val="bg1"/>
                </a:solidFill>
                <a:latin typeface="Roboto"/>
              </a:rPr>
              <a:t>.</a:t>
            </a:r>
          </a:p>
          <a:p>
            <a:pPr>
              <a:lnSpc>
                <a:spcPct val="120000"/>
              </a:lnSpc>
              <a:buFont typeface="Arial"/>
              <a:buChar char="•"/>
            </a:pPr>
            <a:r>
              <a:rPr lang="ru-RU" sz="950" dirty="0">
                <a:solidFill>
                  <a:schemeClr val="bg1"/>
                </a:solidFill>
                <a:latin typeface="Roboto"/>
              </a:rPr>
              <a:t>Правда ли, что </a:t>
            </a:r>
            <a:r>
              <a:rPr lang="ru-RU" sz="950" dirty="0" err="1">
                <a:solidFill>
                  <a:schemeClr val="bg1"/>
                </a:solidFill>
                <a:latin typeface="Roboto"/>
              </a:rPr>
              <a:t>loss</a:t>
            </a:r>
            <a:r>
              <a:rPr lang="ru-RU" sz="950" dirty="0">
                <a:solidFill>
                  <a:schemeClr val="bg1"/>
                </a:solidFill>
                <a:latin typeface="Roboto"/>
              </a:rPr>
              <a:t> на </a:t>
            </a:r>
            <a:r>
              <a:rPr lang="ru-RU" sz="950" dirty="0" err="1">
                <a:solidFill>
                  <a:schemeClr val="bg1"/>
                </a:solidFill>
                <a:latin typeface="Roboto"/>
              </a:rPr>
              <a:t>train</a:t>
            </a:r>
            <a:r>
              <a:rPr lang="ru-RU" sz="950" dirty="0">
                <a:solidFill>
                  <a:schemeClr val="bg1"/>
                </a:solidFill>
                <a:latin typeface="Roboto"/>
              </a:rPr>
              <a:t> и </a:t>
            </a:r>
            <a:r>
              <a:rPr lang="ru-RU" sz="950" dirty="0" err="1">
                <a:solidFill>
                  <a:schemeClr val="bg1"/>
                </a:solidFill>
                <a:latin typeface="Roboto"/>
              </a:rPr>
              <a:t>validation</a:t>
            </a:r>
            <a:r>
              <a:rPr lang="ru-RU" sz="950" dirty="0">
                <a:solidFill>
                  <a:schemeClr val="bg1"/>
                </a:solidFill>
                <a:latin typeface="Roboto"/>
              </a:rPr>
              <a:t> падает одинаково быстро и выходит на одинаковое значение, или же у нас есть переобучение?</a:t>
            </a:r>
          </a:p>
          <a:p>
            <a:pPr>
              <a:lnSpc>
                <a:spcPct val="120000"/>
              </a:lnSpc>
              <a:buFont typeface="Arial"/>
              <a:buChar char="•"/>
            </a:pPr>
            <a:r>
              <a:rPr lang="ru-RU" sz="950" dirty="0">
                <a:solidFill>
                  <a:schemeClr val="bg1"/>
                </a:solidFill>
                <a:latin typeface="Roboto"/>
              </a:rPr>
              <a:t>Ведет ли увеличение количества эпох (40 эпох -&gt; 200 эпох) к улучшению метрик на </a:t>
            </a:r>
            <a:r>
              <a:rPr lang="ru-RU" sz="950" dirty="0" err="1">
                <a:solidFill>
                  <a:schemeClr val="bg1"/>
                </a:solidFill>
                <a:latin typeface="Roboto"/>
              </a:rPr>
              <a:t>валидации</a:t>
            </a:r>
            <a:r>
              <a:rPr lang="ru-RU" sz="950" dirty="0">
                <a:solidFill>
                  <a:schemeClr val="bg1"/>
                </a:solidFill>
                <a:latin typeface="Roboto"/>
              </a:rPr>
              <a:t>?</a:t>
            </a:r>
          </a:p>
          <a:p>
            <a:pPr>
              <a:lnSpc>
                <a:spcPct val="120000"/>
              </a:lnSpc>
              <a:buFont typeface="Arial"/>
              <a:buChar char="•"/>
            </a:pPr>
            <a:r>
              <a:rPr lang="ru-RU" sz="950" dirty="0">
                <a:solidFill>
                  <a:schemeClr val="bg1"/>
                </a:solidFill>
                <a:latin typeface="Roboto"/>
              </a:rPr>
              <a:t>Замерьте время вычисления 100 эпох на CPU и на GPU. Какое ускорение вы наблюдаете?</a:t>
            </a:r>
          </a:p>
          <a:p>
            <a:pPr>
              <a:lnSpc>
                <a:spcPct val="120000"/>
              </a:lnSpc>
              <a:buFont typeface="Arial"/>
              <a:buChar char="•"/>
            </a:pPr>
            <a:r>
              <a:rPr lang="ru-RU" sz="950" dirty="0">
                <a:solidFill>
                  <a:schemeClr val="bg1"/>
                </a:solidFill>
                <a:latin typeface="Roboto"/>
              </a:rPr>
              <a:t>Замедляет ли </a:t>
            </a:r>
            <a:r>
              <a:rPr lang="ru-RU" sz="950" dirty="0" err="1">
                <a:solidFill>
                  <a:schemeClr val="bg1"/>
                </a:solidFill>
                <a:latin typeface="Roboto"/>
              </a:rPr>
              <a:t>torch.backends.cudnn.deterministic</a:t>
            </a:r>
            <a:r>
              <a:rPr lang="ru-RU" sz="950" dirty="0">
                <a:solidFill>
                  <a:schemeClr val="bg1"/>
                </a:solidFill>
                <a:latin typeface="Roboto"/>
              </a:rPr>
              <a:t> = </a:t>
            </a:r>
            <a:r>
              <a:rPr lang="ru-RU" sz="950" dirty="0" err="1">
                <a:solidFill>
                  <a:schemeClr val="bg1"/>
                </a:solidFill>
                <a:latin typeface="Roboto"/>
              </a:rPr>
              <a:t>True</a:t>
            </a:r>
            <a:r>
              <a:rPr lang="ru-RU" sz="950" dirty="0">
                <a:solidFill>
                  <a:schemeClr val="bg1"/>
                </a:solidFill>
                <a:latin typeface="Roboto"/>
              </a:rPr>
              <a:t> обучение на практике? Если да, то насколько?</a:t>
            </a:r>
          </a:p>
          <a:p>
            <a:pPr>
              <a:lnSpc>
                <a:spcPct val="120000"/>
              </a:lnSpc>
              <a:buFont typeface="Arial"/>
              <a:buChar char="•"/>
            </a:pPr>
            <a:r>
              <a:rPr lang="ru-RU" sz="950" dirty="0">
                <a:solidFill>
                  <a:schemeClr val="bg1"/>
                </a:solidFill>
                <a:latin typeface="Roboto"/>
              </a:rPr>
              <a:t>Попробуйте разные методы градиентного спуска, которые были в лекции. Как выбор градиентного спуска влияет на </a:t>
            </a:r>
            <a:r>
              <a:rPr lang="ru-RU" sz="950" dirty="0" err="1">
                <a:solidFill>
                  <a:schemeClr val="bg1"/>
                </a:solidFill>
                <a:latin typeface="Roboto"/>
              </a:rPr>
              <a:t>accuracy</a:t>
            </a:r>
            <a:r>
              <a:rPr lang="ru-RU" sz="950" dirty="0">
                <a:solidFill>
                  <a:schemeClr val="bg1"/>
                </a:solidFill>
                <a:latin typeface="Roboto"/>
              </a:rPr>
              <a:t>? Для уверенности лучше проводить один эксперимент 3-5 раз на разных </a:t>
            </a:r>
            <a:r>
              <a:rPr lang="ru-RU" sz="950" dirty="0" err="1">
                <a:solidFill>
                  <a:schemeClr val="bg1"/>
                </a:solidFill>
                <a:latin typeface="Roboto"/>
              </a:rPr>
              <a:t>random</a:t>
            </a:r>
            <a:r>
              <a:rPr lang="ru-RU" sz="950" dirty="0">
                <a:solidFill>
                  <a:schemeClr val="bg1"/>
                </a:solidFill>
                <a:latin typeface="Roboto"/>
              </a:rPr>
              <a:t> </a:t>
            </a:r>
            <a:r>
              <a:rPr lang="ru-RU" sz="950" dirty="0" err="1">
                <a:solidFill>
                  <a:schemeClr val="bg1"/>
                </a:solidFill>
                <a:latin typeface="Roboto"/>
              </a:rPr>
              <a:t>seed</a:t>
            </a:r>
            <a:r>
              <a:rPr lang="ru-RU" sz="950" dirty="0">
                <a:solidFill>
                  <a:schemeClr val="bg1"/>
                </a:solidFill>
                <a:latin typeface="Roboto"/>
              </a:rPr>
              <a:t>: так вы поймете, действительно ли сказывается влияние метода или дело в случайности</a:t>
            </a:r>
            <a:r>
              <a:rPr lang="ru-RU" sz="950" dirty="0" smtClean="0">
                <a:solidFill>
                  <a:schemeClr val="bg1"/>
                </a:solidFill>
                <a:latin typeface="Roboto"/>
              </a:rPr>
              <a:t>.</a:t>
            </a:r>
            <a:endParaRPr lang="ru-RU" sz="950" dirty="0">
              <a:solidFill>
                <a:schemeClr val="bg1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5264471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2635" y="0"/>
            <a:ext cx="44196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ru-RU" sz="1400" dirty="0" smtClean="0">
                <a:solidFill>
                  <a:srgbClr val="FFC000"/>
                </a:solidFill>
                <a:latin typeface="Times New Roman"/>
                <a:ea typeface="Calibri"/>
                <a:cs typeface="Times New Roman"/>
              </a:rPr>
              <a:t>Задание 2 (код программы представлен в задании):</a:t>
            </a:r>
            <a:endParaRPr lang="ru-RU" sz="1400" dirty="0">
              <a:solidFill>
                <a:srgbClr val="FFC000"/>
              </a:solidFill>
              <a:ea typeface="Calibri"/>
              <a:cs typeface="Times New Roman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23264" y="326253"/>
            <a:ext cx="4419600" cy="29870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79388" algn="just">
              <a:lnSpc>
                <a:spcPct val="120000"/>
              </a:lnSpc>
              <a:spcAft>
                <a:spcPts val="0"/>
              </a:spcAft>
            </a:pPr>
            <a:r>
              <a:rPr lang="ru-RU" sz="105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Как было сказано в предыдущем уроке, </a:t>
            </a:r>
            <a:r>
              <a:rPr lang="ru-RU" sz="1050" dirty="0" err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полносвязный</a:t>
            </a:r>
            <a:r>
              <a:rPr lang="ru-RU" sz="105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 слой может быть представлен как матричное умножение </a:t>
            </a:r>
            <a:r>
              <a:rPr lang="ru-RU" sz="1050" b="1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матрицы входов (X)</a:t>
            </a:r>
            <a:r>
              <a:rPr lang="ru-RU" sz="105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 и </a:t>
            </a:r>
            <a:r>
              <a:rPr lang="ru-RU" sz="1050" b="1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матрицы весов нейронов слоя (W),</a:t>
            </a:r>
            <a:r>
              <a:rPr lang="ru-RU" sz="105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 плюс </a:t>
            </a:r>
            <a:r>
              <a:rPr lang="ru-RU" sz="1050" b="1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вектор </a:t>
            </a:r>
            <a:r>
              <a:rPr lang="ru-RU" sz="1050" b="1" dirty="0" err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bias'ов</a:t>
            </a:r>
            <a:r>
              <a:rPr lang="ru-RU" sz="1050" b="1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 слоя (b).</a:t>
            </a:r>
            <a:r>
              <a:rPr lang="ru-RU" sz="105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 </a:t>
            </a:r>
            <a:endParaRPr lang="ru-RU" sz="1050" dirty="0">
              <a:solidFill>
                <a:schemeClr val="bg1"/>
              </a:solidFill>
              <a:ea typeface="Calibri"/>
              <a:cs typeface="Times New Roman"/>
            </a:endParaRPr>
          </a:p>
          <a:p>
            <a:pPr indent="179388" algn="just">
              <a:lnSpc>
                <a:spcPct val="120000"/>
              </a:lnSpc>
              <a:spcAft>
                <a:spcPts val="0"/>
              </a:spcAft>
            </a:pPr>
            <a:r>
              <a:rPr lang="ru-RU" sz="105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В </a:t>
            </a:r>
            <a:r>
              <a:rPr lang="ru-RU" sz="105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  <a:hlinkClick r:id="rId2"/>
              </a:rPr>
              <a:t>документации</a:t>
            </a:r>
            <a:r>
              <a:rPr lang="ru-RU" sz="105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 к классу </a:t>
            </a:r>
            <a:r>
              <a:rPr lang="ru-RU" sz="1050" b="1" dirty="0" err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torch.nn.Linear</a:t>
            </a:r>
            <a:r>
              <a:rPr lang="ru-RU" sz="105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 (</a:t>
            </a:r>
            <a:r>
              <a:rPr lang="ru-RU" sz="1050" dirty="0" err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полносвязному</a:t>
            </a:r>
            <a:r>
              <a:rPr lang="ru-RU" sz="105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 слою) написано следующее: </a:t>
            </a:r>
            <a:endParaRPr lang="ru-RU" sz="1050" dirty="0">
              <a:solidFill>
                <a:schemeClr val="bg1"/>
              </a:solidFill>
              <a:ea typeface="Calibri"/>
              <a:cs typeface="Times New Roman"/>
            </a:endParaRPr>
          </a:p>
          <a:p>
            <a:pPr indent="179388" algn="just">
              <a:lnSpc>
                <a:spcPct val="120000"/>
              </a:lnSpc>
              <a:spcAft>
                <a:spcPts val="0"/>
              </a:spcAft>
            </a:pPr>
            <a:r>
              <a:rPr lang="en-US" sz="1050" b="1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Applies a linear transformation to the incoming data: y = </a:t>
            </a:r>
            <a:r>
              <a:rPr lang="en-US" sz="1050" b="1" dirty="0" err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xA</a:t>
            </a:r>
            <a:r>
              <a:rPr lang="en-US" sz="1050" b="1" baseline="30000" dirty="0" err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T</a:t>
            </a:r>
            <a:r>
              <a:rPr lang="en-US" sz="1050" b="1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 + b.</a:t>
            </a:r>
            <a:r>
              <a:rPr lang="en-US" sz="105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 </a:t>
            </a:r>
            <a:endParaRPr lang="ru-RU" sz="1050" dirty="0">
              <a:solidFill>
                <a:schemeClr val="bg1"/>
              </a:solidFill>
              <a:ea typeface="Calibri"/>
              <a:cs typeface="Times New Roman"/>
            </a:endParaRPr>
          </a:p>
          <a:p>
            <a:pPr indent="179388" algn="just">
              <a:lnSpc>
                <a:spcPct val="120000"/>
              </a:lnSpc>
              <a:spcAft>
                <a:spcPts val="0"/>
              </a:spcAft>
            </a:pPr>
            <a:r>
              <a:rPr lang="ru-RU" sz="105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А</a:t>
            </a:r>
            <a:r>
              <a:rPr lang="en-US" sz="105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 </a:t>
            </a:r>
            <a:r>
              <a:rPr lang="ru-RU" sz="105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 –</a:t>
            </a:r>
            <a:r>
              <a:rPr lang="en-US" sz="105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 </a:t>
            </a:r>
            <a:r>
              <a:rPr lang="ru-RU" sz="105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это то, как </a:t>
            </a:r>
            <a:r>
              <a:rPr lang="en-US" sz="1050" dirty="0" err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PyTorch</a:t>
            </a:r>
            <a:r>
              <a:rPr lang="en-US" sz="105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ru-RU" sz="105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хранит веса слоя.</a:t>
            </a:r>
            <a:endParaRPr lang="ru-RU" sz="1050" dirty="0">
              <a:solidFill>
                <a:schemeClr val="bg1"/>
              </a:solidFill>
              <a:ea typeface="Calibri"/>
              <a:cs typeface="Times New Roman"/>
            </a:endParaRPr>
          </a:p>
          <a:p>
            <a:pPr indent="179388" algn="just">
              <a:lnSpc>
                <a:spcPct val="120000"/>
              </a:lnSpc>
              <a:spcAft>
                <a:spcPts val="0"/>
              </a:spcAft>
            </a:pPr>
            <a:r>
              <a:rPr lang="en-US" sz="105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 </a:t>
            </a:r>
            <a:r>
              <a:rPr lang="ru-RU" sz="105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Но чтобы эта матрица совпала с W из предыдущего урока, нужно её сперва транспонировать.</a:t>
            </a:r>
            <a:endParaRPr lang="ru-RU" sz="1050" dirty="0">
              <a:solidFill>
                <a:schemeClr val="bg1"/>
              </a:solidFill>
              <a:ea typeface="Calibri"/>
              <a:cs typeface="Times New Roman"/>
            </a:endParaRPr>
          </a:p>
          <a:p>
            <a:pPr indent="179388" algn="just">
              <a:lnSpc>
                <a:spcPct val="120000"/>
              </a:lnSpc>
              <a:spcAft>
                <a:spcPts val="0"/>
              </a:spcAft>
            </a:pPr>
            <a:r>
              <a:rPr lang="ru-RU" sz="1050" b="1" dirty="0">
                <a:solidFill>
                  <a:srgbClr val="FFFF00"/>
                </a:solidFill>
                <a:latin typeface="Times New Roman"/>
                <a:ea typeface="Calibri"/>
                <a:cs typeface="Times New Roman"/>
              </a:rPr>
              <a:t>Задача 1: </a:t>
            </a:r>
            <a:r>
              <a:rPr lang="ru-RU" sz="1050" b="1" dirty="0" smtClean="0">
                <a:solidFill>
                  <a:srgbClr val="FFFF00"/>
                </a:solidFill>
                <a:latin typeface="Times New Roman"/>
                <a:ea typeface="Calibri"/>
                <a:cs typeface="Times New Roman"/>
              </a:rPr>
              <a:t>Реализовать </a:t>
            </a:r>
            <a:r>
              <a:rPr lang="ru-RU" sz="1050" b="1" dirty="0">
                <a:solidFill>
                  <a:srgbClr val="FFFF00"/>
                </a:solidFill>
                <a:latin typeface="Times New Roman"/>
                <a:ea typeface="Calibri"/>
                <a:cs typeface="Times New Roman"/>
              </a:rPr>
              <a:t>функциональность </a:t>
            </a:r>
            <a:r>
              <a:rPr lang="ru-RU" sz="1050" b="1" dirty="0" err="1">
                <a:solidFill>
                  <a:srgbClr val="FFFF00"/>
                </a:solidFill>
                <a:latin typeface="Times New Roman"/>
                <a:ea typeface="Calibri"/>
                <a:cs typeface="Times New Roman"/>
              </a:rPr>
              <a:t>torch.nn.Linear</a:t>
            </a:r>
            <a:r>
              <a:rPr lang="ru-RU" sz="1050" b="1" dirty="0">
                <a:solidFill>
                  <a:srgbClr val="FFFF00"/>
                </a:solidFill>
                <a:latin typeface="Times New Roman"/>
                <a:ea typeface="Calibri"/>
                <a:cs typeface="Times New Roman"/>
              </a:rPr>
              <a:t> и сверить с оригиналом!</a:t>
            </a:r>
            <a:endParaRPr lang="ru-RU" sz="1050" dirty="0">
              <a:solidFill>
                <a:srgbClr val="FFFF00"/>
              </a:solidFill>
              <a:ea typeface="Calibri"/>
              <a:cs typeface="Times New Roman"/>
            </a:endParaRPr>
          </a:p>
          <a:p>
            <a:pPr indent="179388" algn="just">
              <a:lnSpc>
                <a:spcPct val="120000"/>
              </a:lnSpc>
              <a:spcAft>
                <a:spcPts val="0"/>
              </a:spcAft>
            </a:pPr>
            <a:r>
              <a:rPr lang="ru-RU" sz="1050" b="1" u="sng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Реализация:</a:t>
            </a:r>
            <a:r>
              <a:rPr lang="ru-RU" sz="1050" u="sng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ru-RU" sz="105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Пусть у нас будет один объект</a:t>
            </a:r>
            <a:r>
              <a:rPr lang="ru-RU" sz="1050" b="1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 x</a:t>
            </a:r>
            <a:r>
              <a:rPr lang="ru-RU" sz="105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 на входе с двумя компонентами. Его мы передадим в </a:t>
            </a:r>
            <a:r>
              <a:rPr lang="ru-RU" sz="1050" dirty="0" err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полносвязный</a:t>
            </a:r>
            <a:r>
              <a:rPr lang="ru-RU" sz="105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 слой с 3-мя нейронами и получим, соответственно, 3 выхода. После напишем эту же функциональность с помощью матричного умножения. </a:t>
            </a:r>
            <a:endParaRPr lang="ru-RU" sz="1050" dirty="0">
              <a:solidFill>
                <a:schemeClr val="bg1"/>
              </a:solidFill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431871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92635" y="80596"/>
            <a:ext cx="4419600" cy="33969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79388" algn="just">
              <a:lnSpc>
                <a:spcPct val="120000"/>
              </a:lnSpc>
              <a:spcAft>
                <a:spcPts val="0"/>
              </a:spcAft>
            </a:pPr>
            <a:r>
              <a:rPr lang="ru-RU" sz="1200" b="1" dirty="0">
                <a:solidFill>
                  <a:srgbClr val="FFFF00"/>
                </a:solidFill>
                <a:latin typeface="Times New Roman"/>
                <a:ea typeface="Calibri"/>
                <a:cs typeface="Times New Roman"/>
              </a:rPr>
              <a:t>Задача 2: </a:t>
            </a:r>
            <a:r>
              <a:rPr lang="ru-RU" sz="12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После того как Вы написали функцию, эмулирующую </a:t>
            </a:r>
            <a:r>
              <a:rPr lang="ru-RU" sz="1200" dirty="0" err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fc</a:t>
            </a:r>
            <a:r>
              <a:rPr lang="ru-RU" sz="12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-слой. Проверьте, что по ней правильно считается градиент. </a:t>
            </a:r>
          </a:p>
          <a:p>
            <a:pPr indent="179388" algn="just">
              <a:lnSpc>
                <a:spcPct val="120000"/>
              </a:lnSpc>
              <a:spcAft>
                <a:spcPts val="0"/>
              </a:spcAft>
            </a:pPr>
            <a:r>
              <a:rPr lang="ru-RU" sz="12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Функцию </a:t>
            </a:r>
            <a:r>
              <a:rPr lang="ru-RU" sz="1200" dirty="0" err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backward</a:t>
            </a:r>
            <a:r>
              <a:rPr lang="ru-RU" sz="12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() в </a:t>
            </a:r>
            <a:r>
              <a:rPr lang="ru-RU" sz="1200" dirty="0" err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PyTorch</a:t>
            </a:r>
            <a:r>
              <a:rPr lang="ru-RU" sz="12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 можно посчитать только от скалярной функции (выход из такой функции – одно число). Это логично, так как </a:t>
            </a:r>
            <a:r>
              <a:rPr lang="ru-RU" sz="1200" dirty="0" err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loss</a:t>
            </a:r>
            <a:r>
              <a:rPr lang="ru-RU" sz="12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-функция выдает всегда одно число. Но </a:t>
            </a:r>
            <a:r>
              <a:rPr lang="ru-RU" sz="1200" dirty="0" err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fc</a:t>
            </a:r>
            <a:r>
              <a:rPr lang="ru-RU" sz="12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-слой, который мы </a:t>
            </a:r>
            <a:r>
              <a:rPr lang="ru-RU" sz="1200" dirty="0" err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проэмулировали</a:t>
            </a:r>
            <a:r>
              <a:rPr lang="ru-RU" sz="12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, имел 3 выхода. </a:t>
            </a:r>
            <a:r>
              <a:rPr lang="ru-RU" sz="1200" dirty="0" smtClean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Необходимо </a:t>
            </a:r>
            <a:r>
              <a:rPr lang="ru-RU" sz="12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их просуммировать, чтобы получить в итоге скалярную функцию (можно было бы выбрать любую агрегирующую операцию, например умножение).</a:t>
            </a:r>
          </a:p>
          <a:p>
            <a:pPr indent="179388" algn="just">
              <a:lnSpc>
                <a:spcPct val="120000"/>
              </a:lnSpc>
              <a:spcAft>
                <a:spcPts val="0"/>
              </a:spcAft>
            </a:pPr>
            <a:r>
              <a:rPr lang="ru-RU" sz="12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Дополните код так, чтобы градиент по весам и смещениям (</a:t>
            </a:r>
            <a:r>
              <a:rPr lang="ru-RU" sz="1200" dirty="0" err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bias</a:t>
            </a:r>
            <a:r>
              <a:rPr lang="ru-RU" sz="12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) совпадал с аналогичным градиентом в вашей </a:t>
            </a:r>
            <a:r>
              <a:rPr lang="ru-RU" sz="1200" dirty="0" smtClean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функции.</a:t>
            </a:r>
            <a:endParaRPr lang="ru-RU" sz="12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  <a:p>
            <a:pPr indent="179388" algn="just">
              <a:lnSpc>
                <a:spcPct val="120000"/>
              </a:lnSpc>
              <a:spcAft>
                <a:spcPts val="0"/>
              </a:spcAft>
            </a:pPr>
            <a:r>
              <a:rPr lang="ru-RU" sz="12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Чем обусловлен полученный градиент? Изменится ли он, если мы подадим другие входы или другую инициализацию весов?</a:t>
            </a:r>
          </a:p>
        </p:txBody>
      </p:sp>
    </p:spTree>
    <p:extLst>
      <p:ext uri="{BB962C8B-B14F-4D97-AF65-F5344CB8AC3E}">
        <p14:creationId xmlns:p14="http://schemas.microsoft.com/office/powerpoint/2010/main" val="4096847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2253</TotalTime>
  <Words>187</Words>
  <Application>Microsoft Office PowerPoint</Application>
  <PresentationFormat>Произвольный</PresentationFormat>
  <Paragraphs>48</Paragraphs>
  <Slides>28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29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Часть 2: Строим первую нейронную сеть</dc:title>
  <dc:creator>Романов Михаил, Игорь Слинько</dc:creator>
  <cp:lastModifiedBy>Альфира</cp:lastModifiedBy>
  <cp:revision>103</cp:revision>
  <dcterms:created xsi:type="dcterms:W3CDTF">2020-09-08T23:28:25Z</dcterms:created>
  <dcterms:modified xsi:type="dcterms:W3CDTF">2021-10-18T21:52:18Z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2020-01-23T00:00:00Z</vt:filetime>
  </property>
  <property fmtid="{D5CDD505-2E9C-101B-9397-08002B2CF9AE}" pid="3" name="LastSaved">
    <vt:filetime>2020-09-08T00:00:00Z</vt:filetime>
  </property>
</Properties>
</file>