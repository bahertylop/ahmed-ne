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67"/>
  </p:notesMasterIdLst>
  <p:sldIdLst>
    <p:sldId id="284" r:id="rId3"/>
    <p:sldId id="291" r:id="rId4"/>
    <p:sldId id="257" r:id="rId5"/>
    <p:sldId id="321" r:id="rId6"/>
    <p:sldId id="258" r:id="rId7"/>
    <p:sldId id="323" r:id="rId8"/>
    <p:sldId id="322" r:id="rId9"/>
    <p:sldId id="285" r:id="rId10"/>
    <p:sldId id="259" r:id="rId11"/>
    <p:sldId id="286" r:id="rId12"/>
    <p:sldId id="260" r:id="rId13"/>
    <p:sldId id="287" r:id="rId14"/>
    <p:sldId id="261" r:id="rId15"/>
    <p:sldId id="288" r:id="rId16"/>
    <p:sldId id="289" r:id="rId17"/>
    <p:sldId id="262" r:id="rId18"/>
    <p:sldId id="263" r:id="rId19"/>
    <p:sldId id="290" r:id="rId20"/>
    <p:sldId id="292" r:id="rId21"/>
    <p:sldId id="293" r:id="rId22"/>
    <p:sldId id="264" r:id="rId23"/>
    <p:sldId id="294" r:id="rId24"/>
    <p:sldId id="324" r:id="rId25"/>
    <p:sldId id="325" r:id="rId26"/>
    <p:sldId id="295" r:id="rId27"/>
    <p:sldId id="296" r:id="rId28"/>
    <p:sldId id="297" r:id="rId29"/>
    <p:sldId id="265" r:id="rId30"/>
    <p:sldId id="298" r:id="rId31"/>
    <p:sldId id="266" r:id="rId32"/>
    <p:sldId id="300" r:id="rId33"/>
    <p:sldId id="301" r:id="rId34"/>
    <p:sldId id="267" r:id="rId35"/>
    <p:sldId id="302" r:id="rId36"/>
    <p:sldId id="303" r:id="rId37"/>
    <p:sldId id="304" r:id="rId38"/>
    <p:sldId id="268" r:id="rId39"/>
    <p:sldId id="305" r:id="rId40"/>
    <p:sldId id="306" r:id="rId41"/>
    <p:sldId id="307" r:id="rId42"/>
    <p:sldId id="269" r:id="rId43"/>
    <p:sldId id="270" r:id="rId44"/>
    <p:sldId id="308" r:id="rId45"/>
    <p:sldId id="309" r:id="rId46"/>
    <p:sldId id="310" r:id="rId47"/>
    <p:sldId id="311" r:id="rId48"/>
    <p:sldId id="271" r:id="rId49"/>
    <p:sldId id="272" r:id="rId50"/>
    <p:sldId id="312" r:id="rId51"/>
    <p:sldId id="313" r:id="rId52"/>
    <p:sldId id="315" r:id="rId53"/>
    <p:sldId id="314" r:id="rId54"/>
    <p:sldId id="273" r:id="rId55"/>
    <p:sldId id="274" r:id="rId56"/>
    <p:sldId id="276" r:id="rId57"/>
    <p:sldId id="277" r:id="rId58"/>
    <p:sldId id="278" r:id="rId59"/>
    <p:sldId id="316" r:id="rId60"/>
    <p:sldId id="317" r:id="rId61"/>
    <p:sldId id="279" r:id="rId62"/>
    <p:sldId id="318" r:id="rId63"/>
    <p:sldId id="281" r:id="rId64"/>
    <p:sldId id="319" r:id="rId65"/>
    <p:sldId id="283" r:id="rId66"/>
  </p:sldIdLst>
  <p:sldSz cx="9144000" cy="514826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72" y="1258"/>
      </p:cViewPr>
      <p:guideLst>
        <p:guide orient="horz" pos="1621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312712-5D63-436F-AB7A-8AE9AED91EBB}" type="datetimeFigureOut">
              <a:rPr lang="ru-RU" smtClean="0"/>
              <a:t>20.10.2023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98E55A-54D4-475B-9FA8-D0ACB383EF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3695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8E55A-54D4-475B-9FA8-D0ACB383EFE5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3807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8E55A-54D4-475B-9FA8-D0ACB383EFE5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38077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8E55A-54D4-475B-9FA8-D0ACB383EFE5}" type="slidenum">
              <a:rPr lang="ru-RU" smtClean="0">
                <a:solidFill>
                  <a:prstClr val="black"/>
                </a:solidFill>
              </a:rPr>
              <a:pPr/>
              <a:t>20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807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7411" y="1595963"/>
            <a:ext cx="7790648" cy="108113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4821" y="2883029"/>
            <a:ext cx="6415828" cy="128706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45014"/>
            <a:fld id="{81D60167-4931-47E6-BA6A-407CBD079E47}" type="slidenum">
              <a:rPr lang="ru-RU" sz="1100" spc="27" smtClean="0">
                <a:solidFill>
                  <a:srgbClr val="FFD564"/>
                </a:solidFill>
                <a:latin typeface="Arial"/>
                <a:cs typeface="Arial"/>
              </a:rPr>
              <a:pPr marL="45014"/>
              <a:t>‹#›</a:t>
            </a:fld>
            <a:r>
              <a:rPr lang="ru-RU" sz="1100" spc="124">
                <a:solidFill>
                  <a:srgbClr val="FFD564"/>
                </a:solidFill>
                <a:latin typeface="Arial"/>
                <a:cs typeface="Arial"/>
              </a:rPr>
              <a:t>/11</a:t>
            </a:r>
            <a:endParaRPr lang="ru-RU" sz="11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5369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45014"/>
            <a:fld id="{81D60167-4931-47E6-BA6A-407CBD079E47}" type="slidenum">
              <a:rPr lang="ru-RU" sz="1100" spc="27" smtClean="0">
                <a:solidFill>
                  <a:srgbClr val="FFD564"/>
                </a:solidFill>
                <a:latin typeface="Arial"/>
                <a:cs typeface="Arial"/>
              </a:rPr>
              <a:pPr marL="45014"/>
              <a:t>‹#›</a:t>
            </a:fld>
            <a:r>
              <a:rPr lang="ru-RU" sz="1100" spc="124">
                <a:solidFill>
                  <a:srgbClr val="FFD564"/>
                </a:solidFill>
                <a:latin typeface="Arial"/>
                <a:cs typeface="Arial"/>
              </a:rPr>
              <a:t>/11</a:t>
            </a:r>
            <a:endParaRPr lang="ru-RU" sz="11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3912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8272" y="1184100"/>
            <a:ext cx="3986979" cy="339785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20215" y="1184100"/>
            <a:ext cx="3986979" cy="339785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45014"/>
            <a:fld id="{81D60167-4931-47E6-BA6A-407CBD079E47}" type="slidenum">
              <a:rPr lang="ru-RU" sz="1100" spc="27" smtClean="0">
                <a:solidFill>
                  <a:srgbClr val="FFD564"/>
                </a:solidFill>
                <a:latin typeface="Arial"/>
                <a:cs typeface="Arial"/>
              </a:rPr>
              <a:pPr marL="45014"/>
              <a:t>‹#›</a:t>
            </a:fld>
            <a:r>
              <a:rPr lang="ru-RU" sz="1100" spc="124">
                <a:solidFill>
                  <a:srgbClr val="FFD564"/>
                </a:solidFill>
                <a:latin typeface="Arial"/>
                <a:cs typeface="Arial"/>
              </a:rPr>
              <a:t>/11</a:t>
            </a:r>
            <a:endParaRPr lang="ru-RU" sz="11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29549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45014"/>
            <a:fld id="{81D60167-4931-47E6-BA6A-407CBD079E47}" type="slidenum">
              <a:rPr lang="ru-RU" sz="1100" spc="27" smtClean="0">
                <a:solidFill>
                  <a:srgbClr val="FFD564"/>
                </a:solidFill>
                <a:latin typeface="Arial"/>
                <a:cs typeface="Arial"/>
              </a:rPr>
              <a:pPr marL="45014"/>
              <a:t>‹#›</a:t>
            </a:fld>
            <a:r>
              <a:rPr lang="ru-RU" sz="1100" spc="124">
                <a:solidFill>
                  <a:srgbClr val="FFD564"/>
                </a:solidFill>
                <a:latin typeface="Arial"/>
                <a:cs typeface="Arial"/>
              </a:rPr>
              <a:t>/11</a:t>
            </a:r>
            <a:endParaRPr lang="ru-RU" sz="11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69688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45014"/>
            <a:fld id="{81D60167-4931-47E6-BA6A-407CBD079E47}" type="slidenum">
              <a:rPr lang="ru-RU" sz="1100" spc="27" smtClean="0">
                <a:solidFill>
                  <a:srgbClr val="FFD564"/>
                </a:solidFill>
                <a:latin typeface="Arial"/>
                <a:cs typeface="Arial"/>
              </a:rPr>
              <a:pPr marL="45014"/>
              <a:t>‹#›</a:t>
            </a:fld>
            <a:r>
              <a:rPr lang="ru-RU" sz="1100" spc="124">
                <a:solidFill>
                  <a:srgbClr val="FFD564"/>
                </a:solidFill>
                <a:latin typeface="Arial"/>
                <a:cs typeface="Arial"/>
              </a:rPr>
              <a:t>/11</a:t>
            </a:r>
            <a:endParaRPr lang="ru-RU" sz="11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6207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1"/>
            <a:ext cx="9165092" cy="51317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defTabSz="1620500"/>
            <a:endParaRPr sz="32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0271" y="417765"/>
            <a:ext cx="7604929" cy="336098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55829" y="990100"/>
            <a:ext cx="7053813" cy="142197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16260" y="4787887"/>
            <a:ext cx="2932951" cy="25741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620500"/>
            <a:endParaRPr sz="32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8272" y="4787887"/>
            <a:ext cx="2108057" cy="25741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620500"/>
            <a:endParaRPr lang="en-US" sz="32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38746" y="4742134"/>
            <a:ext cx="518942" cy="16189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45014" defTabSz="1620500"/>
            <a:fld id="{81D60167-4931-47E6-BA6A-407CBD079E47}" type="slidenum">
              <a:rPr lang="ru-RU" sz="1100" spc="27">
                <a:solidFill>
                  <a:srgbClr val="FFD564"/>
                </a:solidFill>
                <a:latin typeface="Arial"/>
                <a:cs typeface="Arial"/>
              </a:rPr>
              <a:pPr marL="45014" defTabSz="1620500"/>
              <a:t>‹#›</a:t>
            </a:fld>
            <a:r>
              <a:rPr lang="ru-RU" sz="1100" spc="124">
                <a:solidFill>
                  <a:srgbClr val="FFD564"/>
                </a:solidFill>
                <a:latin typeface="Arial"/>
                <a:cs typeface="Arial"/>
              </a:rPr>
              <a:t>/11</a:t>
            </a:r>
            <a:endParaRPr lang="ru-RU" sz="11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799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</p:sldLayoutIdLst>
  <p:hf hdr="0" ftr="0" dt="0"/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e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0269" y="965117"/>
            <a:ext cx="7604552" cy="84364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2503" defTabSz="1620298"/>
            <a:r>
              <a:rPr lang="ru-RU" sz="2800" spc="-115" dirty="0">
                <a:solidFill>
                  <a:srgbClr val="FFD564"/>
                </a:solidFill>
                <a:latin typeface="Arial"/>
                <a:cs typeface="Arial"/>
              </a:rPr>
              <a:t>Тема</a:t>
            </a:r>
            <a:r>
              <a:rPr sz="2800" spc="124" dirty="0">
                <a:solidFill>
                  <a:srgbClr val="FFD564"/>
                </a:solidFill>
                <a:latin typeface="Arial"/>
                <a:cs typeface="Arial"/>
              </a:rPr>
              <a:t> </a:t>
            </a:r>
            <a:r>
              <a:rPr lang="ru-RU" sz="2800" spc="-106" dirty="0">
                <a:solidFill>
                  <a:srgbClr val="FFD564"/>
                </a:solidFill>
                <a:latin typeface="Arial"/>
                <a:cs typeface="Arial"/>
              </a:rPr>
              <a:t>6</a:t>
            </a:r>
            <a:r>
              <a:rPr sz="2800" spc="-106" dirty="0">
                <a:solidFill>
                  <a:srgbClr val="FFD564"/>
                </a:solidFill>
                <a:latin typeface="Arial"/>
                <a:cs typeface="Arial"/>
              </a:rPr>
              <a:t>:</a:t>
            </a:r>
            <a:r>
              <a:rPr sz="2800" spc="115" dirty="0">
                <a:solidFill>
                  <a:srgbClr val="FFD564"/>
                </a:solidFill>
                <a:latin typeface="Arial"/>
                <a:cs typeface="Arial"/>
              </a:rPr>
              <a:t> </a:t>
            </a:r>
            <a:r>
              <a:rPr lang="ru-RU" sz="2800" spc="-133" dirty="0">
                <a:solidFill>
                  <a:srgbClr val="FFD564"/>
                </a:solidFill>
                <a:latin typeface="Arial"/>
                <a:cs typeface="Arial"/>
              </a:rPr>
              <a:t>Градиентный спуск – </a:t>
            </a:r>
          </a:p>
          <a:p>
            <a:pPr marL="22503" algn="ctr" defTabSz="1620298"/>
            <a:r>
              <a:rPr lang="ru-RU" sz="2800" spc="-133" dirty="0">
                <a:solidFill>
                  <a:srgbClr val="FFD564"/>
                </a:solidFill>
                <a:latin typeface="Arial"/>
                <a:cs typeface="Arial"/>
              </a:rPr>
              <a:t>Методы оптимизаций</a:t>
            </a:r>
            <a:endParaRPr sz="28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30691" y="1867593"/>
            <a:ext cx="7554133" cy="0"/>
          </a:xfrm>
          <a:custGeom>
            <a:avLst/>
            <a:gdLst/>
            <a:ahLst/>
            <a:cxnLst/>
            <a:rect l="l" t="t" r="r" b="b"/>
            <a:pathLst>
              <a:path w="3798050">
                <a:moveTo>
                  <a:pt x="0" y="0"/>
                </a:moveTo>
                <a:lnTo>
                  <a:pt x="3798050" y="0"/>
                </a:lnTo>
              </a:path>
            </a:pathLst>
          </a:custGeom>
          <a:ln w="25305">
            <a:solidFill>
              <a:srgbClr val="FFD564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pPr defTabSz="1620298"/>
            <a:endParaRPr>
              <a:solidFill>
                <a:prstClr val="black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45014"/>
            <a:fld id="{81D60167-4931-47E6-BA6A-407CBD079E47}" type="slidenum">
              <a:rPr lang="ru-RU" sz="1100" spc="27" smtClean="0">
                <a:solidFill>
                  <a:srgbClr val="FFD564"/>
                </a:solidFill>
                <a:latin typeface="Arial"/>
                <a:cs typeface="Arial"/>
              </a:rPr>
              <a:pPr marL="45014"/>
              <a:t>1</a:t>
            </a:fld>
            <a:endParaRPr lang="ru-RU" sz="1100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0193997"/>
      </p:ext>
    </p:extLst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0269" y="1205979"/>
            <a:ext cx="7604552" cy="6027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2503" defTabSz="1620298"/>
            <a:r>
              <a:rPr lang="ru-RU" sz="3600" spc="-115" dirty="0">
                <a:solidFill>
                  <a:srgbClr val="FFD564"/>
                </a:solidFill>
                <a:latin typeface="Arial"/>
                <a:cs typeface="Arial"/>
              </a:rPr>
              <a:t>6.1. </a:t>
            </a:r>
            <a:r>
              <a:rPr lang="ru-RU" sz="3600" spc="-133" dirty="0">
                <a:solidFill>
                  <a:srgbClr val="FFD564"/>
                </a:solidFill>
                <a:latin typeface="Arial"/>
                <a:cs typeface="Arial"/>
              </a:rPr>
              <a:t>Градиентный спуск</a:t>
            </a:r>
            <a:endParaRPr sz="3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30691" y="1867593"/>
            <a:ext cx="7554133" cy="0"/>
          </a:xfrm>
          <a:custGeom>
            <a:avLst/>
            <a:gdLst/>
            <a:ahLst/>
            <a:cxnLst/>
            <a:rect l="l" t="t" r="r" b="b"/>
            <a:pathLst>
              <a:path w="3798050">
                <a:moveTo>
                  <a:pt x="0" y="0"/>
                </a:moveTo>
                <a:lnTo>
                  <a:pt x="3798050" y="0"/>
                </a:lnTo>
              </a:path>
            </a:pathLst>
          </a:custGeom>
          <a:ln w="25305">
            <a:solidFill>
              <a:srgbClr val="FFD564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pPr defTabSz="1620298"/>
            <a:endParaRPr>
              <a:solidFill>
                <a:prstClr val="black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45014"/>
            <a:fld id="{81D60167-4931-47E6-BA6A-407CBD079E47}" type="slidenum">
              <a:rPr lang="ru-RU" sz="1100" spc="27" smtClean="0">
                <a:solidFill>
                  <a:srgbClr val="FFD564"/>
                </a:solidFill>
                <a:latin typeface="Arial"/>
                <a:cs typeface="Arial"/>
              </a:rPr>
              <a:pPr marL="45014"/>
              <a:t>2</a:t>
            </a:fld>
            <a:endParaRPr lang="ru-RU" sz="1100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4715330"/>
      </p:ext>
    </p:extLst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6" y="191"/>
            <a:ext cx="9144000" cy="5148072"/>
          </a:xfrm>
          <a:prstGeom prst="rect">
            <a:avLst/>
          </a:prstGeom>
          <a:ln>
            <a:solidFill>
              <a:schemeClr val="tx1"/>
            </a:solidFill>
            <a:prstDash val="sysDash"/>
          </a:ln>
        </p:spPr>
      </p:pic>
      <p:sp>
        <p:nvSpPr>
          <p:cNvPr id="3" name="TextBox 2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3</a:t>
            </a:r>
          </a:p>
        </p:txBody>
      </p:sp>
      <p:cxnSp>
        <p:nvCxnSpPr>
          <p:cNvPr id="5" name="Прямая со стрелкой 4"/>
          <p:cNvCxnSpPr/>
          <p:nvPr/>
        </p:nvCxnSpPr>
        <p:spPr>
          <a:xfrm flipH="1">
            <a:off x="3635896" y="1998067"/>
            <a:ext cx="1296144" cy="720080"/>
          </a:xfrm>
          <a:prstGeom prst="straightConnector1">
            <a:avLst/>
          </a:prstGeom>
          <a:ln w="19050">
            <a:solidFill>
              <a:schemeClr val="bg1"/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 flipH="1">
            <a:off x="3851920" y="1998067"/>
            <a:ext cx="1080120" cy="72008"/>
          </a:xfrm>
          <a:prstGeom prst="straightConnector1">
            <a:avLst/>
          </a:prstGeom>
          <a:ln w="19050">
            <a:solidFill>
              <a:schemeClr val="bg1"/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932040" y="1638027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Линии уровней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8907" y="3338563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+</a:t>
            </a:r>
            <a:endParaRPr lang="ru-RU" sz="2400" b="1" dirty="0">
              <a:solidFill>
                <a:srgbClr val="00B0F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4" y="13307"/>
            <a:ext cx="9144000" cy="5148072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  <a:prstDash val="sysDash"/>
          </a:ln>
        </p:spPr>
      </p:pic>
      <p:sp>
        <p:nvSpPr>
          <p:cNvPr id="3" name="TextBox 2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4</a:t>
            </a:r>
            <a:endParaRPr lang="ru-RU" sz="1100" dirty="0"/>
          </a:p>
        </p:txBody>
      </p:sp>
      <p:cxnSp>
        <p:nvCxnSpPr>
          <p:cNvPr id="5" name="Прямая со стрелкой 4"/>
          <p:cNvCxnSpPr/>
          <p:nvPr/>
        </p:nvCxnSpPr>
        <p:spPr>
          <a:xfrm flipH="1">
            <a:off x="3635896" y="1998067"/>
            <a:ext cx="1296144" cy="720080"/>
          </a:xfrm>
          <a:prstGeom prst="straightConnector1">
            <a:avLst/>
          </a:prstGeom>
          <a:ln w="19050">
            <a:solidFill>
              <a:schemeClr val="bg1"/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 flipH="1">
            <a:off x="3851920" y="1998067"/>
            <a:ext cx="1080120" cy="72008"/>
          </a:xfrm>
          <a:prstGeom prst="straightConnector1">
            <a:avLst/>
          </a:prstGeom>
          <a:ln w="19050">
            <a:solidFill>
              <a:schemeClr val="bg1"/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932040" y="1638027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Линии уровней</a:t>
            </a:r>
          </a:p>
        </p:txBody>
      </p:sp>
      <p:sp>
        <p:nvSpPr>
          <p:cNvPr id="9" name="Полилиния 8"/>
          <p:cNvSpPr/>
          <p:nvPr/>
        </p:nvSpPr>
        <p:spPr>
          <a:xfrm>
            <a:off x="926585" y="2059018"/>
            <a:ext cx="1190744" cy="1472552"/>
          </a:xfrm>
          <a:custGeom>
            <a:avLst/>
            <a:gdLst>
              <a:gd name="connsiteX0" fmla="*/ 283906 w 1190744"/>
              <a:gd name="connsiteY0" fmla="*/ 4913 h 1472552"/>
              <a:gd name="connsiteX1" fmla="*/ 388409 w 1190744"/>
              <a:gd name="connsiteY1" fmla="*/ 4913 h 1472552"/>
              <a:gd name="connsiteX2" fmla="*/ 466786 w 1190744"/>
              <a:gd name="connsiteY2" fmla="*/ 48456 h 1472552"/>
              <a:gd name="connsiteX3" fmla="*/ 545164 w 1190744"/>
              <a:gd name="connsiteY3" fmla="*/ 57165 h 1472552"/>
              <a:gd name="connsiteX4" fmla="*/ 597415 w 1190744"/>
              <a:gd name="connsiteY4" fmla="*/ 109416 h 1472552"/>
              <a:gd name="connsiteX5" fmla="*/ 632249 w 1190744"/>
              <a:gd name="connsiteY5" fmla="*/ 83291 h 1472552"/>
              <a:gd name="connsiteX6" fmla="*/ 719335 w 1190744"/>
              <a:gd name="connsiteY6" fmla="*/ 118125 h 1472552"/>
              <a:gd name="connsiteX7" fmla="*/ 806421 w 1190744"/>
              <a:gd name="connsiteY7" fmla="*/ 118125 h 1472552"/>
              <a:gd name="connsiteX8" fmla="*/ 841255 w 1190744"/>
              <a:gd name="connsiteY8" fmla="*/ 118125 h 1472552"/>
              <a:gd name="connsiteX9" fmla="*/ 937049 w 1190744"/>
              <a:gd name="connsiteY9" fmla="*/ 135542 h 1472552"/>
              <a:gd name="connsiteX10" fmla="*/ 998009 w 1190744"/>
              <a:gd name="connsiteY10" fmla="*/ 135542 h 1472552"/>
              <a:gd name="connsiteX11" fmla="*/ 1032844 w 1190744"/>
              <a:gd name="connsiteY11" fmla="*/ 152959 h 1472552"/>
              <a:gd name="connsiteX12" fmla="*/ 1119929 w 1190744"/>
              <a:gd name="connsiteY12" fmla="*/ 213919 h 1472552"/>
              <a:gd name="connsiteX13" fmla="*/ 1102512 w 1190744"/>
              <a:gd name="connsiteY13" fmla="*/ 248753 h 1472552"/>
              <a:gd name="connsiteX14" fmla="*/ 1180889 w 1190744"/>
              <a:gd name="connsiteY14" fmla="*/ 344548 h 1472552"/>
              <a:gd name="connsiteX15" fmla="*/ 1189598 w 1190744"/>
              <a:gd name="connsiteY15" fmla="*/ 431633 h 1472552"/>
              <a:gd name="connsiteX16" fmla="*/ 1180889 w 1190744"/>
              <a:gd name="connsiteY16" fmla="*/ 536136 h 1472552"/>
              <a:gd name="connsiteX17" fmla="*/ 1154764 w 1190744"/>
              <a:gd name="connsiteY17" fmla="*/ 605805 h 1472552"/>
              <a:gd name="connsiteX18" fmla="*/ 1119929 w 1190744"/>
              <a:gd name="connsiteY18" fmla="*/ 640639 h 1472552"/>
              <a:gd name="connsiteX19" fmla="*/ 1102512 w 1190744"/>
              <a:gd name="connsiteY19" fmla="*/ 692891 h 1472552"/>
              <a:gd name="connsiteX20" fmla="*/ 1015426 w 1190744"/>
              <a:gd name="connsiteY20" fmla="*/ 788685 h 1472552"/>
              <a:gd name="connsiteX21" fmla="*/ 928341 w 1190744"/>
              <a:gd name="connsiteY21" fmla="*/ 840936 h 1472552"/>
              <a:gd name="connsiteX22" fmla="*/ 884798 w 1190744"/>
              <a:gd name="connsiteY22" fmla="*/ 840936 h 1472552"/>
              <a:gd name="connsiteX23" fmla="*/ 832546 w 1190744"/>
              <a:gd name="connsiteY23" fmla="*/ 867062 h 1472552"/>
              <a:gd name="connsiteX24" fmla="*/ 780295 w 1190744"/>
              <a:gd name="connsiteY24" fmla="*/ 928022 h 1472552"/>
              <a:gd name="connsiteX25" fmla="*/ 710626 w 1190744"/>
              <a:gd name="connsiteY25" fmla="*/ 1015108 h 1472552"/>
              <a:gd name="connsiteX26" fmla="*/ 675792 w 1190744"/>
              <a:gd name="connsiteY26" fmla="*/ 1067359 h 1472552"/>
              <a:gd name="connsiteX27" fmla="*/ 632249 w 1190744"/>
              <a:gd name="connsiteY27" fmla="*/ 1128319 h 1472552"/>
              <a:gd name="connsiteX28" fmla="*/ 545164 w 1190744"/>
              <a:gd name="connsiteY28" fmla="*/ 1232822 h 1472552"/>
              <a:gd name="connsiteX29" fmla="*/ 519038 w 1190744"/>
              <a:gd name="connsiteY29" fmla="*/ 1319908 h 1472552"/>
              <a:gd name="connsiteX30" fmla="*/ 449369 w 1190744"/>
              <a:gd name="connsiteY30" fmla="*/ 1424411 h 1472552"/>
              <a:gd name="connsiteX31" fmla="*/ 388409 w 1190744"/>
              <a:gd name="connsiteY31" fmla="*/ 1450536 h 1472552"/>
              <a:gd name="connsiteX32" fmla="*/ 301324 w 1190744"/>
              <a:gd name="connsiteY32" fmla="*/ 1467953 h 1472552"/>
              <a:gd name="connsiteX33" fmla="*/ 283906 w 1190744"/>
              <a:gd name="connsiteY33" fmla="*/ 1467953 h 1472552"/>
              <a:gd name="connsiteX34" fmla="*/ 214238 w 1190744"/>
              <a:gd name="connsiteY34" fmla="*/ 1415702 h 1472552"/>
              <a:gd name="connsiteX35" fmla="*/ 135861 w 1190744"/>
              <a:gd name="connsiteY35" fmla="*/ 1276365 h 1472552"/>
              <a:gd name="connsiteX36" fmla="*/ 57484 w 1190744"/>
              <a:gd name="connsiteY36" fmla="*/ 893188 h 1472552"/>
              <a:gd name="connsiteX37" fmla="*/ 57484 w 1190744"/>
              <a:gd name="connsiteY37" fmla="*/ 797393 h 1472552"/>
              <a:gd name="connsiteX38" fmla="*/ 22649 w 1190744"/>
              <a:gd name="connsiteY38" fmla="*/ 649348 h 1472552"/>
              <a:gd name="connsiteX39" fmla="*/ 5232 w 1190744"/>
              <a:gd name="connsiteY39" fmla="*/ 501302 h 1472552"/>
              <a:gd name="connsiteX40" fmla="*/ 5232 w 1190744"/>
              <a:gd name="connsiteY40" fmla="*/ 440342 h 1472552"/>
              <a:gd name="connsiteX41" fmla="*/ 66192 w 1190744"/>
              <a:gd name="connsiteY41" fmla="*/ 187793 h 1472552"/>
              <a:gd name="connsiteX42" fmla="*/ 170695 w 1190744"/>
              <a:gd name="connsiteY42" fmla="*/ 74582 h 1472552"/>
              <a:gd name="connsiteX43" fmla="*/ 240364 w 1190744"/>
              <a:gd name="connsiteY43" fmla="*/ 31039 h 1472552"/>
              <a:gd name="connsiteX44" fmla="*/ 196821 w 1190744"/>
              <a:gd name="connsiteY44" fmla="*/ 39748 h 1472552"/>
              <a:gd name="connsiteX45" fmla="*/ 283906 w 1190744"/>
              <a:gd name="connsiteY45" fmla="*/ 4913 h 1472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190744" h="1472552">
                <a:moveTo>
                  <a:pt x="283906" y="4913"/>
                </a:moveTo>
                <a:cubicBezTo>
                  <a:pt x="315837" y="-893"/>
                  <a:pt x="357929" y="-2344"/>
                  <a:pt x="388409" y="4913"/>
                </a:cubicBezTo>
                <a:cubicBezTo>
                  <a:pt x="418889" y="12170"/>
                  <a:pt x="440660" y="39747"/>
                  <a:pt x="466786" y="48456"/>
                </a:cubicBezTo>
                <a:cubicBezTo>
                  <a:pt x="492912" y="57165"/>
                  <a:pt x="523393" y="47005"/>
                  <a:pt x="545164" y="57165"/>
                </a:cubicBezTo>
                <a:cubicBezTo>
                  <a:pt x="566936" y="67325"/>
                  <a:pt x="582901" y="105062"/>
                  <a:pt x="597415" y="109416"/>
                </a:cubicBezTo>
                <a:cubicBezTo>
                  <a:pt x="611929" y="113770"/>
                  <a:pt x="611929" y="81840"/>
                  <a:pt x="632249" y="83291"/>
                </a:cubicBezTo>
                <a:cubicBezTo>
                  <a:pt x="652569" y="84742"/>
                  <a:pt x="690306" y="112319"/>
                  <a:pt x="719335" y="118125"/>
                </a:cubicBezTo>
                <a:cubicBezTo>
                  <a:pt x="748364" y="123931"/>
                  <a:pt x="806421" y="118125"/>
                  <a:pt x="806421" y="118125"/>
                </a:cubicBezTo>
                <a:cubicBezTo>
                  <a:pt x="826741" y="118125"/>
                  <a:pt x="819484" y="115222"/>
                  <a:pt x="841255" y="118125"/>
                </a:cubicBezTo>
                <a:cubicBezTo>
                  <a:pt x="863026" y="121028"/>
                  <a:pt x="910923" y="132639"/>
                  <a:pt x="937049" y="135542"/>
                </a:cubicBezTo>
                <a:cubicBezTo>
                  <a:pt x="963175" y="138445"/>
                  <a:pt x="982043" y="132639"/>
                  <a:pt x="998009" y="135542"/>
                </a:cubicBezTo>
                <a:cubicBezTo>
                  <a:pt x="1013975" y="138445"/>
                  <a:pt x="1012524" y="139896"/>
                  <a:pt x="1032844" y="152959"/>
                </a:cubicBezTo>
                <a:cubicBezTo>
                  <a:pt x="1053164" y="166022"/>
                  <a:pt x="1108318" y="197953"/>
                  <a:pt x="1119929" y="213919"/>
                </a:cubicBezTo>
                <a:cubicBezTo>
                  <a:pt x="1131540" y="229885"/>
                  <a:pt x="1092352" y="226982"/>
                  <a:pt x="1102512" y="248753"/>
                </a:cubicBezTo>
                <a:cubicBezTo>
                  <a:pt x="1112672" y="270525"/>
                  <a:pt x="1166375" y="314068"/>
                  <a:pt x="1180889" y="344548"/>
                </a:cubicBezTo>
                <a:cubicBezTo>
                  <a:pt x="1195403" y="375028"/>
                  <a:pt x="1189598" y="399702"/>
                  <a:pt x="1189598" y="431633"/>
                </a:cubicBezTo>
                <a:cubicBezTo>
                  <a:pt x="1189598" y="463564"/>
                  <a:pt x="1186695" y="507107"/>
                  <a:pt x="1180889" y="536136"/>
                </a:cubicBezTo>
                <a:cubicBezTo>
                  <a:pt x="1175083" y="565165"/>
                  <a:pt x="1164924" y="588388"/>
                  <a:pt x="1154764" y="605805"/>
                </a:cubicBezTo>
                <a:cubicBezTo>
                  <a:pt x="1144604" y="623222"/>
                  <a:pt x="1128638" y="626125"/>
                  <a:pt x="1119929" y="640639"/>
                </a:cubicBezTo>
                <a:cubicBezTo>
                  <a:pt x="1111220" y="655153"/>
                  <a:pt x="1119929" y="668217"/>
                  <a:pt x="1102512" y="692891"/>
                </a:cubicBezTo>
                <a:cubicBezTo>
                  <a:pt x="1085095" y="717565"/>
                  <a:pt x="1044454" y="764011"/>
                  <a:pt x="1015426" y="788685"/>
                </a:cubicBezTo>
                <a:cubicBezTo>
                  <a:pt x="986398" y="813359"/>
                  <a:pt x="950112" y="832228"/>
                  <a:pt x="928341" y="840936"/>
                </a:cubicBezTo>
                <a:cubicBezTo>
                  <a:pt x="906570" y="849645"/>
                  <a:pt x="900764" y="836582"/>
                  <a:pt x="884798" y="840936"/>
                </a:cubicBezTo>
                <a:cubicBezTo>
                  <a:pt x="868832" y="845290"/>
                  <a:pt x="849963" y="852548"/>
                  <a:pt x="832546" y="867062"/>
                </a:cubicBezTo>
                <a:cubicBezTo>
                  <a:pt x="815129" y="881576"/>
                  <a:pt x="800615" y="903348"/>
                  <a:pt x="780295" y="928022"/>
                </a:cubicBezTo>
                <a:cubicBezTo>
                  <a:pt x="759975" y="952696"/>
                  <a:pt x="728043" y="991885"/>
                  <a:pt x="710626" y="1015108"/>
                </a:cubicBezTo>
                <a:cubicBezTo>
                  <a:pt x="693209" y="1038331"/>
                  <a:pt x="688855" y="1048490"/>
                  <a:pt x="675792" y="1067359"/>
                </a:cubicBezTo>
                <a:cubicBezTo>
                  <a:pt x="662729" y="1086228"/>
                  <a:pt x="654020" y="1100742"/>
                  <a:pt x="632249" y="1128319"/>
                </a:cubicBezTo>
                <a:cubicBezTo>
                  <a:pt x="610478" y="1155896"/>
                  <a:pt x="564032" y="1200891"/>
                  <a:pt x="545164" y="1232822"/>
                </a:cubicBezTo>
                <a:cubicBezTo>
                  <a:pt x="526296" y="1264753"/>
                  <a:pt x="535004" y="1287977"/>
                  <a:pt x="519038" y="1319908"/>
                </a:cubicBezTo>
                <a:cubicBezTo>
                  <a:pt x="503072" y="1351840"/>
                  <a:pt x="471140" y="1402640"/>
                  <a:pt x="449369" y="1424411"/>
                </a:cubicBezTo>
                <a:cubicBezTo>
                  <a:pt x="427598" y="1446182"/>
                  <a:pt x="413083" y="1443279"/>
                  <a:pt x="388409" y="1450536"/>
                </a:cubicBezTo>
                <a:cubicBezTo>
                  <a:pt x="363735" y="1457793"/>
                  <a:pt x="318741" y="1465050"/>
                  <a:pt x="301324" y="1467953"/>
                </a:cubicBezTo>
                <a:cubicBezTo>
                  <a:pt x="283907" y="1470856"/>
                  <a:pt x="298420" y="1476661"/>
                  <a:pt x="283906" y="1467953"/>
                </a:cubicBezTo>
                <a:cubicBezTo>
                  <a:pt x="269392" y="1459245"/>
                  <a:pt x="238912" y="1447633"/>
                  <a:pt x="214238" y="1415702"/>
                </a:cubicBezTo>
                <a:cubicBezTo>
                  <a:pt x="189564" y="1383771"/>
                  <a:pt x="161987" y="1363451"/>
                  <a:pt x="135861" y="1276365"/>
                </a:cubicBezTo>
                <a:cubicBezTo>
                  <a:pt x="109735" y="1189279"/>
                  <a:pt x="70547" y="973017"/>
                  <a:pt x="57484" y="893188"/>
                </a:cubicBezTo>
                <a:cubicBezTo>
                  <a:pt x="44421" y="813359"/>
                  <a:pt x="63290" y="838033"/>
                  <a:pt x="57484" y="797393"/>
                </a:cubicBezTo>
                <a:cubicBezTo>
                  <a:pt x="51678" y="756753"/>
                  <a:pt x="31358" y="698697"/>
                  <a:pt x="22649" y="649348"/>
                </a:cubicBezTo>
                <a:cubicBezTo>
                  <a:pt x="13940" y="599999"/>
                  <a:pt x="8135" y="536136"/>
                  <a:pt x="5232" y="501302"/>
                </a:cubicBezTo>
                <a:cubicBezTo>
                  <a:pt x="2329" y="466468"/>
                  <a:pt x="-4928" y="492594"/>
                  <a:pt x="5232" y="440342"/>
                </a:cubicBezTo>
                <a:cubicBezTo>
                  <a:pt x="15392" y="388091"/>
                  <a:pt x="38615" y="248753"/>
                  <a:pt x="66192" y="187793"/>
                </a:cubicBezTo>
                <a:cubicBezTo>
                  <a:pt x="93769" y="126833"/>
                  <a:pt x="141666" y="100708"/>
                  <a:pt x="170695" y="74582"/>
                </a:cubicBezTo>
                <a:cubicBezTo>
                  <a:pt x="199724" y="48456"/>
                  <a:pt x="236010" y="36845"/>
                  <a:pt x="240364" y="31039"/>
                </a:cubicBezTo>
                <a:cubicBezTo>
                  <a:pt x="244718" y="25233"/>
                  <a:pt x="195370" y="45554"/>
                  <a:pt x="196821" y="39748"/>
                </a:cubicBezTo>
                <a:cubicBezTo>
                  <a:pt x="198272" y="33942"/>
                  <a:pt x="251975" y="10719"/>
                  <a:pt x="283906" y="4913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1646325" y="3364689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+</a:t>
            </a:r>
            <a:endParaRPr lang="ru-RU" sz="24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0507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5</a:t>
            </a:r>
            <a:endParaRPr lang="ru-RU" sz="1100" dirty="0"/>
          </a:p>
        </p:txBody>
      </p:sp>
      <p:cxnSp>
        <p:nvCxnSpPr>
          <p:cNvPr id="5" name="Прямая со стрелкой 4"/>
          <p:cNvCxnSpPr/>
          <p:nvPr/>
        </p:nvCxnSpPr>
        <p:spPr>
          <a:xfrm>
            <a:off x="1403648" y="2574036"/>
            <a:ext cx="72008" cy="144111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>
            <a:off x="1475656" y="2790155"/>
            <a:ext cx="72008" cy="144016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>
            <a:off x="1547664" y="3006179"/>
            <a:ext cx="72008" cy="144016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>
            <a:off x="1619672" y="3222203"/>
            <a:ext cx="72008" cy="144016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>
            <a:off x="1691680" y="3366219"/>
            <a:ext cx="72008" cy="144016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655676" y="3350036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+</a:t>
            </a:r>
            <a:endParaRPr lang="ru-RU" sz="2400" b="1" dirty="0">
              <a:solidFill>
                <a:srgbClr val="00B0F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1586185"/>
            <a:ext cx="1656183" cy="2217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186" y="14460"/>
            <a:ext cx="9144000" cy="5148072"/>
          </a:xfrm>
          <a:prstGeom prst="rect">
            <a:avLst/>
          </a:prstGeom>
          <a:solidFill>
            <a:srgbClr val="92D050"/>
          </a:solidFill>
          <a:ln w="28575">
            <a:solidFill>
              <a:schemeClr val="tx1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6</a:t>
            </a:r>
            <a:endParaRPr lang="ru-RU" sz="1100" dirty="0"/>
          </a:p>
        </p:txBody>
      </p:sp>
      <p:cxnSp>
        <p:nvCxnSpPr>
          <p:cNvPr id="5" name="Прямая со стрелкой 4"/>
          <p:cNvCxnSpPr/>
          <p:nvPr/>
        </p:nvCxnSpPr>
        <p:spPr>
          <a:xfrm>
            <a:off x="1403648" y="2574036"/>
            <a:ext cx="72008" cy="144111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>
            <a:off x="1475656" y="2790155"/>
            <a:ext cx="72008" cy="144016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>
            <a:off x="1547664" y="3006179"/>
            <a:ext cx="72008" cy="144016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>
            <a:off x="1619672" y="3222203"/>
            <a:ext cx="72008" cy="144016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>
            <a:off x="1691680" y="3366219"/>
            <a:ext cx="72008" cy="144016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 flipH="1">
            <a:off x="611560" y="3602680"/>
            <a:ext cx="1152128" cy="0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1799692" y="3582243"/>
            <a:ext cx="0" cy="720080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1763688" y="3582243"/>
            <a:ext cx="720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655676" y="4302323"/>
            <a:ext cx="61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w</a:t>
            </a:r>
            <a:r>
              <a:rPr lang="en-US" sz="1400" baseline="-25000" dirty="0">
                <a:solidFill>
                  <a:schemeClr val="bg1"/>
                </a:solidFill>
              </a:rPr>
              <a:t>i0</a:t>
            </a:r>
            <a:endParaRPr lang="ru-RU" sz="1400" baseline="-250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79512" y="3388279"/>
            <a:ext cx="612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w</a:t>
            </a:r>
            <a:r>
              <a:rPr lang="en-US" sz="1400" baseline="-25000" dirty="0">
                <a:solidFill>
                  <a:schemeClr val="bg1"/>
                </a:solidFill>
              </a:rPr>
              <a:t>j0</a:t>
            </a:r>
            <a:endParaRPr lang="ru-RU" sz="1400" baseline="-25000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19672" y="3350036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+</a:t>
            </a:r>
            <a:endParaRPr lang="ru-RU" sz="2400" b="1" dirty="0">
              <a:solidFill>
                <a:srgbClr val="00B0F0"/>
              </a:solidFill>
            </a:endParaRPr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1586185"/>
            <a:ext cx="1656183" cy="2217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39785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7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9241583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cxnSp>
        <p:nvCxnSpPr>
          <p:cNvPr id="4" name="Прямая со стрелкой 3"/>
          <p:cNvCxnSpPr/>
          <p:nvPr/>
        </p:nvCxnSpPr>
        <p:spPr>
          <a:xfrm flipH="1" flipV="1">
            <a:off x="755576" y="2934171"/>
            <a:ext cx="1008112" cy="648072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8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39267205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9</a:t>
            </a:r>
            <a:endParaRPr lang="ru-RU" sz="11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cxnSp>
        <p:nvCxnSpPr>
          <p:cNvPr id="4" name="Прямая со стрелкой 3"/>
          <p:cNvCxnSpPr/>
          <p:nvPr/>
        </p:nvCxnSpPr>
        <p:spPr>
          <a:xfrm>
            <a:off x="1691680" y="3510235"/>
            <a:ext cx="0" cy="1080120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618" y="4590355"/>
            <a:ext cx="1221118" cy="389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10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5394444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11</a:t>
            </a:r>
            <a:endParaRPr lang="ru-RU" sz="11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"/>
            <a:ext cx="9144000" cy="5148072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2106108"/>
            <a:ext cx="2226201" cy="467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Прямая со стрелкой 3"/>
          <p:cNvCxnSpPr/>
          <p:nvPr/>
        </p:nvCxnSpPr>
        <p:spPr>
          <a:xfrm flipH="1" flipV="1">
            <a:off x="971600" y="3150195"/>
            <a:ext cx="576064" cy="216024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12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485963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13</a:t>
            </a:r>
            <a:endParaRPr lang="ru-RU" sz="11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0"/>
            <a:ext cx="7729943" cy="514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7"/>
          </p:nvPr>
        </p:nvSpPr>
        <p:spPr>
          <a:xfrm>
            <a:off x="8542829" y="4878387"/>
            <a:ext cx="518942" cy="161891"/>
          </a:xfrm>
        </p:spPr>
        <p:txBody>
          <a:bodyPr/>
          <a:lstStyle/>
          <a:p>
            <a:pPr marL="45014"/>
            <a:r>
              <a:rPr lang="en-US" sz="1100" spc="124" dirty="0">
                <a:solidFill>
                  <a:srgbClr val="FFD564"/>
                </a:solidFill>
                <a:latin typeface="Arial"/>
                <a:cs typeface="Arial"/>
              </a:rPr>
              <a:t>14</a:t>
            </a:r>
            <a:endParaRPr lang="ru-RU" sz="1100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342880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15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38794494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51539" cy="514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16</a:t>
            </a:r>
            <a:endParaRPr lang="ru-RU" sz="11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" y="0"/>
            <a:ext cx="9199904" cy="514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4230958"/>
            <a:ext cx="1728192" cy="50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17</a:t>
            </a:r>
            <a:endParaRPr lang="ru-RU" sz="11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" y="0"/>
            <a:ext cx="9199904" cy="514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18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34910030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1106" y="1205979"/>
            <a:ext cx="8133301" cy="6027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2503" defTabSz="1620298"/>
            <a:r>
              <a:rPr lang="ru-RU" sz="3600" spc="-115" dirty="0">
                <a:solidFill>
                  <a:srgbClr val="FFD564"/>
                </a:solidFill>
                <a:latin typeface="Arial"/>
                <a:cs typeface="Arial"/>
              </a:rPr>
              <a:t>6.2 Модификации градиентного спуска</a:t>
            </a:r>
            <a:endParaRPr sz="3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30691" y="1867593"/>
            <a:ext cx="7554133" cy="0"/>
          </a:xfrm>
          <a:custGeom>
            <a:avLst/>
            <a:gdLst/>
            <a:ahLst/>
            <a:cxnLst/>
            <a:rect l="l" t="t" r="r" b="b"/>
            <a:pathLst>
              <a:path w="3798050">
                <a:moveTo>
                  <a:pt x="0" y="0"/>
                </a:moveTo>
                <a:lnTo>
                  <a:pt x="3798050" y="0"/>
                </a:lnTo>
              </a:path>
            </a:pathLst>
          </a:custGeom>
          <a:ln w="25305">
            <a:solidFill>
              <a:srgbClr val="FFD564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pPr defTabSz="1620298"/>
            <a:endParaRPr>
              <a:solidFill>
                <a:prstClr val="black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45014"/>
            <a:fld id="{81D60167-4931-47E6-BA6A-407CBD079E47}" type="slidenum">
              <a:rPr lang="ru-RU" sz="1100" spc="27" smtClean="0">
                <a:solidFill>
                  <a:srgbClr val="FFD564"/>
                </a:solidFill>
                <a:latin typeface="Arial"/>
                <a:cs typeface="Arial"/>
              </a:rPr>
              <a:pPr marL="45014"/>
              <a:t>19</a:t>
            </a:fld>
            <a:endParaRPr lang="ru-RU" sz="1100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74406132"/>
      </p:ext>
    </p:extLst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" y="0"/>
            <a:ext cx="9199904" cy="514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20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4461843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21</a:t>
            </a:r>
            <a:endParaRPr lang="ru-RU" sz="11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Овал 2"/>
          <p:cNvSpPr/>
          <p:nvPr/>
        </p:nvSpPr>
        <p:spPr>
          <a:xfrm>
            <a:off x="1907704" y="3438227"/>
            <a:ext cx="144016" cy="144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22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1620472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sp>
        <p:nvSpPr>
          <p:cNvPr id="3" name="Овал 2"/>
          <p:cNvSpPr/>
          <p:nvPr/>
        </p:nvSpPr>
        <p:spPr>
          <a:xfrm>
            <a:off x="1907704" y="3438227"/>
            <a:ext cx="144016" cy="144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23</a:t>
            </a:r>
            <a:endParaRPr lang="ru-RU" sz="1100" dirty="0"/>
          </a:p>
        </p:txBody>
      </p:sp>
      <p:cxnSp>
        <p:nvCxnSpPr>
          <p:cNvPr id="6" name="Прямая со стрелкой 5"/>
          <p:cNvCxnSpPr/>
          <p:nvPr/>
        </p:nvCxnSpPr>
        <p:spPr>
          <a:xfrm>
            <a:off x="2051720" y="3582243"/>
            <a:ext cx="144016" cy="216024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94495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sp>
        <p:nvSpPr>
          <p:cNvPr id="3" name="Овал 2"/>
          <p:cNvSpPr/>
          <p:nvPr/>
        </p:nvSpPr>
        <p:spPr>
          <a:xfrm>
            <a:off x="1907704" y="3438227"/>
            <a:ext cx="144016" cy="144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24</a:t>
            </a:r>
            <a:endParaRPr lang="ru-RU" sz="1100" dirty="0"/>
          </a:p>
        </p:txBody>
      </p:sp>
      <p:cxnSp>
        <p:nvCxnSpPr>
          <p:cNvPr id="6" name="Прямая со стрелкой 5"/>
          <p:cNvCxnSpPr/>
          <p:nvPr/>
        </p:nvCxnSpPr>
        <p:spPr>
          <a:xfrm>
            <a:off x="2051720" y="3582243"/>
            <a:ext cx="144016" cy="216024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 flipH="1" flipV="1">
            <a:off x="1691680" y="3006179"/>
            <a:ext cx="288032" cy="504056"/>
          </a:xfrm>
          <a:prstGeom prst="straightConnector1">
            <a:avLst/>
          </a:prstGeom>
          <a:ln w="19050">
            <a:solidFill>
              <a:schemeClr val="bg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40973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Овал 2"/>
          <p:cNvSpPr/>
          <p:nvPr/>
        </p:nvSpPr>
        <p:spPr>
          <a:xfrm>
            <a:off x="1907704" y="3438227"/>
            <a:ext cx="144016" cy="144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Овал 3"/>
          <p:cNvSpPr/>
          <p:nvPr/>
        </p:nvSpPr>
        <p:spPr>
          <a:xfrm>
            <a:off x="1648015" y="3006179"/>
            <a:ext cx="144016" cy="144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" name="Прямая со стрелкой 7"/>
          <p:cNvCxnSpPr>
            <a:stCxn id="4" idx="1"/>
          </p:cNvCxnSpPr>
          <p:nvPr/>
        </p:nvCxnSpPr>
        <p:spPr>
          <a:xfrm flipH="1" flipV="1">
            <a:off x="1331640" y="2718147"/>
            <a:ext cx="337466" cy="309123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25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38520234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Овал 2"/>
          <p:cNvSpPr/>
          <p:nvPr/>
        </p:nvSpPr>
        <p:spPr>
          <a:xfrm>
            <a:off x="1907704" y="3438227"/>
            <a:ext cx="144016" cy="144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Овал 3"/>
          <p:cNvSpPr/>
          <p:nvPr/>
        </p:nvSpPr>
        <p:spPr>
          <a:xfrm>
            <a:off x="1648015" y="3006179"/>
            <a:ext cx="144016" cy="144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2051720" y="3294211"/>
            <a:ext cx="144016" cy="144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26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8202895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27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37651454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" y="0"/>
            <a:ext cx="9196909" cy="5177860"/>
          </a:xfrm>
          <a:prstGeom prst="rect">
            <a:avLst/>
          </a:prstGeom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524" y="984148"/>
            <a:ext cx="4985555" cy="3462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Овал 4"/>
          <p:cNvSpPr/>
          <p:nvPr/>
        </p:nvSpPr>
        <p:spPr>
          <a:xfrm>
            <a:off x="1043608" y="1414110"/>
            <a:ext cx="432048" cy="43204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 стрелкой 8"/>
          <p:cNvCxnSpPr>
            <a:stCxn id="5" idx="3"/>
          </p:cNvCxnSpPr>
          <p:nvPr/>
        </p:nvCxnSpPr>
        <p:spPr>
          <a:xfrm flipH="1">
            <a:off x="899592" y="1782886"/>
            <a:ext cx="207288" cy="359197"/>
          </a:xfrm>
          <a:prstGeom prst="straightConnector1">
            <a:avLst/>
          </a:prstGeom>
          <a:ln w="28575">
            <a:solidFill>
              <a:schemeClr val="tx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flipV="1">
            <a:off x="899592" y="1926059"/>
            <a:ext cx="504056" cy="216024"/>
          </a:xfrm>
          <a:prstGeom prst="straightConnector1">
            <a:avLst/>
          </a:prstGeom>
          <a:ln w="1905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 flipH="1">
            <a:off x="1259632" y="1926059"/>
            <a:ext cx="144016" cy="288032"/>
          </a:xfrm>
          <a:prstGeom prst="straightConnector1">
            <a:avLst/>
          </a:prstGeom>
          <a:ln w="1905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 flipV="1">
            <a:off x="1259632" y="2070075"/>
            <a:ext cx="288032" cy="144016"/>
          </a:xfrm>
          <a:prstGeom prst="straightConnector1">
            <a:avLst/>
          </a:prstGeom>
          <a:ln w="1905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 flipH="1">
            <a:off x="1511660" y="2070075"/>
            <a:ext cx="36004" cy="288032"/>
          </a:xfrm>
          <a:prstGeom prst="straightConnector1">
            <a:avLst/>
          </a:prstGeom>
          <a:ln w="1905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V="1">
            <a:off x="1511660" y="2286099"/>
            <a:ext cx="180020" cy="36004"/>
          </a:xfrm>
          <a:prstGeom prst="straightConnector1">
            <a:avLst/>
          </a:prstGeom>
          <a:ln w="12700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 flipH="1">
            <a:off x="1610671" y="2286099"/>
            <a:ext cx="81009" cy="144016"/>
          </a:xfrm>
          <a:prstGeom prst="straightConnector1">
            <a:avLst/>
          </a:prstGeom>
          <a:ln w="1905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/>
          <p:nvPr/>
        </p:nvCxnSpPr>
        <p:spPr>
          <a:xfrm flipV="1">
            <a:off x="1610671" y="2358107"/>
            <a:ext cx="153017" cy="72008"/>
          </a:xfrm>
          <a:prstGeom prst="straightConnector1">
            <a:avLst/>
          </a:prstGeom>
          <a:ln w="19050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4" name="Полилиния 3073"/>
          <p:cNvSpPr/>
          <p:nvPr/>
        </p:nvSpPr>
        <p:spPr>
          <a:xfrm>
            <a:off x="1733006" y="2386149"/>
            <a:ext cx="1227908" cy="722811"/>
          </a:xfrm>
          <a:custGeom>
            <a:avLst/>
            <a:gdLst>
              <a:gd name="connsiteX0" fmla="*/ 0 w 1227908"/>
              <a:gd name="connsiteY0" fmla="*/ 0 h 722811"/>
              <a:gd name="connsiteX1" fmla="*/ 17417 w 1227908"/>
              <a:gd name="connsiteY1" fmla="*/ 69668 h 722811"/>
              <a:gd name="connsiteX2" fmla="*/ 95794 w 1227908"/>
              <a:gd name="connsiteY2" fmla="*/ 52251 h 722811"/>
              <a:gd name="connsiteX3" fmla="*/ 139337 w 1227908"/>
              <a:gd name="connsiteY3" fmla="*/ 191588 h 722811"/>
              <a:gd name="connsiteX4" fmla="*/ 322217 w 1227908"/>
              <a:gd name="connsiteY4" fmla="*/ 252548 h 722811"/>
              <a:gd name="connsiteX5" fmla="*/ 391885 w 1227908"/>
              <a:gd name="connsiteY5" fmla="*/ 400594 h 722811"/>
              <a:gd name="connsiteX6" fmla="*/ 609600 w 1227908"/>
              <a:gd name="connsiteY6" fmla="*/ 461554 h 722811"/>
              <a:gd name="connsiteX7" fmla="*/ 783771 w 1227908"/>
              <a:gd name="connsiteY7" fmla="*/ 592182 h 722811"/>
              <a:gd name="connsiteX8" fmla="*/ 1079863 w 1227908"/>
              <a:gd name="connsiteY8" fmla="*/ 670560 h 722811"/>
              <a:gd name="connsiteX9" fmla="*/ 1227908 w 1227908"/>
              <a:gd name="connsiteY9" fmla="*/ 722811 h 722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7908" h="722811">
                <a:moveTo>
                  <a:pt x="0" y="0"/>
                </a:moveTo>
                <a:cubicBezTo>
                  <a:pt x="725" y="30480"/>
                  <a:pt x="1451" y="60960"/>
                  <a:pt x="17417" y="69668"/>
                </a:cubicBezTo>
                <a:cubicBezTo>
                  <a:pt x="33383" y="78376"/>
                  <a:pt x="75474" y="31931"/>
                  <a:pt x="95794" y="52251"/>
                </a:cubicBezTo>
                <a:cubicBezTo>
                  <a:pt x="116114" y="72571"/>
                  <a:pt x="101600" y="158205"/>
                  <a:pt x="139337" y="191588"/>
                </a:cubicBezTo>
                <a:cubicBezTo>
                  <a:pt x="177074" y="224971"/>
                  <a:pt x="280126" y="217714"/>
                  <a:pt x="322217" y="252548"/>
                </a:cubicBezTo>
                <a:cubicBezTo>
                  <a:pt x="364308" y="287382"/>
                  <a:pt x="343988" y="365760"/>
                  <a:pt x="391885" y="400594"/>
                </a:cubicBezTo>
                <a:cubicBezTo>
                  <a:pt x="439782" y="435428"/>
                  <a:pt x="544286" y="429623"/>
                  <a:pt x="609600" y="461554"/>
                </a:cubicBezTo>
                <a:cubicBezTo>
                  <a:pt x="674914" y="493485"/>
                  <a:pt x="705394" y="557348"/>
                  <a:pt x="783771" y="592182"/>
                </a:cubicBezTo>
                <a:cubicBezTo>
                  <a:pt x="862148" y="627016"/>
                  <a:pt x="1005840" y="648788"/>
                  <a:pt x="1079863" y="670560"/>
                </a:cubicBezTo>
                <a:cubicBezTo>
                  <a:pt x="1153886" y="692332"/>
                  <a:pt x="1190897" y="707571"/>
                  <a:pt x="1227908" y="722811"/>
                </a:cubicBezTo>
              </a:path>
            </a:pathLst>
          </a:cu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28</a:t>
            </a:r>
            <a:endParaRPr lang="ru-RU" sz="11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2</a:t>
            </a:r>
            <a:r>
              <a:rPr lang="en-US" sz="1100" dirty="0"/>
              <a:t>9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35562086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"/>
            <a:ext cx="9144000" cy="5148072"/>
          </a:xfrm>
          <a:prstGeom prst="rect">
            <a:avLst/>
          </a:prstGeom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341883"/>
            <a:ext cx="1640080" cy="535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30</a:t>
            </a:r>
            <a:endParaRPr lang="ru-RU" sz="11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"/>
            <a:ext cx="9144000" cy="5148072"/>
          </a:xfrm>
          <a:prstGeom prst="rect">
            <a:avLst/>
          </a:prstGeom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341883"/>
            <a:ext cx="1640080" cy="535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191"/>
            <a:ext cx="228600" cy="366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Овал 2"/>
          <p:cNvSpPr/>
          <p:nvPr/>
        </p:nvSpPr>
        <p:spPr>
          <a:xfrm>
            <a:off x="6012160" y="0"/>
            <a:ext cx="504056" cy="366245"/>
          </a:xfrm>
          <a:prstGeom prst="ellipse">
            <a:avLst/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" name="Прямая со стрелкой 4"/>
          <p:cNvCxnSpPr>
            <a:stCxn id="3" idx="4"/>
          </p:cNvCxnSpPr>
          <p:nvPr/>
        </p:nvCxnSpPr>
        <p:spPr>
          <a:xfrm>
            <a:off x="6264188" y="366245"/>
            <a:ext cx="108012" cy="119654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 flipH="1" flipV="1">
            <a:off x="6084168" y="181856"/>
            <a:ext cx="72008" cy="1362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31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34782145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"/>
            <a:ext cx="9144000" cy="5148072"/>
          </a:xfrm>
          <a:prstGeom prst="rect">
            <a:avLst/>
          </a:prstGeom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341883"/>
            <a:ext cx="1640080" cy="535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191"/>
            <a:ext cx="228600" cy="366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Овал 2"/>
          <p:cNvSpPr/>
          <p:nvPr/>
        </p:nvSpPr>
        <p:spPr>
          <a:xfrm>
            <a:off x="6012160" y="0"/>
            <a:ext cx="504056" cy="366245"/>
          </a:xfrm>
          <a:prstGeom prst="ellipse">
            <a:avLst/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" name="Прямая со стрелкой 4"/>
          <p:cNvCxnSpPr>
            <a:stCxn id="3" idx="4"/>
          </p:cNvCxnSpPr>
          <p:nvPr/>
        </p:nvCxnSpPr>
        <p:spPr>
          <a:xfrm>
            <a:off x="6264188" y="366245"/>
            <a:ext cx="108012" cy="119654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 flipH="1" flipV="1">
            <a:off x="6084168" y="181856"/>
            <a:ext cx="72008" cy="1362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9380" y="45072"/>
            <a:ext cx="3429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Прямая соединительная линия 8"/>
          <p:cNvCxnSpPr/>
          <p:nvPr/>
        </p:nvCxnSpPr>
        <p:spPr>
          <a:xfrm flipH="1" flipV="1">
            <a:off x="6646465" y="181856"/>
            <a:ext cx="102914" cy="1266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Овал 9"/>
          <p:cNvSpPr/>
          <p:nvPr/>
        </p:nvSpPr>
        <p:spPr>
          <a:xfrm>
            <a:off x="6588224" y="191"/>
            <a:ext cx="504056" cy="366054"/>
          </a:xfrm>
          <a:prstGeom prst="ellipse">
            <a:avLst/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2" name="Прямая со стрелкой 11"/>
          <p:cNvCxnSpPr>
            <a:stCxn id="10" idx="4"/>
          </p:cNvCxnSpPr>
          <p:nvPr/>
        </p:nvCxnSpPr>
        <p:spPr>
          <a:xfrm flipH="1">
            <a:off x="6749380" y="366245"/>
            <a:ext cx="90872" cy="119654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32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8181472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6416" y="413891"/>
            <a:ext cx="19050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33</a:t>
            </a:r>
            <a:endParaRPr lang="ru-RU" sz="11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6416" y="413891"/>
            <a:ext cx="19050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292080" y="1782043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Метод конечных разностей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34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6139844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6416" y="413891"/>
            <a:ext cx="19050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710035"/>
            <a:ext cx="2448272" cy="644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35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10189045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6416" y="413891"/>
            <a:ext cx="19050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685" y="1710035"/>
            <a:ext cx="2448272" cy="644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306" y="2707192"/>
            <a:ext cx="2355651" cy="666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Прямая соединительная линия 3"/>
          <p:cNvCxnSpPr/>
          <p:nvPr/>
        </p:nvCxnSpPr>
        <p:spPr>
          <a:xfrm flipH="1">
            <a:off x="5652120" y="1710035"/>
            <a:ext cx="216024" cy="57606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>
            <a:off x="5760132" y="1854051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 flipH="1">
            <a:off x="5760132" y="1726803"/>
            <a:ext cx="216024" cy="57606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 flipH="1">
            <a:off x="5889327" y="1726803"/>
            <a:ext cx="216024" cy="57606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36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3052544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37</a:t>
            </a:r>
            <a:endParaRPr lang="ru-RU" sz="11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3171572"/>
            <a:ext cx="3771900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38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4419128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0"/>
            <a:ext cx="9144000" cy="5148072"/>
          </a:xfrm>
          <a:prstGeom prst="rect">
            <a:avLst/>
          </a:prstGeom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3294211"/>
            <a:ext cx="3752850" cy="113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39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40608286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6"/>
            <a:ext cx="9144000" cy="5148072"/>
          </a:xfrm>
          <a:prstGeom prst="rect">
            <a:avLst/>
          </a:prstGeom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3294211"/>
            <a:ext cx="3752850" cy="113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Овал 2"/>
          <p:cNvSpPr/>
          <p:nvPr/>
        </p:nvSpPr>
        <p:spPr>
          <a:xfrm>
            <a:off x="7020272" y="3942283"/>
            <a:ext cx="504056" cy="485403"/>
          </a:xfrm>
          <a:prstGeom prst="ellipse">
            <a:avLst/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" name="Прямая со стрелкой 4"/>
          <p:cNvCxnSpPr>
            <a:stCxn id="3" idx="5"/>
          </p:cNvCxnSpPr>
          <p:nvPr/>
        </p:nvCxnSpPr>
        <p:spPr>
          <a:xfrm>
            <a:off x="7450511" y="4356600"/>
            <a:ext cx="217833" cy="233755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9216" y="1926059"/>
            <a:ext cx="1333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Прямая со стрелкой 7"/>
          <p:cNvCxnSpPr/>
          <p:nvPr/>
        </p:nvCxnSpPr>
        <p:spPr>
          <a:xfrm flipV="1">
            <a:off x="6084168" y="2718147"/>
            <a:ext cx="1650851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 flipH="1" flipV="1">
            <a:off x="7735019" y="2718147"/>
            <a:ext cx="293365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108" y="2356805"/>
            <a:ext cx="848866" cy="3613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Прямая со стрелкой 11"/>
          <p:cNvCxnSpPr/>
          <p:nvPr/>
        </p:nvCxnSpPr>
        <p:spPr>
          <a:xfrm flipV="1">
            <a:off x="7995891" y="2202284"/>
            <a:ext cx="0" cy="1950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Овал 12"/>
          <p:cNvSpPr/>
          <p:nvPr/>
        </p:nvSpPr>
        <p:spPr>
          <a:xfrm>
            <a:off x="5868144" y="3366219"/>
            <a:ext cx="432048" cy="432048"/>
          </a:xfrm>
          <a:prstGeom prst="ellipse">
            <a:avLst/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/>
          <p:cNvSpPr/>
          <p:nvPr/>
        </p:nvSpPr>
        <p:spPr>
          <a:xfrm>
            <a:off x="7559427" y="3222203"/>
            <a:ext cx="1125463" cy="638745"/>
          </a:xfrm>
          <a:prstGeom prst="ellipse">
            <a:avLst/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1091" y="4576159"/>
            <a:ext cx="1714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Овал 14"/>
          <p:cNvSpPr/>
          <p:nvPr/>
        </p:nvSpPr>
        <p:spPr>
          <a:xfrm>
            <a:off x="6516216" y="3294211"/>
            <a:ext cx="393377" cy="648072"/>
          </a:xfrm>
          <a:prstGeom prst="ellipse">
            <a:avLst/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единительная линия 16"/>
          <p:cNvCxnSpPr>
            <a:stCxn id="15" idx="7"/>
          </p:cNvCxnSpPr>
          <p:nvPr/>
        </p:nvCxnSpPr>
        <p:spPr>
          <a:xfrm flipV="1">
            <a:off x="6851984" y="3309222"/>
            <a:ext cx="120148" cy="79897"/>
          </a:xfrm>
          <a:prstGeom prst="line">
            <a:avLst/>
          </a:prstGeom>
          <a:ln cmpd="dbl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71399" y="3047990"/>
            <a:ext cx="4694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23" name="Прямая соединительная линия 22"/>
          <p:cNvCxnSpPr/>
          <p:nvPr/>
        </p:nvCxnSpPr>
        <p:spPr>
          <a:xfrm flipV="1">
            <a:off x="6833206" y="3273878"/>
            <a:ext cx="76387" cy="70689"/>
          </a:xfrm>
          <a:prstGeom prst="line">
            <a:avLst/>
          </a:prstGeom>
          <a:ln cmpd="dbl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Овал 20"/>
          <p:cNvSpPr/>
          <p:nvPr/>
        </p:nvSpPr>
        <p:spPr>
          <a:xfrm>
            <a:off x="6912058" y="3047990"/>
            <a:ext cx="194055" cy="225888"/>
          </a:xfrm>
          <a:prstGeom prst="ellipse">
            <a:avLst/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40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38906016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3222203"/>
            <a:ext cx="3266330" cy="986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41</a:t>
            </a:r>
            <a:endParaRPr lang="ru-RU" sz="11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1456612"/>
            <a:ext cx="3689686" cy="992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42</a:t>
            </a:r>
            <a:endParaRPr lang="ru-RU" sz="11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1456612"/>
            <a:ext cx="3689686" cy="992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Овал 2"/>
          <p:cNvSpPr/>
          <p:nvPr/>
        </p:nvSpPr>
        <p:spPr>
          <a:xfrm>
            <a:off x="1968108" y="3500708"/>
            <a:ext cx="72007" cy="72008"/>
          </a:xfrm>
          <a:prstGeom prst="ellipse">
            <a:avLst/>
          </a:prstGeom>
          <a:solidFill>
            <a:srgbClr val="FF0000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43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4110763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1456612"/>
            <a:ext cx="3689686" cy="992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Овал 2"/>
          <p:cNvSpPr/>
          <p:nvPr/>
        </p:nvSpPr>
        <p:spPr>
          <a:xfrm>
            <a:off x="1968108" y="3500708"/>
            <a:ext cx="72007" cy="72008"/>
          </a:xfrm>
          <a:prstGeom prst="ellipse">
            <a:avLst/>
          </a:prstGeom>
          <a:solidFill>
            <a:srgbClr val="FF0000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2108089" y="3353074"/>
            <a:ext cx="79827" cy="58864"/>
          </a:xfrm>
          <a:prstGeom prst="ellipse">
            <a:avLst/>
          </a:prstGeom>
          <a:solidFill>
            <a:srgbClr val="FF0000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44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3131098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1456612"/>
            <a:ext cx="3689686" cy="992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Прямая со стрелкой 3"/>
          <p:cNvCxnSpPr/>
          <p:nvPr/>
        </p:nvCxnSpPr>
        <p:spPr>
          <a:xfrm flipH="1" flipV="1">
            <a:off x="1043608" y="2718147"/>
            <a:ext cx="1008112" cy="1368152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45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6027857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1456612"/>
            <a:ext cx="3689686" cy="992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Прямая со стрелкой 3"/>
          <p:cNvCxnSpPr/>
          <p:nvPr/>
        </p:nvCxnSpPr>
        <p:spPr>
          <a:xfrm flipH="1" flipV="1">
            <a:off x="1043608" y="2718147"/>
            <a:ext cx="1008112" cy="1368152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 стрелкой 4"/>
          <p:cNvCxnSpPr/>
          <p:nvPr/>
        </p:nvCxnSpPr>
        <p:spPr>
          <a:xfrm flipV="1">
            <a:off x="718794" y="1133971"/>
            <a:ext cx="3960440" cy="2952328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46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842861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47</a:t>
            </a:r>
            <a:endParaRPr lang="ru-RU" sz="11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759876"/>
            <a:ext cx="3707903" cy="1622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48</a:t>
            </a:r>
            <a:endParaRPr lang="ru-RU" sz="11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839913"/>
            <a:ext cx="3982208" cy="1742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Прямая со стрелкой 3"/>
          <p:cNvCxnSpPr/>
          <p:nvPr/>
        </p:nvCxnSpPr>
        <p:spPr>
          <a:xfrm flipH="1" flipV="1">
            <a:off x="1043608" y="2718147"/>
            <a:ext cx="1008112" cy="1368152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49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10149307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839913"/>
            <a:ext cx="3982208" cy="1742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Прямая со стрелкой 3"/>
          <p:cNvCxnSpPr/>
          <p:nvPr/>
        </p:nvCxnSpPr>
        <p:spPr>
          <a:xfrm flipH="1" flipV="1">
            <a:off x="1043608" y="2718147"/>
            <a:ext cx="1008112" cy="1368152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 стрелкой 4"/>
          <p:cNvCxnSpPr/>
          <p:nvPr/>
        </p:nvCxnSpPr>
        <p:spPr>
          <a:xfrm flipV="1">
            <a:off x="718794" y="1133971"/>
            <a:ext cx="3960440" cy="2952328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50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665644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839913"/>
            <a:ext cx="3982208" cy="1742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Прямая со стрелкой 3"/>
          <p:cNvCxnSpPr/>
          <p:nvPr/>
        </p:nvCxnSpPr>
        <p:spPr>
          <a:xfrm flipH="1" flipV="1">
            <a:off x="1043608" y="2718147"/>
            <a:ext cx="1008112" cy="136815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 стрелкой 4"/>
          <p:cNvCxnSpPr/>
          <p:nvPr/>
        </p:nvCxnSpPr>
        <p:spPr>
          <a:xfrm flipV="1">
            <a:off x="718794" y="1133971"/>
            <a:ext cx="3960440" cy="2952328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51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7125632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839913"/>
            <a:ext cx="3982208" cy="1742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Прямая со стрелкой 3"/>
          <p:cNvCxnSpPr/>
          <p:nvPr/>
        </p:nvCxnSpPr>
        <p:spPr>
          <a:xfrm flipH="1" flipV="1">
            <a:off x="1043608" y="2718147"/>
            <a:ext cx="1008112" cy="1368152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 стрелкой 4"/>
          <p:cNvCxnSpPr/>
          <p:nvPr/>
        </p:nvCxnSpPr>
        <p:spPr>
          <a:xfrm flipV="1">
            <a:off x="718794" y="1133971"/>
            <a:ext cx="3960440" cy="2952328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52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35252251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52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53</a:t>
            </a:r>
            <a:endParaRPr lang="ru-RU" sz="11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774" y="-1"/>
            <a:ext cx="9147773" cy="5145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54</a:t>
            </a:r>
            <a:endParaRPr lang="ru-RU" sz="11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39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55</a:t>
            </a:r>
            <a:endParaRPr lang="ru-RU" sz="11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234" y="-1"/>
            <a:ext cx="9155350" cy="514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56</a:t>
            </a:r>
            <a:endParaRPr lang="ru-RU" sz="11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82155" cy="514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57</a:t>
            </a:r>
            <a:endParaRPr lang="ru-RU" sz="11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82155" cy="514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58</a:t>
            </a:r>
            <a:endParaRPr lang="ru-RU" sz="1100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1926059"/>
            <a:ext cx="2019300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4805" y="1804938"/>
            <a:ext cx="1838325" cy="1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0603" y="1820230"/>
            <a:ext cx="936359" cy="144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87394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82155" cy="514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59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411383273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71968" cy="514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60</a:t>
            </a:r>
            <a:endParaRPr lang="ru-RU" sz="11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71968" cy="514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2718147"/>
            <a:ext cx="1445401" cy="181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2659756"/>
            <a:ext cx="936359" cy="144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427" y="2587748"/>
            <a:ext cx="936359" cy="144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Прямая со стрелкой 5"/>
          <p:cNvCxnSpPr/>
          <p:nvPr/>
        </p:nvCxnSpPr>
        <p:spPr>
          <a:xfrm>
            <a:off x="3491880" y="2430115"/>
            <a:ext cx="332547" cy="792088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61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6419324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0308" cy="514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62</a:t>
            </a:r>
            <a:endParaRPr lang="ru-RU" sz="11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71968" cy="514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63</a:t>
            </a:r>
            <a:endParaRPr lang="ru-RU" sz="1100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989955"/>
            <a:ext cx="19812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56815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9205463" cy="5148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388424" y="48063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64</a:t>
            </a:r>
            <a:endParaRPr lang="ru-RU" sz="11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1024</TotalTime>
  <Words>98</Words>
  <Application>Microsoft Office PowerPoint</Application>
  <PresentationFormat>Произвольный</PresentationFormat>
  <Paragraphs>81</Paragraphs>
  <Slides>64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64</vt:i4>
      </vt:variant>
    </vt:vector>
  </HeadingPairs>
  <TitlesOfParts>
    <vt:vector size="68" baseType="lpstr">
      <vt:lpstr>Arial</vt:lpstr>
      <vt:lpstr>Calibri</vt:lpstr>
      <vt:lpstr>Office Theme</vt:lpstr>
      <vt:lpstr>1_Office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Часть 1:  Нейрон и нейронная сеть</dc:title>
  <dc:creator>Альфира</dc:creator>
  <cp:lastModifiedBy>Альфира Ахмедова</cp:lastModifiedBy>
  <cp:revision>48</cp:revision>
  <dcterms:modified xsi:type="dcterms:W3CDTF">2023-10-20T05:38:02Z</dcterms:modified>
</cp:coreProperties>
</file>