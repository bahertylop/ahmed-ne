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</p:sldIdLst>
  <p:sldSz cy="3467100" cx="4597400"/>
  <p:notesSz cx="4597400" cy="34671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86" Type="http://schemas.openxmlformats.org/officeDocument/2006/relationships/slide" Target="slides/slide81.xml"/><Relationship Id="rId41" Type="http://schemas.openxmlformats.org/officeDocument/2006/relationships/slide" Target="slides/slide36.xml"/><Relationship Id="rId85" Type="http://schemas.openxmlformats.org/officeDocument/2006/relationships/slide" Target="slides/slide80.xml"/><Relationship Id="rId44" Type="http://schemas.openxmlformats.org/officeDocument/2006/relationships/slide" Target="slides/slide39.xml"/><Relationship Id="rId88" Type="http://schemas.openxmlformats.org/officeDocument/2006/relationships/slide" Target="slides/slide83.xml"/><Relationship Id="rId43" Type="http://schemas.openxmlformats.org/officeDocument/2006/relationships/slide" Target="slides/slide38.xml"/><Relationship Id="rId87" Type="http://schemas.openxmlformats.org/officeDocument/2006/relationships/slide" Target="slides/slide8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1992313" cy="173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2603500" y="0"/>
            <a:ext cx="1992313" cy="173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3292475"/>
            <a:ext cx="1992313" cy="1746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2603500" y="3292475"/>
            <a:ext cx="1992313" cy="1746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8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9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0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1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2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3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3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4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5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6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7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8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9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0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1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2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2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3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3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4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4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5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6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7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7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8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8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9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9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0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0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1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1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2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2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3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33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4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4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5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5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6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6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7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7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8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8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9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9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0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40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1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41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2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42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3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43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4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44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5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45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6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46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7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47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8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48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9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49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0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50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1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51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2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52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3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53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4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54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5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55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6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56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57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57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58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58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9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59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0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60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61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61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62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62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63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63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64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64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65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65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66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66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67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67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68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68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69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69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70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70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71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71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72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72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73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73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74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74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75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75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76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76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77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77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78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78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79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79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80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80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81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81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82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82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83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83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84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84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85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85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86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86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1566786" y="3224403"/>
            <a:ext cx="1474622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230409" y="3224403"/>
            <a:ext cx="1059884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/17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230409" y="797433"/>
            <a:ext cx="2004564" cy="2288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2" type="body"/>
          </p:nvPr>
        </p:nvSpPr>
        <p:spPr>
          <a:xfrm>
            <a:off x="2373220" y="797433"/>
            <a:ext cx="2004564" cy="2288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1566786" y="3224403"/>
            <a:ext cx="1474622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>
            <a:off x="230409" y="3224403"/>
            <a:ext cx="1059884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/17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530847" y="635889"/>
            <a:ext cx="3546500" cy="1476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1566786" y="3224403"/>
            <a:ext cx="1474622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230409" y="3224403"/>
            <a:ext cx="1059884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/17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ctrTitle"/>
          </p:nvPr>
        </p:nvSpPr>
        <p:spPr>
          <a:xfrm>
            <a:off x="345614" y="1074801"/>
            <a:ext cx="3916965" cy="72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691229" y="1941576"/>
            <a:ext cx="3225736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1566786" y="3224403"/>
            <a:ext cx="1474622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230409" y="3224403"/>
            <a:ext cx="1059884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/17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idx="11" type="ftr"/>
          </p:nvPr>
        </p:nvSpPr>
        <p:spPr>
          <a:xfrm>
            <a:off x="1566786" y="3224403"/>
            <a:ext cx="1474622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230409" y="3224403"/>
            <a:ext cx="1059884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/17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4608004" cy="3455989"/>
          </a:xfrm>
          <a:prstGeom prst="rect">
            <a:avLst/>
          </a:prstGeom>
          <a:blipFill rotWithShape="1">
            <a:blip r:embed="rId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530847" y="635889"/>
            <a:ext cx="3546500" cy="1476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1566786" y="3224403"/>
            <a:ext cx="1474622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>
            <a:off x="230409" y="3224403"/>
            <a:ext cx="1059884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/17</a:t>
            </a:r>
            <a:endParaRPr>
              <a:solidFill>
                <a:schemeClr val="dk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31.png"/><Relationship Id="rId5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Relationship Id="rId4" Type="http://schemas.openxmlformats.org/officeDocument/2006/relationships/image" Target="../media/image3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image" Target="../media/image3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Relationship Id="rId4" Type="http://schemas.openxmlformats.org/officeDocument/2006/relationships/image" Target="../media/image3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jpg"/><Relationship Id="rId4" Type="http://schemas.openxmlformats.org/officeDocument/2006/relationships/image" Target="../media/image3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jpg"/><Relationship Id="rId4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jpg"/><Relationship Id="rId4" Type="http://schemas.openxmlformats.org/officeDocument/2006/relationships/image" Target="../media/image2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png"/><Relationship Id="rId4" Type="http://schemas.openxmlformats.org/officeDocument/2006/relationships/image" Target="../media/image2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png"/><Relationship Id="rId4" Type="http://schemas.openxmlformats.org/officeDocument/2006/relationships/image" Target="../media/image25.png"/><Relationship Id="rId5" Type="http://schemas.openxmlformats.org/officeDocument/2006/relationships/image" Target="../media/image3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8.png"/><Relationship Id="rId4" Type="http://schemas.openxmlformats.org/officeDocument/2006/relationships/image" Target="../media/image37.png"/><Relationship Id="rId5" Type="http://schemas.openxmlformats.org/officeDocument/2006/relationships/image" Target="../media/image5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image" Target="../media/image7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image" Target="../media/image7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8.png"/><Relationship Id="rId4" Type="http://schemas.openxmlformats.org/officeDocument/2006/relationships/image" Target="../media/image4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8.png"/><Relationship Id="rId4" Type="http://schemas.openxmlformats.org/officeDocument/2006/relationships/image" Target="../media/image44.png"/><Relationship Id="rId5" Type="http://schemas.openxmlformats.org/officeDocument/2006/relationships/image" Target="../media/image4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8.png"/><Relationship Id="rId4" Type="http://schemas.openxmlformats.org/officeDocument/2006/relationships/image" Target="../media/image44.png"/><Relationship Id="rId5" Type="http://schemas.openxmlformats.org/officeDocument/2006/relationships/image" Target="../media/image47.png"/><Relationship Id="rId6" Type="http://schemas.openxmlformats.org/officeDocument/2006/relationships/image" Target="../media/image4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8.png"/><Relationship Id="rId4" Type="http://schemas.openxmlformats.org/officeDocument/2006/relationships/image" Target="../media/image44.png"/><Relationship Id="rId5" Type="http://schemas.openxmlformats.org/officeDocument/2006/relationships/image" Target="../media/image38.png"/><Relationship Id="rId6" Type="http://schemas.openxmlformats.org/officeDocument/2006/relationships/image" Target="../media/image5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8.png"/><Relationship Id="rId4" Type="http://schemas.openxmlformats.org/officeDocument/2006/relationships/image" Target="../media/image44.png"/><Relationship Id="rId5" Type="http://schemas.openxmlformats.org/officeDocument/2006/relationships/image" Target="../media/image38.png"/><Relationship Id="rId6" Type="http://schemas.openxmlformats.org/officeDocument/2006/relationships/image" Target="../media/image50.png"/><Relationship Id="rId7" Type="http://schemas.openxmlformats.org/officeDocument/2006/relationships/image" Target="../media/image4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5.png"/><Relationship Id="rId4" Type="http://schemas.openxmlformats.org/officeDocument/2006/relationships/image" Target="../media/image44.png"/><Relationship Id="rId5" Type="http://schemas.openxmlformats.org/officeDocument/2006/relationships/image" Target="../media/image53.png"/><Relationship Id="rId6" Type="http://schemas.openxmlformats.org/officeDocument/2006/relationships/image" Target="../media/image49.png"/><Relationship Id="rId7" Type="http://schemas.openxmlformats.org/officeDocument/2006/relationships/image" Target="../media/image5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78.png"/><Relationship Id="rId4" Type="http://schemas.openxmlformats.org/officeDocument/2006/relationships/image" Target="../media/image44.png"/><Relationship Id="rId5" Type="http://schemas.openxmlformats.org/officeDocument/2006/relationships/image" Target="../media/image59.png"/><Relationship Id="rId6" Type="http://schemas.openxmlformats.org/officeDocument/2006/relationships/image" Target="../media/image57.png"/><Relationship Id="rId7" Type="http://schemas.openxmlformats.org/officeDocument/2006/relationships/image" Target="../media/image6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3.png"/><Relationship Id="rId4" Type="http://schemas.openxmlformats.org/officeDocument/2006/relationships/image" Target="../media/image44.png"/><Relationship Id="rId5" Type="http://schemas.openxmlformats.org/officeDocument/2006/relationships/image" Target="../media/image81.png"/><Relationship Id="rId6" Type="http://schemas.openxmlformats.org/officeDocument/2006/relationships/image" Target="../media/image57.png"/><Relationship Id="rId7" Type="http://schemas.openxmlformats.org/officeDocument/2006/relationships/image" Target="../media/image6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8.png"/><Relationship Id="rId4" Type="http://schemas.openxmlformats.org/officeDocument/2006/relationships/image" Target="../media/image44.png"/><Relationship Id="rId5" Type="http://schemas.openxmlformats.org/officeDocument/2006/relationships/image" Target="../media/image81.png"/><Relationship Id="rId6" Type="http://schemas.openxmlformats.org/officeDocument/2006/relationships/image" Target="../media/image6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8.png"/><Relationship Id="rId4" Type="http://schemas.openxmlformats.org/officeDocument/2006/relationships/image" Target="../media/image44.png"/><Relationship Id="rId5" Type="http://schemas.openxmlformats.org/officeDocument/2006/relationships/image" Target="../media/image81.png"/><Relationship Id="rId6" Type="http://schemas.openxmlformats.org/officeDocument/2006/relationships/image" Target="../media/image6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8.png"/><Relationship Id="rId4" Type="http://schemas.openxmlformats.org/officeDocument/2006/relationships/image" Target="../media/image44.png"/><Relationship Id="rId5" Type="http://schemas.openxmlformats.org/officeDocument/2006/relationships/image" Target="../media/image81.png"/><Relationship Id="rId6" Type="http://schemas.openxmlformats.org/officeDocument/2006/relationships/image" Target="../media/image6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.jpg"/><Relationship Id="rId4" Type="http://schemas.openxmlformats.org/officeDocument/2006/relationships/image" Target="../media/image6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8.png"/><Relationship Id="rId4" Type="http://schemas.openxmlformats.org/officeDocument/2006/relationships/image" Target="../media/image44.png"/><Relationship Id="rId5" Type="http://schemas.openxmlformats.org/officeDocument/2006/relationships/image" Target="../media/image81.png"/><Relationship Id="rId6" Type="http://schemas.openxmlformats.org/officeDocument/2006/relationships/image" Target="../media/image6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66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66.jpg"/><Relationship Id="rId4" Type="http://schemas.openxmlformats.org/officeDocument/2006/relationships/image" Target="../media/image69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0.png"/><Relationship Id="rId4" Type="http://schemas.openxmlformats.org/officeDocument/2006/relationships/image" Target="../media/image72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4.png"/><Relationship Id="rId4" Type="http://schemas.openxmlformats.org/officeDocument/2006/relationships/image" Target="../media/image70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png"/><Relationship Id="rId4" Type="http://schemas.openxmlformats.org/officeDocument/2006/relationships/image" Target="../media/image77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76.png"/><Relationship Id="rId4" Type="http://schemas.openxmlformats.org/officeDocument/2006/relationships/image" Target="../media/image77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89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84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84.png"/><Relationship Id="rId6" Type="http://schemas.openxmlformats.org/officeDocument/2006/relationships/image" Target="../media/image107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84.png"/><Relationship Id="rId6" Type="http://schemas.openxmlformats.org/officeDocument/2006/relationships/image" Target="../media/image107.png"/><Relationship Id="rId7" Type="http://schemas.openxmlformats.org/officeDocument/2006/relationships/image" Target="../media/image80.png"/><Relationship Id="rId8" Type="http://schemas.openxmlformats.org/officeDocument/2006/relationships/image" Target="../media/image87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90.png"/><Relationship Id="rId4" Type="http://schemas.openxmlformats.org/officeDocument/2006/relationships/image" Target="../media/image84.png"/><Relationship Id="rId5" Type="http://schemas.openxmlformats.org/officeDocument/2006/relationships/image" Target="../media/image107.png"/><Relationship Id="rId6" Type="http://schemas.openxmlformats.org/officeDocument/2006/relationships/image" Target="../media/image80.png"/><Relationship Id="rId7" Type="http://schemas.openxmlformats.org/officeDocument/2006/relationships/image" Target="../media/image87.png"/><Relationship Id="rId8" Type="http://schemas.openxmlformats.org/officeDocument/2006/relationships/image" Target="../media/image85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90.png"/><Relationship Id="rId4" Type="http://schemas.openxmlformats.org/officeDocument/2006/relationships/image" Target="../media/image84.png"/><Relationship Id="rId9" Type="http://schemas.openxmlformats.org/officeDocument/2006/relationships/image" Target="../media/image88.png"/><Relationship Id="rId5" Type="http://schemas.openxmlformats.org/officeDocument/2006/relationships/image" Target="../media/image107.png"/><Relationship Id="rId6" Type="http://schemas.openxmlformats.org/officeDocument/2006/relationships/image" Target="../media/image80.png"/><Relationship Id="rId7" Type="http://schemas.openxmlformats.org/officeDocument/2006/relationships/image" Target="../media/image87.png"/><Relationship Id="rId8" Type="http://schemas.openxmlformats.org/officeDocument/2006/relationships/image" Target="../media/image85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90.png"/><Relationship Id="rId4" Type="http://schemas.openxmlformats.org/officeDocument/2006/relationships/image" Target="../media/image107.png"/><Relationship Id="rId9" Type="http://schemas.openxmlformats.org/officeDocument/2006/relationships/image" Target="../media/image86.png"/><Relationship Id="rId5" Type="http://schemas.openxmlformats.org/officeDocument/2006/relationships/image" Target="../media/image80.png"/><Relationship Id="rId6" Type="http://schemas.openxmlformats.org/officeDocument/2006/relationships/image" Target="../media/image87.png"/><Relationship Id="rId7" Type="http://schemas.openxmlformats.org/officeDocument/2006/relationships/image" Target="../media/image85.png"/><Relationship Id="rId8" Type="http://schemas.openxmlformats.org/officeDocument/2006/relationships/image" Target="../media/image88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90.png"/><Relationship Id="rId4" Type="http://schemas.openxmlformats.org/officeDocument/2006/relationships/image" Target="../media/image107.png"/><Relationship Id="rId9" Type="http://schemas.openxmlformats.org/officeDocument/2006/relationships/image" Target="../media/image95.png"/><Relationship Id="rId5" Type="http://schemas.openxmlformats.org/officeDocument/2006/relationships/image" Target="../media/image80.png"/><Relationship Id="rId6" Type="http://schemas.openxmlformats.org/officeDocument/2006/relationships/image" Target="../media/image87.png"/><Relationship Id="rId7" Type="http://schemas.openxmlformats.org/officeDocument/2006/relationships/image" Target="../media/image85.png"/><Relationship Id="rId8" Type="http://schemas.openxmlformats.org/officeDocument/2006/relationships/image" Target="../media/image88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90.png"/><Relationship Id="rId4" Type="http://schemas.openxmlformats.org/officeDocument/2006/relationships/image" Target="../media/image107.png"/><Relationship Id="rId9" Type="http://schemas.openxmlformats.org/officeDocument/2006/relationships/image" Target="../media/image92.png"/><Relationship Id="rId5" Type="http://schemas.openxmlformats.org/officeDocument/2006/relationships/image" Target="../media/image80.png"/><Relationship Id="rId6" Type="http://schemas.openxmlformats.org/officeDocument/2006/relationships/image" Target="../media/image87.png"/><Relationship Id="rId7" Type="http://schemas.openxmlformats.org/officeDocument/2006/relationships/image" Target="../media/image85.png"/><Relationship Id="rId8" Type="http://schemas.openxmlformats.org/officeDocument/2006/relationships/image" Target="../media/image88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90.png"/><Relationship Id="rId4" Type="http://schemas.openxmlformats.org/officeDocument/2006/relationships/image" Target="../media/image107.png"/><Relationship Id="rId9" Type="http://schemas.openxmlformats.org/officeDocument/2006/relationships/image" Target="../media/image91.png"/><Relationship Id="rId5" Type="http://schemas.openxmlformats.org/officeDocument/2006/relationships/image" Target="../media/image80.png"/><Relationship Id="rId6" Type="http://schemas.openxmlformats.org/officeDocument/2006/relationships/image" Target="../media/image87.png"/><Relationship Id="rId7" Type="http://schemas.openxmlformats.org/officeDocument/2006/relationships/image" Target="../media/image85.png"/><Relationship Id="rId8" Type="http://schemas.openxmlformats.org/officeDocument/2006/relationships/image" Target="../media/image88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99.png"/><Relationship Id="rId4" Type="http://schemas.openxmlformats.org/officeDocument/2006/relationships/image" Target="../media/image93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99.png"/><Relationship Id="rId4" Type="http://schemas.openxmlformats.org/officeDocument/2006/relationships/image" Target="../media/image94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99.png"/><Relationship Id="rId4" Type="http://schemas.openxmlformats.org/officeDocument/2006/relationships/image" Target="../media/image94.png"/><Relationship Id="rId5" Type="http://schemas.openxmlformats.org/officeDocument/2006/relationships/image" Target="../media/image97.png"/><Relationship Id="rId6" Type="http://schemas.openxmlformats.org/officeDocument/2006/relationships/image" Target="../media/image96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99.png"/><Relationship Id="rId4" Type="http://schemas.openxmlformats.org/officeDocument/2006/relationships/image" Target="../media/image94.png"/><Relationship Id="rId5" Type="http://schemas.openxmlformats.org/officeDocument/2006/relationships/image" Target="../media/image97.png"/><Relationship Id="rId6" Type="http://schemas.openxmlformats.org/officeDocument/2006/relationships/image" Target="../media/image98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6.jpg"/><Relationship Id="rId4" Type="http://schemas.openxmlformats.org/officeDocument/2006/relationships/image" Target="../media/image108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6.jpg"/><Relationship Id="rId4" Type="http://schemas.openxmlformats.org/officeDocument/2006/relationships/image" Target="../media/image102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6.jpg"/><Relationship Id="rId4" Type="http://schemas.openxmlformats.org/officeDocument/2006/relationships/image" Target="../media/image100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6.jpg"/><Relationship Id="rId4" Type="http://schemas.openxmlformats.org/officeDocument/2006/relationships/image" Target="../media/image101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6.jpg"/><Relationship Id="rId4" Type="http://schemas.openxmlformats.org/officeDocument/2006/relationships/image" Target="../media/image103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6.jpg"/><Relationship Id="rId4" Type="http://schemas.openxmlformats.org/officeDocument/2006/relationships/image" Target="../media/image103.png"/><Relationship Id="rId5" Type="http://schemas.openxmlformats.org/officeDocument/2006/relationships/image" Target="../media/image106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6.jpg"/><Relationship Id="rId4" Type="http://schemas.openxmlformats.org/officeDocument/2006/relationships/image" Target="../media/image103.png"/><Relationship Id="rId5" Type="http://schemas.openxmlformats.org/officeDocument/2006/relationships/image" Target="../media/image104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05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09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/>
        </p:nvSpPr>
        <p:spPr>
          <a:xfrm>
            <a:off x="165100" y="736668"/>
            <a:ext cx="4267200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12700" rtl="0" algn="l">
              <a:lnSpc>
                <a:spcPct val="106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Тема 4. Задачи классификации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7"/>
          <p:cNvSpPr/>
          <p:nvPr/>
        </p:nvSpPr>
        <p:spPr>
          <a:xfrm>
            <a:off x="417652" y="1257731"/>
            <a:ext cx="3798050" cy="0"/>
          </a:xfrm>
          <a:custGeom>
            <a:rect b="b" l="l" r="r" t="t"/>
            <a:pathLst>
              <a:path extrusionOk="0" h="120000" w="3798050">
                <a:moveTo>
                  <a:pt x="0" y="0"/>
                </a:moveTo>
                <a:lnTo>
                  <a:pt x="3798050" y="0"/>
                </a:lnTo>
              </a:path>
            </a:pathLst>
          </a:custGeom>
          <a:noFill/>
          <a:ln cap="flat" cmpd="sng" w="25300">
            <a:solidFill>
              <a:srgbClr val="FFD56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92302" y="281343"/>
            <a:ext cx="3823589" cy="385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Бинарная классификация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"/>
          <p:cNvSpPr/>
          <p:nvPr/>
        </p:nvSpPr>
        <p:spPr>
          <a:xfrm>
            <a:off x="393700" y="819150"/>
            <a:ext cx="1676400" cy="1371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8"/>
          <p:cNvSpPr txBox="1"/>
          <p:nvPr/>
        </p:nvSpPr>
        <p:spPr>
          <a:xfrm>
            <a:off x="631819" y="2385134"/>
            <a:ext cx="1200162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Кот или пес?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8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392302" y="281343"/>
            <a:ext cx="3823589" cy="385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Бинарная классификация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9"/>
          <p:cNvSpPr/>
          <p:nvPr/>
        </p:nvSpPr>
        <p:spPr>
          <a:xfrm>
            <a:off x="393700" y="819150"/>
            <a:ext cx="1676400" cy="1371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9"/>
          <p:cNvSpPr txBox="1"/>
          <p:nvPr/>
        </p:nvSpPr>
        <p:spPr>
          <a:xfrm>
            <a:off x="631819" y="2385134"/>
            <a:ext cx="1200162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Кот или пес?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9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12760" y="652463"/>
            <a:ext cx="2239412" cy="1538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80321" y="1348336"/>
            <a:ext cx="373315" cy="397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/>
          <p:nvPr>
            <p:ph type="title"/>
          </p:nvPr>
        </p:nvSpPr>
        <p:spPr>
          <a:xfrm>
            <a:off x="392302" y="281343"/>
            <a:ext cx="3823589" cy="385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Бинарная классификация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241300" y="819150"/>
            <a:ext cx="1676400" cy="1371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0"/>
          <p:cNvSpPr txBox="1"/>
          <p:nvPr/>
        </p:nvSpPr>
        <p:spPr>
          <a:xfrm>
            <a:off x="631819" y="2385134"/>
            <a:ext cx="1200162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Кот или пес?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0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2197" y="846992"/>
            <a:ext cx="2307336" cy="1556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34019" y="1253482"/>
            <a:ext cx="1003300" cy="371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14471" y="2190750"/>
            <a:ext cx="98654" cy="106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Сигмоида: производная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1"/>
          <p:cNvSpPr txBox="1"/>
          <p:nvPr/>
        </p:nvSpPr>
        <p:spPr>
          <a:xfrm>
            <a:off x="392302" y="633360"/>
            <a:ext cx="3959416" cy="327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активации – сигмоида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1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2961" y="960458"/>
            <a:ext cx="1595438" cy="654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77705" y="1333413"/>
            <a:ext cx="88525" cy="95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56365" y="1228640"/>
            <a:ext cx="123825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2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Сигмоида: производная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2"/>
          <p:cNvSpPr txBox="1"/>
          <p:nvPr/>
        </p:nvSpPr>
        <p:spPr>
          <a:xfrm>
            <a:off x="392302" y="633360"/>
            <a:ext cx="3959416" cy="327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активации – сигмоида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2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9500" y="999838"/>
            <a:ext cx="2081811" cy="1114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Сигмоида: производная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392302" y="633360"/>
            <a:ext cx="3959416" cy="327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активации – сигмоида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900" y="988299"/>
            <a:ext cx="4435196" cy="962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 txBox="1"/>
          <p:nvPr>
            <p:ph type="title"/>
          </p:nvPr>
        </p:nvSpPr>
        <p:spPr>
          <a:xfrm>
            <a:off x="165100" y="281343"/>
            <a:ext cx="4288536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Сигмоида: какую функцию потерь выбрать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392302" y="633360"/>
            <a:ext cx="3959416" cy="327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активации – сигмоида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302" y="1044829"/>
            <a:ext cx="3354198" cy="10998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 txBox="1"/>
          <p:nvPr>
            <p:ph type="title"/>
          </p:nvPr>
        </p:nvSpPr>
        <p:spPr>
          <a:xfrm>
            <a:off x="165100" y="281343"/>
            <a:ext cx="4288536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Сигмоида: какую функцию потерь выбрать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392302" y="633360"/>
            <a:ext cx="3959416" cy="327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активации – сигмоида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279" y="1047750"/>
            <a:ext cx="3305487" cy="1174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/>
          <p:nvPr>
            <p:ph type="title"/>
          </p:nvPr>
        </p:nvSpPr>
        <p:spPr>
          <a:xfrm>
            <a:off x="165100" y="281343"/>
            <a:ext cx="4288536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Сигмоида: какую функцию потерь выбрать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392302" y="633360"/>
            <a:ext cx="3959416" cy="327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активации – сигмоида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900" y="910005"/>
            <a:ext cx="2835098" cy="1415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 txBox="1"/>
          <p:nvPr>
            <p:ph type="title"/>
          </p:nvPr>
        </p:nvSpPr>
        <p:spPr>
          <a:xfrm>
            <a:off x="165100" y="281343"/>
            <a:ext cx="4288536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Сигмоида: какую функцию потерь выбрать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392302" y="633360"/>
            <a:ext cx="3959416" cy="327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активации – сигмоида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900" y="928220"/>
            <a:ext cx="2850240" cy="1412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>
            <p:ph type="title"/>
          </p:nvPr>
        </p:nvSpPr>
        <p:spPr>
          <a:xfrm>
            <a:off x="165100" y="281343"/>
            <a:ext cx="4288536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Сигмоида: какую функцию потерь выбрать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392302" y="633360"/>
            <a:ext cx="3959416" cy="327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активации – сигмоида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365" y="994161"/>
            <a:ext cx="4028721" cy="1235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/>
          <p:nvPr>
            <p:ph type="title"/>
          </p:nvPr>
        </p:nvSpPr>
        <p:spPr>
          <a:xfrm>
            <a:off x="165100" y="281343"/>
            <a:ext cx="4288536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Сигмоида: какую функцию потерь выбрать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392302" y="633360"/>
            <a:ext cx="3959416" cy="327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активации – сигмоида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28" y="970715"/>
            <a:ext cx="4343400" cy="1411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/>
          <p:nvPr>
            <p:ph type="title"/>
          </p:nvPr>
        </p:nvSpPr>
        <p:spPr>
          <a:xfrm>
            <a:off x="165100" y="281343"/>
            <a:ext cx="4288536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Сигмоида: какую функцию потерь выбрать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0"/>
          <p:cNvSpPr txBox="1"/>
          <p:nvPr/>
        </p:nvSpPr>
        <p:spPr>
          <a:xfrm>
            <a:off x="392302" y="633360"/>
            <a:ext cx="3959416" cy="327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активации – сигмоида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411596" y="1309941"/>
            <a:ext cx="3857499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потерь – бинарная кросс энтропия</a:t>
            </a:r>
            <a:endParaRPr/>
          </a:p>
        </p:txBody>
      </p:sp>
      <p:pic>
        <p:nvPicPr>
          <p:cNvPr id="161" name="Google Shape;16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204" y="895350"/>
            <a:ext cx="2355850" cy="377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283" y="1657118"/>
            <a:ext cx="1072417" cy="29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>
            <p:ph type="title"/>
          </p:nvPr>
        </p:nvSpPr>
        <p:spPr>
          <a:xfrm>
            <a:off x="165100" y="281343"/>
            <a:ext cx="4288536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Сигмоида: какую функцию потерь выбрать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1"/>
          <p:cNvSpPr txBox="1"/>
          <p:nvPr/>
        </p:nvSpPr>
        <p:spPr>
          <a:xfrm>
            <a:off x="392302" y="633360"/>
            <a:ext cx="3959416" cy="327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активации – сигмоида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1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411596" y="1309941"/>
            <a:ext cx="3857499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потерь – бинарная кросс энтропия</a:t>
            </a:r>
            <a:endParaRPr/>
          </a:p>
        </p:txBody>
      </p:sp>
      <p:pic>
        <p:nvPicPr>
          <p:cNvPr id="171" name="Google Shape;17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204" y="895350"/>
            <a:ext cx="2355850" cy="377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204" y="1581150"/>
            <a:ext cx="2615341" cy="316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 txBox="1"/>
          <p:nvPr>
            <p:ph type="title"/>
          </p:nvPr>
        </p:nvSpPr>
        <p:spPr>
          <a:xfrm>
            <a:off x="165100" y="281343"/>
            <a:ext cx="4288536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Сигмоида: какую функцию потерь выбрать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2"/>
          <p:cNvSpPr txBox="1"/>
          <p:nvPr/>
        </p:nvSpPr>
        <p:spPr>
          <a:xfrm>
            <a:off x="392302" y="633360"/>
            <a:ext cx="3959416" cy="327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активации – сигмоида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2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2"/>
          <p:cNvSpPr txBox="1"/>
          <p:nvPr/>
        </p:nvSpPr>
        <p:spPr>
          <a:xfrm>
            <a:off x="411596" y="1309941"/>
            <a:ext cx="3857499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потерь – бинарная кросс энтропия</a:t>
            </a:r>
            <a:endParaRPr/>
          </a:p>
        </p:txBody>
      </p:sp>
      <p:pic>
        <p:nvPicPr>
          <p:cNvPr id="181" name="Google Shape;18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204" y="895350"/>
            <a:ext cx="2355850" cy="377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204" y="1581150"/>
            <a:ext cx="3787303" cy="333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/>
          <p:nvPr>
            <p:ph type="title"/>
          </p:nvPr>
        </p:nvSpPr>
        <p:spPr>
          <a:xfrm>
            <a:off x="165100" y="281343"/>
            <a:ext cx="4288536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Сигмоида: какую функцию потерь выбрать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3"/>
          <p:cNvSpPr txBox="1"/>
          <p:nvPr/>
        </p:nvSpPr>
        <p:spPr>
          <a:xfrm>
            <a:off x="392302" y="633360"/>
            <a:ext cx="3959416" cy="327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активации – сигмоида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3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3"/>
          <p:cNvSpPr txBox="1"/>
          <p:nvPr/>
        </p:nvSpPr>
        <p:spPr>
          <a:xfrm>
            <a:off x="411596" y="1309941"/>
            <a:ext cx="3857499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потерь – бинарная кросс энтропия</a:t>
            </a:r>
            <a:endParaRPr/>
          </a:p>
        </p:txBody>
      </p:sp>
      <p:pic>
        <p:nvPicPr>
          <p:cNvPr id="191" name="Google Shape;19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204" y="895350"/>
            <a:ext cx="2355850" cy="377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684" y="1581150"/>
            <a:ext cx="3796661" cy="74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 txBox="1"/>
          <p:nvPr>
            <p:ph type="title"/>
          </p:nvPr>
        </p:nvSpPr>
        <p:spPr>
          <a:xfrm>
            <a:off x="165100" y="281343"/>
            <a:ext cx="4288536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Сигмоида: какую функцию потерь выбрать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4"/>
          <p:cNvSpPr txBox="1"/>
          <p:nvPr/>
        </p:nvSpPr>
        <p:spPr>
          <a:xfrm>
            <a:off x="392302" y="633360"/>
            <a:ext cx="3959416" cy="327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активации – сигмоида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4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4"/>
          <p:cNvSpPr txBox="1"/>
          <p:nvPr/>
        </p:nvSpPr>
        <p:spPr>
          <a:xfrm>
            <a:off x="411596" y="1309941"/>
            <a:ext cx="3857499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потерь – бинарная кросс энтропия</a:t>
            </a:r>
            <a:endParaRPr/>
          </a:p>
        </p:txBody>
      </p:sp>
      <p:pic>
        <p:nvPicPr>
          <p:cNvPr id="201" name="Google Shape;20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204" y="895350"/>
            <a:ext cx="2355850" cy="377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530" y="1581150"/>
            <a:ext cx="3806802" cy="790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 txBox="1"/>
          <p:nvPr>
            <p:ph type="title"/>
          </p:nvPr>
        </p:nvSpPr>
        <p:spPr>
          <a:xfrm>
            <a:off x="165100" y="281343"/>
            <a:ext cx="4288536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Сигмоида: какую функцию потерь выбрать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5"/>
          <p:cNvSpPr txBox="1"/>
          <p:nvPr/>
        </p:nvSpPr>
        <p:spPr>
          <a:xfrm>
            <a:off x="392302" y="633360"/>
            <a:ext cx="3959416" cy="327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активации – сигмоида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5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5"/>
          <p:cNvSpPr txBox="1"/>
          <p:nvPr/>
        </p:nvSpPr>
        <p:spPr>
          <a:xfrm>
            <a:off x="411596" y="1309941"/>
            <a:ext cx="3857499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потерь – бинарная кросс энтропия</a:t>
            </a:r>
            <a:endParaRPr/>
          </a:p>
        </p:txBody>
      </p:sp>
      <p:pic>
        <p:nvPicPr>
          <p:cNvPr id="211" name="Google Shape;21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204" y="895350"/>
            <a:ext cx="2355850" cy="377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273" y="1581150"/>
            <a:ext cx="3810144" cy="783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/>
          <p:nvPr>
            <p:ph type="title"/>
          </p:nvPr>
        </p:nvSpPr>
        <p:spPr>
          <a:xfrm>
            <a:off x="165100" y="281343"/>
            <a:ext cx="4288536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Сигмоида: какую функцию потерь выбрать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 txBox="1"/>
          <p:nvPr/>
        </p:nvSpPr>
        <p:spPr>
          <a:xfrm>
            <a:off x="392302" y="633360"/>
            <a:ext cx="3959416" cy="327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активации – сигмоида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6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6"/>
          <p:cNvSpPr txBox="1"/>
          <p:nvPr/>
        </p:nvSpPr>
        <p:spPr>
          <a:xfrm>
            <a:off x="411596" y="1309941"/>
            <a:ext cx="3857499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потерь – бинарная кросс энтропия</a:t>
            </a:r>
            <a:endParaRPr/>
          </a:p>
        </p:txBody>
      </p:sp>
      <p:pic>
        <p:nvPicPr>
          <p:cNvPr id="221" name="Google Shape;22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204" y="895350"/>
            <a:ext cx="2355850" cy="377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3100" y="1568747"/>
            <a:ext cx="4162127" cy="755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7"/>
          <p:cNvSpPr txBox="1"/>
          <p:nvPr>
            <p:ph type="title"/>
          </p:nvPr>
        </p:nvSpPr>
        <p:spPr>
          <a:xfrm>
            <a:off x="165100" y="281343"/>
            <a:ext cx="4288536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Сигмоида: какую функцию потерь выбрать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7"/>
          <p:cNvSpPr txBox="1"/>
          <p:nvPr/>
        </p:nvSpPr>
        <p:spPr>
          <a:xfrm>
            <a:off x="392302" y="633360"/>
            <a:ext cx="3959416" cy="327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активации – сигмоида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7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7"/>
          <p:cNvSpPr txBox="1"/>
          <p:nvPr/>
        </p:nvSpPr>
        <p:spPr>
          <a:xfrm>
            <a:off x="411596" y="1309941"/>
            <a:ext cx="3857499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потерь – бинарная кросс энтропия</a:t>
            </a:r>
            <a:endParaRPr/>
          </a:p>
        </p:txBody>
      </p:sp>
      <p:pic>
        <p:nvPicPr>
          <p:cNvPr id="231" name="Google Shape;23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204" y="895350"/>
            <a:ext cx="2355850" cy="377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345" y="1581150"/>
            <a:ext cx="4443999" cy="697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8"/>
          <p:cNvSpPr/>
          <p:nvPr/>
        </p:nvSpPr>
        <p:spPr>
          <a:xfrm>
            <a:off x="1341360" y="742950"/>
            <a:ext cx="1863282" cy="1447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8"/>
          <p:cNvSpPr txBox="1"/>
          <p:nvPr/>
        </p:nvSpPr>
        <p:spPr>
          <a:xfrm>
            <a:off x="194284" y="2274503"/>
            <a:ext cx="4157434" cy="537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12700" rtl="0" algn="ctr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Кот, пес, велосипед или автомобиль?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080" marR="0" rtl="0" algn="ctr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(верно только одно)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8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8"/>
          <p:cNvSpPr txBox="1"/>
          <p:nvPr>
            <p:ph type="title"/>
          </p:nvPr>
        </p:nvSpPr>
        <p:spPr>
          <a:xfrm>
            <a:off x="387073" y="209550"/>
            <a:ext cx="3959416" cy="309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Многоклассовая классификация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194284" y="742950"/>
            <a:ext cx="1863282" cy="1447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9"/>
          <p:cNvSpPr txBox="1"/>
          <p:nvPr/>
        </p:nvSpPr>
        <p:spPr>
          <a:xfrm>
            <a:off x="194284" y="2274503"/>
            <a:ext cx="1863282" cy="678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12700" rtl="0" algn="ctr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Кот, пес, велосипед или автомобиль?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080" marR="0" rtl="0" algn="ctr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(верно только одно)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9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9"/>
          <p:cNvSpPr txBox="1"/>
          <p:nvPr>
            <p:ph type="title"/>
          </p:nvPr>
        </p:nvSpPr>
        <p:spPr>
          <a:xfrm>
            <a:off x="387073" y="209550"/>
            <a:ext cx="3959416" cy="309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Многоклассовая классификация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9" name="Google Shape;24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56365" y="990082"/>
            <a:ext cx="1666335" cy="1093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0"/>
          <p:cNvSpPr/>
          <p:nvPr/>
        </p:nvSpPr>
        <p:spPr>
          <a:xfrm>
            <a:off x="194284" y="742950"/>
            <a:ext cx="1863282" cy="1447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0"/>
          <p:cNvSpPr txBox="1"/>
          <p:nvPr/>
        </p:nvSpPr>
        <p:spPr>
          <a:xfrm>
            <a:off x="194284" y="2274503"/>
            <a:ext cx="1863282" cy="678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12700" rtl="0" algn="ctr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Кот, пес, велосипед или автомобиль?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080" marR="0" rtl="0" algn="ctr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(верно только одно)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0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0"/>
          <p:cNvSpPr txBox="1"/>
          <p:nvPr>
            <p:ph type="title"/>
          </p:nvPr>
        </p:nvSpPr>
        <p:spPr>
          <a:xfrm>
            <a:off x="387073" y="209550"/>
            <a:ext cx="3959416" cy="309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Многоклассовая классификация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8" name="Google Shape;25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56365" y="895350"/>
            <a:ext cx="2093436" cy="10334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1"/>
          <p:cNvSpPr/>
          <p:nvPr/>
        </p:nvSpPr>
        <p:spPr>
          <a:xfrm>
            <a:off x="88900" y="971550"/>
            <a:ext cx="1571016" cy="1219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1"/>
          <p:cNvSpPr txBox="1"/>
          <p:nvPr/>
        </p:nvSpPr>
        <p:spPr>
          <a:xfrm>
            <a:off x="65741" y="2274502"/>
            <a:ext cx="1594175" cy="678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12700" rtl="0" algn="ctr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Кот, пес, велосипед или автомобиль?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080" marR="0" rtl="0" algn="ctr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(верно только одно)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1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1"/>
          <p:cNvSpPr txBox="1"/>
          <p:nvPr>
            <p:ph type="title"/>
          </p:nvPr>
        </p:nvSpPr>
        <p:spPr>
          <a:xfrm>
            <a:off x="387073" y="209550"/>
            <a:ext cx="3959416" cy="309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Многоклассовая классификация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3537" y="1047750"/>
            <a:ext cx="2822696" cy="1100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Софтмакс и кросс энтропия</a:t>
            </a:r>
            <a:endParaRPr/>
          </a:p>
        </p:txBody>
      </p:sp>
      <p:sp>
        <p:nvSpPr>
          <p:cNvPr id="273" name="Google Shape;273;p32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2"/>
          <p:cNvSpPr txBox="1"/>
          <p:nvPr/>
        </p:nvSpPr>
        <p:spPr>
          <a:xfrm>
            <a:off x="469900" y="645863"/>
            <a:ext cx="2743200" cy="226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«Функция активации» – софтмакс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3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Софтмакс и кросс энтропия</a:t>
            </a:r>
            <a:endParaRPr/>
          </a:p>
        </p:txBody>
      </p:sp>
      <p:sp>
        <p:nvSpPr>
          <p:cNvPr id="280" name="Google Shape;280;p33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3"/>
          <p:cNvSpPr txBox="1"/>
          <p:nvPr/>
        </p:nvSpPr>
        <p:spPr>
          <a:xfrm>
            <a:off x="469900" y="645863"/>
            <a:ext cx="2743200" cy="226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«Функция активации» – софтмакс</a:t>
            </a:r>
            <a:endParaRPr/>
          </a:p>
        </p:txBody>
      </p:sp>
      <p:pic>
        <p:nvPicPr>
          <p:cNvPr id="282" name="Google Shape;28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635" y="983876"/>
            <a:ext cx="1890713" cy="804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4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Софтмакс и кросс энтропия</a:t>
            </a:r>
            <a:endParaRPr/>
          </a:p>
        </p:txBody>
      </p:sp>
      <p:sp>
        <p:nvSpPr>
          <p:cNvPr id="288" name="Google Shape;288;p34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4"/>
          <p:cNvSpPr txBox="1"/>
          <p:nvPr/>
        </p:nvSpPr>
        <p:spPr>
          <a:xfrm>
            <a:off x="469900" y="645863"/>
            <a:ext cx="2743200" cy="226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«Функция активации» – софтмакс</a:t>
            </a:r>
            <a:endParaRPr/>
          </a:p>
        </p:txBody>
      </p:sp>
      <p:pic>
        <p:nvPicPr>
          <p:cNvPr id="290" name="Google Shape;29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188" y="872380"/>
            <a:ext cx="3334575" cy="7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5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Софтмакс и кросс энтропия</a:t>
            </a:r>
            <a:endParaRPr/>
          </a:p>
        </p:txBody>
      </p:sp>
      <p:sp>
        <p:nvSpPr>
          <p:cNvPr id="296" name="Google Shape;296;p35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5"/>
          <p:cNvSpPr txBox="1"/>
          <p:nvPr/>
        </p:nvSpPr>
        <p:spPr>
          <a:xfrm>
            <a:off x="469900" y="645863"/>
            <a:ext cx="2743200" cy="226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«Функция активации» – софтмакс</a:t>
            </a:r>
            <a:endParaRPr/>
          </a:p>
        </p:txBody>
      </p:sp>
      <p:pic>
        <p:nvPicPr>
          <p:cNvPr id="298" name="Google Shape;29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771" y="963707"/>
            <a:ext cx="4155865" cy="686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6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Софтмакс и кросс энтропия</a:t>
            </a:r>
            <a:endParaRPr/>
          </a:p>
        </p:txBody>
      </p:sp>
      <p:sp>
        <p:nvSpPr>
          <p:cNvPr id="304" name="Google Shape;304;p36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6"/>
          <p:cNvSpPr txBox="1"/>
          <p:nvPr/>
        </p:nvSpPr>
        <p:spPr>
          <a:xfrm>
            <a:off x="469900" y="645863"/>
            <a:ext cx="2743200" cy="226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«Функция активации» – софтмакс</a:t>
            </a:r>
            <a:endParaRPr/>
          </a:p>
        </p:txBody>
      </p:sp>
      <p:pic>
        <p:nvPicPr>
          <p:cNvPr id="306" name="Google Shape;30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771" y="963707"/>
            <a:ext cx="4155865" cy="686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7771" y="1733550"/>
            <a:ext cx="777090" cy="692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7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Софтмакс и кросс энтропия</a:t>
            </a:r>
            <a:endParaRPr/>
          </a:p>
        </p:txBody>
      </p:sp>
      <p:sp>
        <p:nvSpPr>
          <p:cNvPr id="313" name="Google Shape;313;p37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7"/>
          <p:cNvSpPr txBox="1"/>
          <p:nvPr/>
        </p:nvSpPr>
        <p:spPr>
          <a:xfrm>
            <a:off x="469900" y="645863"/>
            <a:ext cx="2743200" cy="226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«Функция активации» – софтмакс</a:t>
            </a:r>
            <a:endParaRPr/>
          </a:p>
        </p:txBody>
      </p:sp>
      <p:pic>
        <p:nvPicPr>
          <p:cNvPr id="315" name="Google Shape;31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771" y="963707"/>
            <a:ext cx="4155865" cy="686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7771" y="1733550"/>
            <a:ext cx="777090" cy="692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396" y="459084"/>
            <a:ext cx="1033240" cy="413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8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Софтмакс и кросс энтропия</a:t>
            </a:r>
            <a:endParaRPr/>
          </a:p>
        </p:txBody>
      </p:sp>
      <p:sp>
        <p:nvSpPr>
          <p:cNvPr id="323" name="Google Shape;323;p38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8"/>
          <p:cNvSpPr txBox="1"/>
          <p:nvPr/>
        </p:nvSpPr>
        <p:spPr>
          <a:xfrm>
            <a:off x="469900" y="645863"/>
            <a:ext cx="2743200" cy="226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«Функция активации» – софтмакс</a:t>
            </a:r>
            <a:endParaRPr/>
          </a:p>
        </p:txBody>
      </p:sp>
      <p:pic>
        <p:nvPicPr>
          <p:cNvPr id="325" name="Google Shape;32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771" y="963707"/>
            <a:ext cx="4155865" cy="686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0396" y="459084"/>
            <a:ext cx="1033240" cy="413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7771" y="1728381"/>
            <a:ext cx="1485900" cy="695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9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Софтмакс и кросс энтропия</a:t>
            </a:r>
            <a:endParaRPr/>
          </a:p>
        </p:txBody>
      </p:sp>
      <p:sp>
        <p:nvSpPr>
          <p:cNvPr id="333" name="Google Shape;333;p39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9"/>
          <p:cNvSpPr txBox="1"/>
          <p:nvPr/>
        </p:nvSpPr>
        <p:spPr>
          <a:xfrm>
            <a:off x="469900" y="645863"/>
            <a:ext cx="2743200" cy="226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«Функция активации» – софтмакс</a:t>
            </a:r>
            <a:endParaRPr/>
          </a:p>
        </p:txBody>
      </p:sp>
      <p:pic>
        <p:nvPicPr>
          <p:cNvPr id="335" name="Google Shape;33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771" y="963707"/>
            <a:ext cx="4155865" cy="686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0396" y="459084"/>
            <a:ext cx="1033240" cy="413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7771" y="1733550"/>
            <a:ext cx="2432050" cy="703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Софтмакс и кросс энтропия</a:t>
            </a:r>
            <a:endParaRPr/>
          </a:p>
        </p:txBody>
      </p:sp>
      <p:sp>
        <p:nvSpPr>
          <p:cNvPr id="343" name="Google Shape;343;p40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34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40"/>
          <p:cNvSpPr txBox="1"/>
          <p:nvPr/>
        </p:nvSpPr>
        <p:spPr>
          <a:xfrm>
            <a:off x="469900" y="645863"/>
            <a:ext cx="2743200" cy="226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«Функция активации» – софтмакс</a:t>
            </a:r>
            <a:endParaRPr/>
          </a:p>
        </p:txBody>
      </p:sp>
      <p:pic>
        <p:nvPicPr>
          <p:cNvPr id="345" name="Google Shape;34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772" y="963707"/>
            <a:ext cx="3829728" cy="541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0396" y="459084"/>
            <a:ext cx="1033240" cy="413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4612" y="1581150"/>
            <a:ext cx="2328888" cy="673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4612" y="2343150"/>
            <a:ext cx="586753" cy="60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1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Софтмакс и кросс энтропия</a:t>
            </a:r>
            <a:endParaRPr/>
          </a:p>
        </p:txBody>
      </p:sp>
      <p:sp>
        <p:nvSpPr>
          <p:cNvPr id="354" name="Google Shape;354;p41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41"/>
          <p:cNvSpPr txBox="1"/>
          <p:nvPr/>
        </p:nvSpPr>
        <p:spPr>
          <a:xfrm>
            <a:off x="469900" y="645863"/>
            <a:ext cx="2743200" cy="226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«Функция активации» – софтмакс</a:t>
            </a:r>
            <a:endParaRPr/>
          </a:p>
        </p:txBody>
      </p:sp>
      <p:pic>
        <p:nvPicPr>
          <p:cNvPr id="356" name="Google Shape;35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772" y="963707"/>
            <a:ext cx="3829728" cy="541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0396" y="459084"/>
            <a:ext cx="1033240" cy="413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4612" y="1581150"/>
            <a:ext cx="2328888" cy="673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4612" y="2321261"/>
            <a:ext cx="2133600" cy="872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2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Софтмакс и кросс энтропия</a:t>
            </a:r>
            <a:endParaRPr/>
          </a:p>
        </p:txBody>
      </p:sp>
      <p:sp>
        <p:nvSpPr>
          <p:cNvPr id="365" name="Google Shape;365;p42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36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42"/>
          <p:cNvSpPr txBox="1"/>
          <p:nvPr/>
        </p:nvSpPr>
        <p:spPr>
          <a:xfrm>
            <a:off x="469900" y="645863"/>
            <a:ext cx="2743200" cy="226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«Функция активации» – софтмакс</a:t>
            </a:r>
            <a:endParaRPr/>
          </a:p>
        </p:txBody>
      </p:sp>
      <p:pic>
        <p:nvPicPr>
          <p:cNvPr id="367" name="Google Shape;36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772" y="963707"/>
            <a:ext cx="3829728" cy="541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0396" y="459084"/>
            <a:ext cx="1033240" cy="413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4612" y="1581150"/>
            <a:ext cx="2328888" cy="673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7773" y="2347956"/>
            <a:ext cx="2915328" cy="873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3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Софтмакс и кросс энтропия</a:t>
            </a:r>
            <a:endParaRPr/>
          </a:p>
        </p:txBody>
      </p:sp>
      <p:sp>
        <p:nvSpPr>
          <p:cNvPr id="376" name="Google Shape;376;p43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43"/>
          <p:cNvSpPr txBox="1"/>
          <p:nvPr/>
        </p:nvSpPr>
        <p:spPr>
          <a:xfrm>
            <a:off x="469900" y="645863"/>
            <a:ext cx="2743200" cy="226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«Функция активации» – софтмакс</a:t>
            </a:r>
            <a:endParaRPr/>
          </a:p>
        </p:txBody>
      </p:sp>
      <p:pic>
        <p:nvPicPr>
          <p:cNvPr id="378" name="Google Shape;37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302" y="884707"/>
            <a:ext cx="2820798" cy="391644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43"/>
          <p:cNvSpPr txBox="1"/>
          <p:nvPr/>
        </p:nvSpPr>
        <p:spPr>
          <a:xfrm>
            <a:off x="392302" y="1352550"/>
            <a:ext cx="3735198" cy="17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потерь – кросс энтропия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4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Софтмакс и кросс энтропия</a:t>
            </a:r>
            <a:endParaRPr/>
          </a:p>
        </p:txBody>
      </p:sp>
      <p:sp>
        <p:nvSpPr>
          <p:cNvPr id="385" name="Google Shape;385;p44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38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44"/>
          <p:cNvSpPr txBox="1"/>
          <p:nvPr/>
        </p:nvSpPr>
        <p:spPr>
          <a:xfrm>
            <a:off x="469900" y="645863"/>
            <a:ext cx="2743200" cy="226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«Функция активации» – софтмакс</a:t>
            </a:r>
            <a:endParaRPr/>
          </a:p>
        </p:txBody>
      </p:sp>
      <p:pic>
        <p:nvPicPr>
          <p:cNvPr id="387" name="Google Shape;38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302" y="884707"/>
            <a:ext cx="2820798" cy="391644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4"/>
          <p:cNvSpPr txBox="1"/>
          <p:nvPr/>
        </p:nvSpPr>
        <p:spPr>
          <a:xfrm>
            <a:off x="392302" y="1352550"/>
            <a:ext cx="3735198" cy="17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потерь – кросс энтропия</a:t>
            </a:r>
            <a:endParaRPr/>
          </a:p>
        </p:txBody>
      </p:sp>
      <p:pic>
        <p:nvPicPr>
          <p:cNvPr id="389" name="Google Shape;389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901" y="1712397"/>
            <a:ext cx="2819400" cy="618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5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Софтмакс и кросс энтропия</a:t>
            </a:r>
            <a:endParaRPr/>
          </a:p>
        </p:txBody>
      </p:sp>
      <p:sp>
        <p:nvSpPr>
          <p:cNvPr id="395" name="Google Shape;395;p45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39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45"/>
          <p:cNvSpPr txBox="1"/>
          <p:nvPr/>
        </p:nvSpPr>
        <p:spPr>
          <a:xfrm>
            <a:off x="469900" y="645863"/>
            <a:ext cx="2743200" cy="226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«Функция активации» – софтмакс</a:t>
            </a:r>
            <a:endParaRPr/>
          </a:p>
        </p:txBody>
      </p:sp>
      <p:pic>
        <p:nvPicPr>
          <p:cNvPr id="397" name="Google Shape;39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302" y="884707"/>
            <a:ext cx="2820798" cy="391644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45"/>
          <p:cNvSpPr txBox="1"/>
          <p:nvPr/>
        </p:nvSpPr>
        <p:spPr>
          <a:xfrm>
            <a:off x="392302" y="1352550"/>
            <a:ext cx="3735198" cy="17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потерь – кросс энтропия</a:t>
            </a:r>
            <a:endParaRPr/>
          </a:p>
        </p:txBody>
      </p:sp>
      <p:pic>
        <p:nvPicPr>
          <p:cNvPr id="399" name="Google Shape;399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002" y="1657350"/>
            <a:ext cx="2438400" cy="535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5002" y="2266950"/>
            <a:ext cx="598298" cy="572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6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Софтмакс и кросс энтропия</a:t>
            </a:r>
            <a:endParaRPr/>
          </a:p>
        </p:txBody>
      </p:sp>
      <p:sp>
        <p:nvSpPr>
          <p:cNvPr id="406" name="Google Shape;406;p46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46"/>
          <p:cNvSpPr txBox="1"/>
          <p:nvPr/>
        </p:nvSpPr>
        <p:spPr>
          <a:xfrm>
            <a:off x="469900" y="645863"/>
            <a:ext cx="2743200" cy="226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«Функция активации» – софтмакс</a:t>
            </a:r>
            <a:endParaRPr/>
          </a:p>
        </p:txBody>
      </p:sp>
      <p:pic>
        <p:nvPicPr>
          <p:cNvPr id="408" name="Google Shape;40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302" y="884707"/>
            <a:ext cx="2820798" cy="391644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46"/>
          <p:cNvSpPr txBox="1"/>
          <p:nvPr/>
        </p:nvSpPr>
        <p:spPr>
          <a:xfrm>
            <a:off x="392302" y="1352550"/>
            <a:ext cx="3735198" cy="17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потерь – кросс энтропия</a:t>
            </a:r>
            <a:endParaRPr/>
          </a:p>
        </p:txBody>
      </p:sp>
      <p:pic>
        <p:nvPicPr>
          <p:cNvPr id="410" name="Google Shape;410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002" y="1657350"/>
            <a:ext cx="2438400" cy="535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5002" y="2266950"/>
            <a:ext cx="598298" cy="572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46300" y="2343150"/>
            <a:ext cx="1914623" cy="572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7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Софтмакс и кросс энтропия</a:t>
            </a:r>
            <a:endParaRPr/>
          </a:p>
        </p:txBody>
      </p:sp>
      <p:sp>
        <p:nvSpPr>
          <p:cNvPr id="418" name="Google Shape;418;p47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41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47"/>
          <p:cNvSpPr txBox="1"/>
          <p:nvPr/>
        </p:nvSpPr>
        <p:spPr>
          <a:xfrm>
            <a:off x="469900" y="645863"/>
            <a:ext cx="2743200" cy="226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«Функция активации» – софтмакс</a:t>
            </a:r>
            <a:endParaRPr/>
          </a:p>
        </p:txBody>
      </p:sp>
      <p:pic>
        <p:nvPicPr>
          <p:cNvPr id="420" name="Google Shape;42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302" y="884707"/>
            <a:ext cx="2820798" cy="391644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47"/>
          <p:cNvSpPr txBox="1"/>
          <p:nvPr/>
        </p:nvSpPr>
        <p:spPr>
          <a:xfrm>
            <a:off x="392302" y="1352550"/>
            <a:ext cx="3735198" cy="17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потерь – кросс энтропия</a:t>
            </a:r>
            <a:endParaRPr/>
          </a:p>
        </p:txBody>
      </p:sp>
      <p:pic>
        <p:nvPicPr>
          <p:cNvPr id="422" name="Google Shape;422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002" y="1657350"/>
            <a:ext cx="2438400" cy="535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5002" y="2266950"/>
            <a:ext cx="1463392" cy="603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13100" y="170485"/>
            <a:ext cx="1371600" cy="493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8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Софтмакс и кросс энтропия</a:t>
            </a:r>
            <a:endParaRPr/>
          </a:p>
        </p:txBody>
      </p:sp>
      <p:sp>
        <p:nvSpPr>
          <p:cNvPr id="430" name="Google Shape;430;p48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42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48"/>
          <p:cNvSpPr txBox="1"/>
          <p:nvPr/>
        </p:nvSpPr>
        <p:spPr>
          <a:xfrm>
            <a:off x="469900" y="645863"/>
            <a:ext cx="2743200" cy="226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«Функция активации» – софтмакс</a:t>
            </a:r>
            <a:endParaRPr/>
          </a:p>
        </p:txBody>
      </p:sp>
      <p:pic>
        <p:nvPicPr>
          <p:cNvPr id="432" name="Google Shape;43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302" y="884707"/>
            <a:ext cx="2668398" cy="391644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48"/>
          <p:cNvSpPr txBox="1"/>
          <p:nvPr/>
        </p:nvSpPr>
        <p:spPr>
          <a:xfrm>
            <a:off x="392302" y="1352550"/>
            <a:ext cx="3735198" cy="17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потерь – кросс энтропия</a:t>
            </a:r>
            <a:endParaRPr/>
          </a:p>
        </p:txBody>
      </p:sp>
      <p:pic>
        <p:nvPicPr>
          <p:cNvPr id="434" name="Google Shape;434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002" y="1657350"/>
            <a:ext cx="2438400" cy="535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5002" y="2266950"/>
            <a:ext cx="1463392" cy="603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12478" y="2343151"/>
            <a:ext cx="1823129" cy="52721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437" name="Google Shape;437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36901" y="133350"/>
            <a:ext cx="1460500" cy="512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9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Софтмакс и кросс энтропия</a:t>
            </a:r>
            <a:endParaRPr/>
          </a:p>
        </p:txBody>
      </p:sp>
      <p:sp>
        <p:nvSpPr>
          <p:cNvPr id="443" name="Google Shape;443;p49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43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49"/>
          <p:cNvSpPr txBox="1"/>
          <p:nvPr/>
        </p:nvSpPr>
        <p:spPr>
          <a:xfrm>
            <a:off x="469900" y="645863"/>
            <a:ext cx="2743200" cy="226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«Функция активации» – софтмакс</a:t>
            </a:r>
            <a:endParaRPr/>
          </a:p>
        </p:txBody>
      </p:sp>
      <p:pic>
        <p:nvPicPr>
          <p:cNvPr id="445" name="Google Shape;44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302" y="884707"/>
            <a:ext cx="2592198" cy="359905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49"/>
          <p:cNvSpPr txBox="1"/>
          <p:nvPr/>
        </p:nvSpPr>
        <p:spPr>
          <a:xfrm>
            <a:off x="392302" y="1352550"/>
            <a:ext cx="3735198" cy="17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потерь – кросс энтропия</a:t>
            </a:r>
            <a:endParaRPr/>
          </a:p>
        </p:txBody>
      </p:sp>
      <p:pic>
        <p:nvPicPr>
          <p:cNvPr id="447" name="Google Shape;447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002" y="1657350"/>
            <a:ext cx="2438400" cy="535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2302" y="2253466"/>
            <a:ext cx="2447101" cy="630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36901" y="267455"/>
            <a:ext cx="1371600" cy="491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36901" y="855436"/>
            <a:ext cx="1371600" cy="403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0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Софтмакс и кросс энтропия</a:t>
            </a:r>
            <a:endParaRPr/>
          </a:p>
        </p:txBody>
      </p:sp>
      <p:sp>
        <p:nvSpPr>
          <p:cNvPr id="456" name="Google Shape;456;p50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44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50"/>
          <p:cNvSpPr txBox="1"/>
          <p:nvPr/>
        </p:nvSpPr>
        <p:spPr>
          <a:xfrm>
            <a:off x="469900" y="645863"/>
            <a:ext cx="2743200" cy="226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«Функция активации» – софтмакс</a:t>
            </a:r>
            <a:endParaRPr/>
          </a:p>
        </p:txBody>
      </p:sp>
      <p:pic>
        <p:nvPicPr>
          <p:cNvPr id="458" name="Google Shape;4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302" y="884707"/>
            <a:ext cx="2592198" cy="315443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50"/>
          <p:cNvSpPr txBox="1"/>
          <p:nvPr/>
        </p:nvSpPr>
        <p:spPr>
          <a:xfrm>
            <a:off x="392302" y="1352550"/>
            <a:ext cx="3735198" cy="17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потерь – кросс энтропия</a:t>
            </a:r>
            <a:endParaRPr/>
          </a:p>
        </p:txBody>
      </p:sp>
      <p:pic>
        <p:nvPicPr>
          <p:cNvPr id="460" name="Google Shape;460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027" y="1581150"/>
            <a:ext cx="1969898" cy="43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6741" y="2114550"/>
            <a:ext cx="3623244" cy="506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89941" y="152151"/>
            <a:ext cx="1371600" cy="493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5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89941" y="738281"/>
            <a:ext cx="1371600" cy="401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1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Софтмакс и кросс энтропия</a:t>
            </a:r>
            <a:endParaRPr/>
          </a:p>
        </p:txBody>
      </p:sp>
      <p:sp>
        <p:nvSpPr>
          <p:cNvPr id="469" name="Google Shape;469;p51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51"/>
          <p:cNvSpPr txBox="1"/>
          <p:nvPr/>
        </p:nvSpPr>
        <p:spPr>
          <a:xfrm>
            <a:off x="469900" y="645863"/>
            <a:ext cx="2743200" cy="226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«Функция активации» – софтмакс</a:t>
            </a:r>
            <a:endParaRPr/>
          </a:p>
        </p:txBody>
      </p:sp>
      <p:pic>
        <p:nvPicPr>
          <p:cNvPr id="471" name="Google Shape;47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302" y="884707"/>
            <a:ext cx="2669796" cy="315443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51"/>
          <p:cNvSpPr txBox="1"/>
          <p:nvPr/>
        </p:nvSpPr>
        <p:spPr>
          <a:xfrm>
            <a:off x="411027" y="1404620"/>
            <a:ext cx="3735198" cy="17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потерь – кросс энтропия</a:t>
            </a:r>
            <a:endParaRPr/>
          </a:p>
        </p:txBody>
      </p:sp>
      <p:pic>
        <p:nvPicPr>
          <p:cNvPr id="473" name="Google Shape;473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027" y="1581150"/>
            <a:ext cx="1969898" cy="43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21" y="2126200"/>
            <a:ext cx="4378815" cy="517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97985" y="152151"/>
            <a:ext cx="1371600" cy="493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80056" y="671561"/>
            <a:ext cx="1371600" cy="401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2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Софтмакс и кросс энтропия</a:t>
            </a:r>
            <a:endParaRPr/>
          </a:p>
        </p:txBody>
      </p:sp>
      <p:sp>
        <p:nvSpPr>
          <p:cNvPr id="482" name="Google Shape;482;p52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46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52"/>
          <p:cNvSpPr txBox="1"/>
          <p:nvPr/>
        </p:nvSpPr>
        <p:spPr>
          <a:xfrm>
            <a:off x="469900" y="645863"/>
            <a:ext cx="2743200" cy="226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«Функция активации» – софтмакс</a:t>
            </a:r>
            <a:endParaRPr/>
          </a:p>
        </p:txBody>
      </p:sp>
      <p:pic>
        <p:nvPicPr>
          <p:cNvPr id="484" name="Google Shape;4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302" y="884707"/>
            <a:ext cx="2820798" cy="391644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52"/>
          <p:cNvSpPr txBox="1"/>
          <p:nvPr/>
        </p:nvSpPr>
        <p:spPr>
          <a:xfrm>
            <a:off x="392302" y="1352550"/>
            <a:ext cx="3735198" cy="17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потерь – кросс энтропия</a:t>
            </a:r>
            <a:endParaRPr/>
          </a:p>
        </p:txBody>
      </p:sp>
      <p:pic>
        <p:nvPicPr>
          <p:cNvPr id="486" name="Google Shape;486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027" y="1581150"/>
            <a:ext cx="1969898" cy="43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1517" y="2126200"/>
            <a:ext cx="4378815" cy="517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1517" y="2682002"/>
            <a:ext cx="1904301" cy="490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3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Софтмакс и кросс энтропия</a:t>
            </a:r>
            <a:endParaRPr/>
          </a:p>
        </p:txBody>
      </p:sp>
      <p:sp>
        <p:nvSpPr>
          <p:cNvPr id="494" name="Google Shape;494;p53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47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53"/>
          <p:cNvSpPr txBox="1"/>
          <p:nvPr/>
        </p:nvSpPr>
        <p:spPr>
          <a:xfrm>
            <a:off x="469900" y="645863"/>
            <a:ext cx="2743200" cy="226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«Функция активации» – софтмакс</a:t>
            </a:r>
            <a:endParaRPr/>
          </a:p>
        </p:txBody>
      </p:sp>
      <p:pic>
        <p:nvPicPr>
          <p:cNvPr id="496" name="Google Shape;49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302" y="884707"/>
            <a:ext cx="2820798" cy="391644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53"/>
          <p:cNvSpPr txBox="1"/>
          <p:nvPr/>
        </p:nvSpPr>
        <p:spPr>
          <a:xfrm>
            <a:off x="392302" y="1352550"/>
            <a:ext cx="3735198" cy="17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потерь – кросс энтропия</a:t>
            </a:r>
            <a:endParaRPr/>
          </a:p>
        </p:txBody>
      </p:sp>
      <p:pic>
        <p:nvPicPr>
          <p:cNvPr id="498" name="Google Shape;498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027" y="1581150"/>
            <a:ext cx="1969898" cy="43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1517" y="2126200"/>
            <a:ext cx="4378815" cy="517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1517" y="2692348"/>
            <a:ext cx="3084188" cy="5012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4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Софтмакс и кросс энтропия</a:t>
            </a:r>
            <a:endParaRPr/>
          </a:p>
        </p:txBody>
      </p:sp>
      <p:sp>
        <p:nvSpPr>
          <p:cNvPr id="506" name="Google Shape;506;p54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48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54"/>
          <p:cNvSpPr txBox="1"/>
          <p:nvPr/>
        </p:nvSpPr>
        <p:spPr>
          <a:xfrm>
            <a:off x="469900" y="645863"/>
            <a:ext cx="2743200" cy="226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«Функция активации» – софтмакс</a:t>
            </a:r>
            <a:endParaRPr/>
          </a:p>
        </p:txBody>
      </p:sp>
      <p:pic>
        <p:nvPicPr>
          <p:cNvPr id="508" name="Google Shape;50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302" y="884707"/>
            <a:ext cx="2820798" cy="391644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54"/>
          <p:cNvSpPr txBox="1"/>
          <p:nvPr/>
        </p:nvSpPr>
        <p:spPr>
          <a:xfrm>
            <a:off x="392302" y="1352550"/>
            <a:ext cx="3735198" cy="17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потерь – кросс энтропия</a:t>
            </a:r>
            <a:endParaRPr/>
          </a:p>
        </p:txBody>
      </p:sp>
      <p:pic>
        <p:nvPicPr>
          <p:cNvPr id="510" name="Google Shape;510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027" y="1581150"/>
            <a:ext cx="1969898" cy="43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1517" y="2126200"/>
            <a:ext cx="4378815" cy="517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1517" y="2722440"/>
            <a:ext cx="3430475" cy="522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5"/>
          <p:cNvSpPr/>
          <p:nvPr/>
        </p:nvSpPr>
        <p:spPr>
          <a:xfrm>
            <a:off x="88900" y="971550"/>
            <a:ext cx="1571016" cy="1219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55"/>
          <p:cNvSpPr txBox="1"/>
          <p:nvPr/>
        </p:nvSpPr>
        <p:spPr>
          <a:xfrm>
            <a:off x="65741" y="2274502"/>
            <a:ext cx="1594175" cy="678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12700" rtl="0" algn="ctr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Кот, пес, велосипед или автомобиль?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080" marR="0" rtl="0" algn="ctr">
              <a:spcBef>
                <a:spcPts val="35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(верно только одно)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55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49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55"/>
          <p:cNvSpPr txBox="1"/>
          <p:nvPr>
            <p:ph type="title"/>
          </p:nvPr>
        </p:nvSpPr>
        <p:spPr>
          <a:xfrm>
            <a:off x="387073" y="209550"/>
            <a:ext cx="3959416" cy="309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Многоклассовая классификация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1" name="Google Shape;521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26237" y="971550"/>
            <a:ext cx="2822696" cy="1573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6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56"/>
          <p:cNvSpPr txBox="1"/>
          <p:nvPr>
            <p:ph type="title"/>
          </p:nvPr>
        </p:nvSpPr>
        <p:spPr>
          <a:xfrm>
            <a:off x="387073" y="209550"/>
            <a:ext cx="3959416" cy="309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Многоклассовая классификация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8" name="Google Shape;52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700" y="742950"/>
            <a:ext cx="3810000" cy="2123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7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Софтмакс и кросс энтропия</a:t>
            </a:r>
            <a:endParaRPr/>
          </a:p>
        </p:txBody>
      </p:sp>
      <p:sp>
        <p:nvSpPr>
          <p:cNvPr id="534" name="Google Shape;534;p57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57"/>
          <p:cNvSpPr txBox="1"/>
          <p:nvPr/>
        </p:nvSpPr>
        <p:spPr>
          <a:xfrm>
            <a:off x="469900" y="645863"/>
            <a:ext cx="2743200" cy="226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«Функция активации» – софтмакс</a:t>
            </a:r>
            <a:endParaRPr/>
          </a:p>
        </p:txBody>
      </p:sp>
      <p:pic>
        <p:nvPicPr>
          <p:cNvPr id="536" name="Google Shape;536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302" y="884707"/>
            <a:ext cx="2820798" cy="391644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57"/>
          <p:cNvSpPr txBox="1"/>
          <p:nvPr/>
        </p:nvSpPr>
        <p:spPr>
          <a:xfrm>
            <a:off x="392302" y="1352550"/>
            <a:ext cx="3735198" cy="17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Функция потерь – кросс энтропия</a:t>
            </a:r>
            <a:endParaRPr/>
          </a:p>
        </p:txBody>
      </p:sp>
      <p:pic>
        <p:nvPicPr>
          <p:cNvPr id="538" name="Google Shape;538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027" y="1581150"/>
            <a:ext cx="1969898" cy="43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1517" y="2126200"/>
            <a:ext cx="4378815" cy="517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1517" y="2722440"/>
            <a:ext cx="3430475" cy="522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8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Софтмакс и кросс энтропия</a:t>
            </a:r>
            <a:endParaRPr/>
          </a:p>
        </p:txBody>
      </p:sp>
      <p:sp>
        <p:nvSpPr>
          <p:cNvPr id="546" name="Google Shape;546;p58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52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58"/>
          <p:cNvSpPr txBox="1"/>
          <p:nvPr/>
        </p:nvSpPr>
        <p:spPr>
          <a:xfrm>
            <a:off x="469900" y="645863"/>
            <a:ext cx="2743200" cy="226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«Функция активации» – софтмакс</a:t>
            </a:r>
            <a:endParaRPr/>
          </a:p>
        </p:txBody>
      </p:sp>
      <p:pic>
        <p:nvPicPr>
          <p:cNvPr id="548" name="Google Shape;548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126" y="1123950"/>
            <a:ext cx="3899516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59"/>
          <p:cNvSpPr txBox="1"/>
          <p:nvPr>
            <p:ph type="title"/>
          </p:nvPr>
        </p:nvSpPr>
        <p:spPr>
          <a:xfrm>
            <a:off x="392302" y="281343"/>
            <a:ext cx="3937076" cy="385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Локализация</a:t>
            </a:r>
            <a:endParaRPr/>
          </a:p>
        </p:txBody>
      </p:sp>
      <p:sp>
        <p:nvSpPr>
          <p:cNvPr id="554" name="Google Shape;554;p59"/>
          <p:cNvSpPr/>
          <p:nvPr/>
        </p:nvSpPr>
        <p:spPr>
          <a:xfrm>
            <a:off x="206692" y="819150"/>
            <a:ext cx="2320608" cy="1752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59"/>
          <p:cNvSpPr txBox="1"/>
          <p:nvPr/>
        </p:nvSpPr>
        <p:spPr>
          <a:xfrm>
            <a:off x="4205236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53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0"/>
          <p:cNvSpPr txBox="1"/>
          <p:nvPr>
            <p:ph type="title"/>
          </p:nvPr>
        </p:nvSpPr>
        <p:spPr>
          <a:xfrm>
            <a:off x="392302" y="281343"/>
            <a:ext cx="3937076" cy="385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Локализация</a:t>
            </a:r>
            <a:endParaRPr/>
          </a:p>
        </p:txBody>
      </p:sp>
      <p:sp>
        <p:nvSpPr>
          <p:cNvPr id="561" name="Google Shape;561;p60"/>
          <p:cNvSpPr/>
          <p:nvPr/>
        </p:nvSpPr>
        <p:spPr>
          <a:xfrm>
            <a:off x="165100" y="952870"/>
            <a:ext cx="1787208" cy="1371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60"/>
          <p:cNvSpPr txBox="1"/>
          <p:nvPr/>
        </p:nvSpPr>
        <p:spPr>
          <a:xfrm>
            <a:off x="4203700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54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3" name="Google Shape;563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8659" y="895350"/>
            <a:ext cx="2003818" cy="1359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1"/>
          <p:cNvSpPr txBox="1"/>
          <p:nvPr>
            <p:ph type="title"/>
          </p:nvPr>
        </p:nvSpPr>
        <p:spPr>
          <a:xfrm>
            <a:off x="392302" y="281343"/>
            <a:ext cx="3937076" cy="385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Локализация</a:t>
            </a:r>
            <a:endParaRPr/>
          </a:p>
        </p:txBody>
      </p:sp>
      <p:sp>
        <p:nvSpPr>
          <p:cNvPr id="569" name="Google Shape;569;p61"/>
          <p:cNvSpPr txBox="1"/>
          <p:nvPr/>
        </p:nvSpPr>
        <p:spPr>
          <a:xfrm>
            <a:off x="4203700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55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0" name="Google Shape;570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52" y="1165212"/>
            <a:ext cx="1508657" cy="1189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69228" y="895350"/>
            <a:ext cx="2913977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62"/>
          <p:cNvSpPr txBox="1"/>
          <p:nvPr>
            <p:ph type="title"/>
          </p:nvPr>
        </p:nvSpPr>
        <p:spPr>
          <a:xfrm>
            <a:off x="392302" y="281343"/>
            <a:ext cx="3937076" cy="385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Локализация</a:t>
            </a:r>
            <a:endParaRPr/>
          </a:p>
        </p:txBody>
      </p:sp>
      <p:sp>
        <p:nvSpPr>
          <p:cNvPr id="577" name="Google Shape;577;p62"/>
          <p:cNvSpPr txBox="1"/>
          <p:nvPr/>
        </p:nvSpPr>
        <p:spPr>
          <a:xfrm>
            <a:off x="4203700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56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8" name="Google Shape;578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3757" y="819150"/>
            <a:ext cx="2865839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52" y="1165212"/>
            <a:ext cx="1508657" cy="1189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3"/>
          <p:cNvSpPr txBox="1"/>
          <p:nvPr>
            <p:ph type="title"/>
          </p:nvPr>
        </p:nvSpPr>
        <p:spPr>
          <a:xfrm>
            <a:off x="392302" y="281343"/>
            <a:ext cx="3937076" cy="385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Локализация</a:t>
            </a:r>
            <a:endParaRPr/>
          </a:p>
        </p:txBody>
      </p:sp>
      <p:sp>
        <p:nvSpPr>
          <p:cNvPr id="585" name="Google Shape;585;p63"/>
          <p:cNvSpPr txBox="1"/>
          <p:nvPr/>
        </p:nvSpPr>
        <p:spPr>
          <a:xfrm>
            <a:off x="4203700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57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6" name="Google Shape;586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3628" y="807236"/>
            <a:ext cx="2913771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973170"/>
            <a:ext cx="1633026" cy="1369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64"/>
          <p:cNvSpPr txBox="1"/>
          <p:nvPr>
            <p:ph type="title"/>
          </p:nvPr>
        </p:nvSpPr>
        <p:spPr>
          <a:xfrm>
            <a:off x="358488" y="133350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Локализация и детекция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64"/>
          <p:cNvSpPr txBox="1"/>
          <p:nvPr/>
        </p:nvSpPr>
        <p:spPr>
          <a:xfrm>
            <a:off x="4205236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58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64"/>
          <p:cNvSpPr txBox="1"/>
          <p:nvPr/>
        </p:nvSpPr>
        <p:spPr>
          <a:xfrm>
            <a:off x="241301" y="636594"/>
            <a:ext cx="4212220" cy="487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Мы рассмотрим пример задачи со следующими ограничениями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65"/>
          <p:cNvSpPr txBox="1"/>
          <p:nvPr>
            <p:ph type="title"/>
          </p:nvPr>
        </p:nvSpPr>
        <p:spPr>
          <a:xfrm>
            <a:off x="358488" y="133350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Локализация и детекция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65"/>
          <p:cNvSpPr txBox="1"/>
          <p:nvPr/>
        </p:nvSpPr>
        <p:spPr>
          <a:xfrm>
            <a:off x="4205236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59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65"/>
          <p:cNvSpPr txBox="1"/>
          <p:nvPr/>
        </p:nvSpPr>
        <p:spPr>
          <a:xfrm>
            <a:off x="241301" y="636594"/>
            <a:ext cx="4212220" cy="487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Мы рассмотрим пример задачи со следующими ограничениями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65"/>
          <p:cNvSpPr/>
          <p:nvPr/>
        </p:nvSpPr>
        <p:spPr>
          <a:xfrm>
            <a:off x="254001" y="1200150"/>
            <a:ext cx="4199520" cy="255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379095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rgbClr val="FFD564"/>
              </a:buClr>
              <a:buSzPts val="1100"/>
              <a:buFont typeface="Calibri"/>
              <a:buAutoNum type="arabicPeriod"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На картинке может быть только один объект или ни одного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66"/>
          <p:cNvSpPr txBox="1"/>
          <p:nvPr>
            <p:ph type="title"/>
          </p:nvPr>
        </p:nvSpPr>
        <p:spPr>
          <a:xfrm>
            <a:off x="358488" y="133350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Локализация и детекция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66"/>
          <p:cNvSpPr txBox="1"/>
          <p:nvPr/>
        </p:nvSpPr>
        <p:spPr>
          <a:xfrm>
            <a:off x="4205236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66"/>
          <p:cNvSpPr txBox="1"/>
          <p:nvPr/>
        </p:nvSpPr>
        <p:spPr>
          <a:xfrm>
            <a:off x="241301" y="636594"/>
            <a:ext cx="4212220" cy="487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Мы рассмотрим пример задачи со следующими ограничениями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66"/>
          <p:cNvSpPr/>
          <p:nvPr/>
        </p:nvSpPr>
        <p:spPr>
          <a:xfrm>
            <a:off x="241301" y="1200150"/>
            <a:ext cx="4212220" cy="1357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rgbClr val="FFD564"/>
              </a:buClr>
              <a:buSzPts val="1100"/>
              <a:buFont typeface="Calibri"/>
              <a:buAutoNum type="arabicPeriod"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На картинке может быть только один объект или ни одного</a:t>
            </a:r>
            <a:endParaRPr/>
          </a:p>
          <a:p>
            <a:pPr indent="-228600" lvl="0" marL="228600" marR="12700" rtl="0" algn="l">
              <a:lnSpc>
                <a:spcPct val="102600"/>
              </a:lnSpc>
              <a:spcBef>
                <a:spcPts val="1200"/>
              </a:spcBef>
              <a:spcAft>
                <a:spcPts val="0"/>
              </a:spcAft>
              <a:buClr>
                <a:srgbClr val="FFD564"/>
              </a:buClr>
              <a:buSzPts val="1100"/>
              <a:buFont typeface="Calibri"/>
              <a:buAutoNum type="arabicPeriod"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Если центр объекта лежит в пределах картинки, то мы считаем, что объект на картинке есть, в ином случае мы считаем, что объекта нет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214" lvl="0" marL="289560" marR="1270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FFD564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9214" lvl="0" marL="289560" marR="1270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FFD564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67"/>
          <p:cNvSpPr txBox="1"/>
          <p:nvPr>
            <p:ph type="title"/>
          </p:nvPr>
        </p:nvSpPr>
        <p:spPr>
          <a:xfrm>
            <a:off x="358488" y="133350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Локализация и детекция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67"/>
          <p:cNvSpPr txBox="1"/>
          <p:nvPr/>
        </p:nvSpPr>
        <p:spPr>
          <a:xfrm>
            <a:off x="4205236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61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67"/>
          <p:cNvSpPr txBox="1"/>
          <p:nvPr/>
        </p:nvSpPr>
        <p:spPr>
          <a:xfrm>
            <a:off x="241301" y="636594"/>
            <a:ext cx="4212220" cy="487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Мы рассмотрим пример задачи со следующими ограничениями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67"/>
          <p:cNvSpPr/>
          <p:nvPr/>
        </p:nvSpPr>
        <p:spPr>
          <a:xfrm>
            <a:off x="241301" y="1200150"/>
            <a:ext cx="4212220" cy="1473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rgbClr val="FFD564"/>
              </a:buClr>
              <a:buSzPts val="1100"/>
              <a:buFont typeface="Calibri"/>
              <a:buAutoNum type="arabicPeriod"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На картинке может быть только один объект или ни одного</a:t>
            </a:r>
            <a:endParaRPr/>
          </a:p>
          <a:p>
            <a:pPr indent="-228600" lvl="0" marL="228600" marR="12700" rtl="0" algn="l">
              <a:lnSpc>
                <a:spcPct val="102600"/>
              </a:lnSpc>
              <a:spcBef>
                <a:spcPts val="1200"/>
              </a:spcBef>
              <a:spcAft>
                <a:spcPts val="0"/>
              </a:spcAft>
              <a:buClr>
                <a:srgbClr val="FFD564"/>
              </a:buClr>
              <a:buSzPts val="1100"/>
              <a:buFont typeface="Calibri"/>
              <a:buAutoNum type="arabicPeriod"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Если центр объекта лежит в пределах картинки, то мы считаем, что объект на картинке есть, в ином случае мы считаем, что объекта нет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12700" rtl="0" algn="l">
              <a:lnSpc>
                <a:spcPct val="102600"/>
              </a:lnSpc>
              <a:spcBef>
                <a:spcPts val="1200"/>
              </a:spcBef>
              <a:spcAft>
                <a:spcPts val="0"/>
              </a:spcAft>
              <a:buClr>
                <a:srgbClr val="FFD564"/>
              </a:buClr>
              <a:buSzPts val="1100"/>
              <a:buFont typeface="Calibri"/>
              <a:buAutoNum type="arabicPeriod"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Объект может выходить за пределы картинки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214" lvl="0" marL="289560" marR="1270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FFD564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68"/>
          <p:cNvSpPr txBox="1"/>
          <p:nvPr>
            <p:ph type="title"/>
          </p:nvPr>
        </p:nvSpPr>
        <p:spPr>
          <a:xfrm>
            <a:off x="392302" y="281343"/>
            <a:ext cx="3937076" cy="385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Локализация</a:t>
            </a:r>
            <a:endParaRPr/>
          </a:p>
        </p:txBody>
      </p:sp>
      <p:sp>
        <p:nvSpPr>
          <p:cNvPr id="624" name="Google Shape;624;p68"/>
          <p:cNvSpPr txBox="1"/>
          <p:nvPr/>
        </p:nvSpPr>
        <p:spPr>
          <a:xfrm>
            <a:off x="4203700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62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5" name="Google Shape;625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3628" y="807236"/>
            <a:ext cx="2913771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973170"/>
            <a:ext cx="1633026" cy="1369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69"/>
          <p:cNvSpPr txBox="1"/>
          <p:nvPr>
            <p:ph type="title"/>
          </p:nvPr>
        </p:nvSpPr>
        <p:spPr>
          <a:xfrm>
            <a:off x="252430" y="133350"/>
            <a:ext cx="3937076" cy="385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Локализация</a:t>
            </a:r>
            <a:endParaRPr/>
          </a:p>
        </p:txBody>
      </p:sp>
      <p:sp>
        <p:nvSpPr>
          <p:cNvPr id="632" name="Google Shape;632;p69"/>
          <p:cNvSpPr txBox="1"/>
          <p:nvPr/>
        </p:nvSpPr>
        <p:spPr>
          <a:xfrm>
            <a:off x="4203700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63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3" name="Google Shape;633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3026" y="460916"/>
            <a:ext cx="2913771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66750"/>
            <a:ext cx="1633026" cy="1369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17700" y="2190750"/>
            <a:ext cx="781586" cy="739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70"/>
          <p:cNvSpPr txBox="1"/>
          <p:nvPr>
            <p:ph type="title"/>
          </p:nvPr>
        </p:nvSpPr>
        <p:spPr>
          <a:xfrm>
            <a:off x="252430" y="133350"/>
            <a:ext cx="3937076" cy="385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Локализация</a:t>
            </a:r>
            <a:endParaRPr/>
          </a:p>
        </p:txBody>
      </p:sp>
      <p:sp>
        <p:nvSpPr>
          <p:cNvPr id="641" name="Google Shape;641;p70"/>
          <p:cNvSpPr txBox="1"/>
          <p:nvPr/>
        </p:nvSpPr>
        <p:spPr>
          <a:xfrm>
            <a:off x="4203700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64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2" name="Google Shape;642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3026" y="460916"/>
            <a:ext cx="2913771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66750"/>
            <a:ext cx="1633026" cy="1369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45276" y="2266950"/>
            <a:ext cx="1885312" cy="849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71"/>
          <p:cNvSpPr txBox="1"/>
          <p:nvPr>
            <p:ph type="title"/>
          </p:nvPr>
        </p:nvSpPr>
        <p:spPr>
          <a:xfrm>
            <a:off x="252430" y="133350"/>
            <a:ext cx="3937076" cy="385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Локализация</a:t>
            </a:r>
            <a:endParaRPr/>
          </a:p>
        </p:txBody>
      </p:sp>
      <p:sp>
        <p:nvSpPr>
          <p:cNvPr id="650" name="Google Shape;650;p71"/>
          <p:cNvSpPr txBox="1"/>
          <p:nvPr/>
        </p:nvSpPr>
        <p:spPr>
          <a:xfrm>
            <a:off x="4203700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65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1" name="Google Shape;651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3027" y="588864"/>
            <a:ext cx="2720734" cy="1778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66750"/>
            <a:ext cx="1633026" cy="1369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45276" y="2266950"/>
            <a:ext cx="1885312" cy="8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7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69241" y="460916"/>
            <a:ext cx="827088" cy="252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72"/>
          <p:cNvSpPr txBox="1"/>
          <p:nvPr>
            <p:ph type="title"/>
          </p:nvPr>
        </p:nvSpPr>
        <p:spPr>
          <a:xfrm>
            <a:off x="252430" y="133350"/>
            <a:ext cx="3937076" cy="385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Локализация</a:t>
            </a:r>
            <a:endParaRPr/>
          </a:p>
        </p:txBody>
      </p:sp>
      <p:sp>
        <p:nvSpPr>
          <p:cNvPr id="660" name="Google Shape;660;p72"/>
          <p:cNvSpPr txBox="1"/>
          <p:nvPr/>
        </p:nvSpPr>
        <p:spPr>
          <a:xfrm>
            <a:off x="4203700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66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1" name="Google Shape;661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3027" y="588864"/>
            <a:ext cx="2720734" cy="1778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66750"/>
            <a:ext cx="1633026" cy="1369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45276" y="2266950"/>
            <a:ext cx="1885312" cy="8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7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69241" y="460916"/>
            <a:ext cx="827088" cy="252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7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78751" y="1288077"/>
            <a:ext cx="808066" cy="151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7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98887" y="895350"/>
            <a:ext cx="809625" cy="187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73"/>
          <p:cNvSpPr txBox="1"/>
          <p:nvPr>
            <p:ph type="title"/>
          </p:nvPr>
        </p:nvSpPr>
        <p:spPr>
          <a:xfrm>
            <a:off x="252430" y="133350"/>
            <a:ext cx="3937076" cy="385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Локализация</a:t>
            </a:r>
            <a:endParaRPr/>
          </a:p>
        </p:txBody>
      </p:sp>
      <p:sp>
        <p:nvSpPr>
          <p:cNvPr id="672" name="Google Shape;672;p73"/>
          <p:cNvSpPr txBox="1"/>
          <p:nvPr/>
        </p:nvSpPr>
        <p:spPr>
          <a:xfrm>
            <a:off x="4203700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3" name="Google Shape;673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908" y="398680"/>
            <a:ext cx="3409191" cy="1887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900" y="2391095"/>
            <a:ext cx="1885312" cy="8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94099" y="514350"/>
            <a:ext cx="827088" cy="252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7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94099" y="1298023"/>
            <a:ext cx="808066" cy="151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7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94099" y="964160"/>
            <a:ext cx="809625" cy="187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7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94099" y="1568451"/>
            <a:ext cx="827087" cy="140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74"/>
          <p:cNvSpPr txBox="1"/>
          <p:nvPr>
            <p:ph type="title"/>
          </p:nvPr>
        </p:nvSpPr>
        <p:spPr>
          <a:xfrm>
            <a:off x="252430" y="133350"/>
            <a:ext cx="3937076" cy="385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Локализация</a:t>
            </a:r>
            <a:endParaRPr/>
          </a:p>
        </p:txBody>
      </p:sp>
      <p:sp>
        <p:nvSpPr>
          <p:cNvPr id="684" name="Google Shape;684;p74"/>
          <p:cNvSpPr txBox="1"/>
          <p:nvPr/>
        </p:nvSpPr>
        <p:spPr>
          <a:xfrm>
            <a:off x="4203700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68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5" name="Google Shape;685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908" y="398680"/>
            <a:ext cx="3409191" cy="1887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900" y="2391095"/>
            <a:ext cx="1885312" cy="8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7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94099" y="514350"/>
            <a:ext cx="827088" cy="252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7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94099" y="1298023"/>
            <a:ext cx="808066" cy="151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7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94099" y="964160"/>
            <a:ext cx="809625" cy="187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p7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94099" y="1568451"/>
            <a:ext cx="827087" cy="140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7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24915" y="1962150"/>
            <a:ext cx="796271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75"/>
          <p:cNvSpPr txBox="1"/>
          <p:nvPr>
            <p:ph type="title"/>
          </p:nvPr>
        </p:nvSpPr>
        <p:spPr>
          <a:xfrm>
            <a:off x="252430" y="133350"/>
            <a:ext cx="3937076" cy="385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Локализация</a:t>
            </a:r>
            <a:endParaRPr/>
          </a:p>
        </p:txBody>
      </p:sp>
      <p:sp>
        <p:nvSpPr>
          <p:cNvPr id="697" name="Google Shape;697;p75"/>
          <p:cNvSpPr txBox="1"/>
          <p:nvPr/>
        </p:nvSpPr>
        <p:spPr>
          <a:xfrm>
            <a:off x="4203700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69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8" name="Google Shape;698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908" y="398680"/>
            <a:ext cx="3409191" cy="1887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4099" y="514350"/>
            <a:ext cx="827088" cy="252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p7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94099" y="1298023"/>
            <a:ext cx="808066" cy="151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7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94099" y="964160"/>
            <a:ext cx="809625" cy="187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p7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94099" y="1568451"/>
            <a:ext cx="827087" cy="140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7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24915" y="1962150"/>
            <a:ext cx="796271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p7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85885" y="2360585"/>
            <a:ext cx="3243263" cy="808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76"/>
          <p:cNvSpPr txBox="1"/>
          <p:nvPr>
            <p:ph type="title"/>
          </p:nvPr>
        </p:nvSpPr>
        <p:spPr>
          <a:xfrm>
            <a:off x="252430" y="133350"/>
            <a:ext cx="3937076" cy="385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Локализация</a:t>
            </a:r>
            <a:endParaRPr/>
          </a:p>
        </p:txBody>
      </p:sp>
      <p:sp>
        <p:nvSpPr>
          <p:cNvPr id="710" name="Google Shape;710;p76"/>
          <p:cNvSpPr txBox="1"/>
          <p:nvPr/>
        </p:nvSpPr>
        <p:spPr>
          <a:xfrm>
            <a:off x="4203700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1" name="Google Shape;711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908" y="398680"/>
            <a:ext cx="3409191" cy="1887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4099" y="514350"/>
            <a:ext cx="827088" cy="252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94099" y="1298023"/>
            <a:ext cx="808066" cy="151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7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94099" y="964160"/>
            <a:ext cx="809625" cy="187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" name="Google Shape;715;p7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94099" y="1568451"/>
            <a:ext cx="827087" cy="140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p7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24915" y="1962150"/>
            <a:ext cx="796271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p7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41300" y="2273445"/>
            <a:ext cx="3536015" cy="920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77"/>
          <p:cNvSpPr txBox="1"/>
          <p:nvPr>
            <p:ph type="title"/>
          </p:nvPr>
        </p:nvSpPr>
        <p:spPr>
          <a:xfrm>
            <a:off x="252430" y="133350"/>
            <a:ext cx="3937076" cy="385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Локализация</a:t>
            </a:r>
            <a:endParaRPr/>
          </a:p>
        </p:txBody>
      </p:sp>
      <p:sp>
        <p:nvSpPr>
          <p:cNvPr id="723" name="Google Shape;723;p77"/>
          <p:cNvSpPr txBox="1"/>
          <p:nvPr/>
        </p:nvSpPr>
        <p:spPr>
          <a:xfrm>
            <a:off x="4203700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71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4" name="Google Shape;724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908" y="398680"/>
            <a:ext cx="3409191" cy="1887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4099" y="514350"/>
            <a:ext cx="827088" cy="252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26" name="Google Shape;726;p7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94099" y="1298023"/>
            <a:ext cx="808066" cy="151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7" name="Google Shape;727;p7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94099" y="964160"/>
            <a:ext cx="809625" cy="187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8" name="Google Shape;728;p7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94099" y="1568451"/>
            <a:ext cx="827087" cy="140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7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24915" y="1962150"/>
            <a:ext cx="796271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0" name="Google Shape;730;p7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41300" y="2285928"/>
            <a:ext cx="3567113" cy="923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78"/>
          <p:cNvSpPr txBox="1"/>
          <p:nvPr>
            <p:ph type="title"/>
          </p:nvPr>
        </p:nvSpPr>
        <p:spPr>
          <a:xfrm>
            <a:off x="252430" y="133351"/>
            <a:ext cx="393707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Локализация</a:t>
            </a:r>
            <a:endParaRPr/>
          </a:p>
        </p:txBody>
      </p:sp>
      <p:sp>
        <p:nvSpPr>
          <p:cNvPr id="736" name="Google Shape;736;p78"/>
          <p:cNvSpPr txBox="1"/>
          <p:nvPr/>
        </p:nvSpPr>
        <p:spPr>
          <a:xfrm>
            <a:off x="4203700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72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7" name="Google Shape;737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908" y="398680"/>
            <a:ext cx="3409191" cy="1887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4099" y="514350"/>
            <a:ext cx="827088" cy="252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39" name="Google Shape;739;p7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94099" y="1298023"/>
            <a:ext cx="808066" cy="151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0" name="Google Shape;740;p7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94099" y="964160"/>
            <a:ext cx="809625" cy="187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p7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94099" y="1568451"/>
            <a:ext cx="827087" cy="140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" name="Google Shape;742;p7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24915" y="1962150"/>
            <a:ext cx="796271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3" name="Google Shape;743;p7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36415" y="2236210"/>
            <a:ext cx="3388500" cy="11225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79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Сегментация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79"/>
          <p:cNvSpPr txBox="1"/>
          <p:nvPr/>
        </p:nvSpPr>
        <p:spPr>
          <a:xfrm>
            <a:off x="227912" y="2361996"/>
            <a:ext cx="1361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513079" lvl="0" marL="525145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Отделение объекта от фона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79"/>
          <p:cNvSpPr txBox="1"/>
          <p:nvPr/>
        </p:nvSpPr>
        <p:spPr>
          <a:xfrm>
            <a:off x="4205236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1" name="Google Shape;751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892" y="1047749"/>
            <a:ext cx="1467481" cy="1144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1500" y="894912"/>
            <a:ext cx="2000250" cy="135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80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Сегментация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80"/>
          <p:cNvSpPr txBox="1"/>
          <p:nvPr/>
        </p:nvSpPr>
        <p:spPr>
          <a:xfrm>
            <a:off x="227912" y="2361996"/>
            <a:ext cx="1361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513079" lvl="0" marL="525145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Отделение объекта от фона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80"/>
          <p:cNvSpPr txBox="1"/>
          <p:nvPr/>
        </p:nvSpPr>
        <p:spPr>
          <a:xfrm>
            <a:off x="4205236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74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0" name="Google Shape;760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892" y="1047749"/>
            <a:ext cx="1467481" cy="1144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1" name="Google Shape;761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1500" y="971550"/>
            <a:ext cx="2075121" cy="1292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81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Сегментация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81"/>
          <p:cNvSpPr txBox="1"/>
          <p:nvPr/>
        </p:nvSpPr>
        <p:spPr>
          <a:xfrm>
            <a:off x="227912" y="2361996"/>
            <a:ext cx="1361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513079" lvl="0" marL="525145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Отделение объекта от фона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81"/>
          <p:cNvSpPr txBox="1"/>
          <p:nvPr/>
        </p:nvSpPr>
        <p:spPr>
          <a:xfrm>
            <a:off x="4205236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75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9" name="Google Shape;769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892" y="1047749"/>
            <a:ext cx="1467481" cy="1144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1500" y="910343"/>
            <a:ext cx="2075121" cy="1292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98342" y="1369217"/>
            <a:ext cx="134938" cy="134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8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3900" y="2318083"/>
            <a:ext cx="374650" cy="382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82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Сегментация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82"/>
          <p:cNvSpPr txBox="1"/>
          <p:nvPr/>
        </p:nvSpPr>
        <p:spPr>
          <a:xfrm>
            <a:off x="227912" y="2361996"/>
            <a:ext cx="1361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513079" lvl="0" marL="525145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Отделение объекта от фона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82"/>
          <p:cNvSpPr txBox="1"/>
          <p:nvPr/>
        </p:nvSpPr>
        <p:spPr>
          <a:xfrm>
            <a:off x="4205236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76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0" name="Google Shape;780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892" y="1047749"/>
            <a:ext cx="1467481" cy="1144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1" name="Google Shape;781;p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1500" y="910343"/>
            <a:ext cx="2075121" cy="1292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2" name="Google Shape;782;p8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98342" y="1369217"/>
            <a:ext cx="134938" cy="134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783" name="Google Shape;783;p8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47210" y="2302640"/>
            <a:ext cx="1546890" cy="396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83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Сжатие размерности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83"/>
          <p:cNvSpPr/>
          <p:nvPr/>
        </p:nvSpPr>
        <p:spPr>
          <a:xfrm>
            <a:off x="206692" y="1071593"/>
            <a:ext cx="1620072" cy="12648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83"/>
          <p:cNvSpPr/>
          <p:nvPr/>
        </p:nvSpPr>
        <p:spPr>
          <a:xfrm>
            <a:off x="1932597" y="699914"/>
            <a:ext cx="2520019" cy="158512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83"/>
          <p:cNvSpPr txBox="1"/>
          <p:nvPr/>
        </p:nvSpPr>
        <p:spPr>
          <a:xfrm>
            <a:off x="4205236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77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84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Сжатие размерности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84"/>
          <p:cNvSpPr/>
          <p:nvPr/>
        </p:nvSpPr>
        <p:spPr>
          <a:xfrm>
            <a:off x="172500" y="1123950"/>
            <a:ext cx="1330008" cy="106008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84"/>
          <p:cNvSpPr txBox="1"/>
          <p:nvPr/>
        </p:nvSpPr>
        <p:spPr>
          <a:xfrm>
            <a:off x="4205236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78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9" name="Google Shape;799;p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12900" y="1123950"/>
            <a:ext cx="1295400" cy="12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85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Сжатие размерности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85"/>
          <p:cNvSpPr/>
          <p:nvPr/>
        </p:nvSpPr>
        <p:spPr>
          <a:xfrm>
            <a:off x="172500" y="1123950"/>
            <a:ext cx="1330008" cy="106008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85"/>
          <p:cNvSpPr txBox="1"/>
          <p:nvPr/>
        </p:nvSpPr>
        <p:spPr>
          <a:xfrm>
            <a:off x="4205236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79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7" name="Google Shape;807;p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36700" y="924844"/>
            <a:ext cx="2019718" cy="1458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86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Сжатие размерности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86"/>
          <p:cNvSpPr/>
          <p:nvPr/>
        </p:nvSpPr>
        <p:spPr>
          <a:xfrm>
            <a:off x="172500" y="1123950"/>
            <a:ext cx="1330008" cy="106008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86"/>
          <p:cNvSpPr txBox="1"/>
          <p:nvPr/>
        </p:nvSpPr>
        <p:spPr>
          <a:xfrm>
            <a:off x="4205236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5" name="Google Shape;815;p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2508" y="763785"/>
            <a:ext cx="2973387" cy="1780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87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Сжатие размерности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87"/>
          <p:cNvSpPr/>
          <p:nvPr/>
        </p:nvSpPr>
        <p:spPr>
          <a:xfrm>
            <a:off x="172500" y="1123950"/>
            <a:ext cx="1330008" cy="106008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87"/>
          <p:cNvSpPr txBox="1"/>
          <p:nvPr/>
        </p:nvSpPr>
        <p:spPr>
          <a:xfrm>
            <a:off x="4205236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81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3" name="Google Shape;823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2358" y="483577"/>
            <a:ext cx="2951163" cy="214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88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Сжатие размерности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88"/>
          <p:cNvSpPr/>
          <p:nvPr/>
        </p:nvSpPr>
        <p:spPr>
          <a:xfrm>
            <a:off x="172500" y="1123950"/>
            <a:ext cx="1330008" cy="106008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88"/>
          <p:cNvSpPr txBox="1"/>
          <p:nvPr/>
        </p:nvSpPr>
        <p:spPr>
          <a:xfrm>
            <a:off x="4205236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82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1" name="Google Shape;831;p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2358" y="483577"/>
            <a:ext cx="2951163" cy="214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8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17700" y="2495550"/>
            <a:ext cx="1447801" cy="426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89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Сжатие размерности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89"/>
          <p:cNvSpPr/>
          <p:nvPr/>
        </p:nvSpPr>
        <p:spPr>
          <a:xfrm>
            <a:off x="172500" y="1123950"/>
            <a:ext cx="1330008" cy="106008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89"/>
          <p:cNvSpPr txBox="1"/>
          <p:nvPr/>
        </p:nvSpPr>
        <p:spPr>
          <a:xfrm>
            <a:off x="4205236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83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0" name="Google Shape;840;p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2358" y="483577"/>
            <a:ext cx="2951163" cy="214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8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3900" y="2495557"/>
            <a:ext cx="1752599" cy="8731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90"/>
          <p:cNvSpPr txBox="1"/>
          <p:nvPr/>
        </p:nvSpPr>
        <p:spPr>
          <a:xfrm>
            <a:off x="392302" y="281343"/>
            <a:ext cx="1195705" cy="309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SuperResolution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90"/>
          <p:cNvSpPr txBox="1"/>
          <p:nvPr/>
        </p:nvSpPr>
        <p:spPr>
          <a:xfrm>
            <a:off x="4205236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84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8" name="Google Shape;848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288" y="885825"/>
            <a:ext cx="4311650" cy="169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91"/>
          <p:cNvSpPr/>
          <p:nvPr/>
        </p:nvSpPr>
        <p:spPr>
          <a:xfrm>
            <a:off x="405002" y="776416"/>
            <a:ext cx="3420002" cy="244459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91"/>
          <p:cNvSpPr txBox="1"/>
          <p:nvPr/>
        </p:nvSpPr>
        <p:spPr>
          <a:xfrm>
            <a:off x="392302" y="281343"/>
            <a:ext cx="1195705" cy="591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SuperResolution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63830" lvl="0" marL="381635" marR="40005" rtl="0" algn="l">
              <a:lnSpc>
                <a:spcPct val="1026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Сжатое изображение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91"/>
          <p:cNvSpPr txBox="1"/>
          <p:nvPr/>
        </p:nvSpPr>
        <p:spPr>
          <a:xfrm>
            <a:off x="4205236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85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91"/>
          <p:cNvSpPr txBox="1"/>
          <p:nvPr/>
        </p:nvSpPr>
        <p:spPr>
          <a:xfrm>
            <a:off x="755243" y="3205238"/>
            <a:ext cx="811530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Ground Truth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91"/>
          <p:cNvSpPr txBox="1"/>
          <p:nvPr/>
        </p:nvSpPr>
        <p:spPr>
          <a:xfrm>
            <a:off x="2089023" y="1222806"/>
            <a:ext cx="30416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Сеть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91"/>
          <p:cNvSpPr txBox="1"/>
          <p:nvPr/>
        </p:nvSpPr>
        <p:spPr>
          <a:xfrm>
            <a:off x="766203" y="1886724"/>
            <a:ext cx="78930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Сжимающая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91"/>
          <p:cNvSpPr txBox="1"/>
          <p:nvPr/>
        </p:nvSpPr>
        <p:spPr>
          <a:xfrm>
            <a:off x="727392" y="1983536"/>
            <a:ext cx="86677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интерполяция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91"/>
          <p:cNvSpPr txBox="1"/>
          <p:nvPr/>
        </p:nvSpPr>
        <p:spPr>
          <a:xfrm>
            <a:off x="2782531" y="506956"/>
            <a:ext cx="10471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5095" lvl="0" marL="13716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Восстановленное изображение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91"/>
          <p:cNvSpPr txBox="1"/>
          <p:nvPr/>
        </p:nvSpPr>
        <p:spPr>
          <a:xfrm>
            <a:off x="1998243" y="2558669"/>
            <a:ext cx="1642745" cy="361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(например, MSE или BCE)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92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Итог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92"/>
          <p:cNvSpPr txBox="1"/>
          <p:nvPr/>
        </p:nvSpPr>
        <p:spPr>
          <a:xfrm>
            <a:off x="4205236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86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92"/>
          <p:cNvSpPr txBox="1"/>
          <p:nvPr/>
        </p:nvSpPr>
        <p:spPr>
          <a:xfrm>
            <a:off x="530847" y="635889"/>
            <a:ext cx="3429635" cy="1477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9065" lvl="0" marL="1511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564"/>
              </a:buClr>
              <a:buSzPts val="1100"/>
              <a:buFont typeface="Arial"/>
              <a:buChar char="●"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Бинарная классификация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065" lvl="0" marL="15113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FFD564"/>
              </a:buClr>
              <a:buSzPts val="1100"/>
              <a:buFont typeface="Arial"/>
              <a:buChar char="●"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Многоклассовая классификация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065" lvl="0" marL="15113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FFD564"/>
              </a:buClr>
              <a:buSzPts val="1100"/>
              <a:buFont typeface="Arial"/>
              <a:buChar char="●"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Совмещенная задача на примере задачи локализации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065" lvl="0" marL="15113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FFD564"/>
              </a:buClr>
              <a:buSzPts val="1100"/>
              <a:buFont typeface="Arial"/>
              <a:buChar char="●"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Задача сегментации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065" lvl="0" marL="15113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FFD564"/>
              </a:buClr>
              <a:buSzPts val="1100"/>
              <a:buFont typeface="Arial"/>
              <a:buChar char="●"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Задача сжатия размерности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065" lvl="0" marL="15113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FFD564"/>
              </a:buClr>
              <a:buSzPts val="1100"/>
              <a:buFont typeface="Arial"/>
              <a:buChar char="●"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SuperResolution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