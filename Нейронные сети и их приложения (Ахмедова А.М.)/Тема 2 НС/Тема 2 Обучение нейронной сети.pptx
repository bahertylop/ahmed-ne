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y="3467100" cx="4597400"/>
  <p:notesSz cx="4597400" cy="34671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0C5B65-DA7F-499D-8733-FA3D7B37536D}">
  <a:tblStyle styleId="{CA0C5B65-DA7F-499D-8733-FA3D7B3753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992313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603500" y="0"/>
            <a:ext cx="1992313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60350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 txBox="1"/>
          <p:nvPr>
            <p:ph idx="12" type="sldNum"/>
          </p:nvPr>
        </p:nvSpPr>
        <p:spPr>
          <a:xfrm>
            <a:off x="260350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260350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6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6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6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7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7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7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7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7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7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7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7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530847" y="666783"/>
            <a:ext cx="3546500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ctrTitle"/>
          </p:nvPr>
        </p:nvSpPr>
        <p:spPr>
          <a:xfrm>
            <a:off x="345614" y="1074801"/>
            <a:ext cx="3916965" cy="72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691229" y="1941576"/>
            <a:ext cx="3225736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230409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2373220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4608004" cy="3455989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30847" y="666783"/>
            <a:ext cx="3546500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7.xml"/><Relationship Id="rId3" Type="http://schemas.openxmlformats.org/officeDocument/2006/relationships/hyperlink" Target="https://github.com/Alfira233/NN/blob/main/Metod_gradient_descent.ipynb" TargetMode="Externa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/>
        </p:nvSpPr>
        <p:spPr>
          <a:xfrm>
            <a:off x="392302" y="978712"/>
            <a:ext cx="38234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Тема 2: Обучение нейронной сети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417652" y="1257731"/>
            <a:ext cx="3798050" cy="0"/>
          </a:xfrm>
          <a:custGeom>
            <a:rect b="b" l="l" r="r" t="t"/>
            <a:pathLst>
              <a:path extrusionOk="0" h="120000"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noFill/>
          <a:ln cap="flat" cmpd="sng" w="25300">
            <a:solidFill>
              <a:srgbClr val="FFD56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Обучающая выборка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" name="Google Shape;57;p8"/>
          <p:cNvGraphicFramePr/>
          <p:nvPr/>
        </p:nvGraphicFramePr>
        <p:xfrm>
          <a:off x="3009865" y="590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{CA0C5B65-DA7F-499D-8733-FA3D7B37536D}</a:tableStyleId>
              </a:tblPr>
              <a:tblGrid>
                <a:gridCol w="482625"/>
                <a:gridCol w="482625"/>
              </a:tblGrid>
              <a:tr h="28990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0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0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0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00">
                <a:tc>
                  <a:txBody>
                    <a:bodyPr/>
                    <a:lstStyle/>
                    <a:p>
                      <a:pPr indent="0" lvl="0" marL="12128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128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25">
                <a:tc>
                  <a:txBody>
                    <a:bodyPr/>
                    <a:lstStyle/>
                    <a:p>
                      <a:pPr indent="0" lvl="0" marL="984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="0" baseline="-25000" i="1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84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i="1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Обучающая выборка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395846" y="843394"/>
            <a:ext cx="2360054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065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400"/>
              <a:buFont typeface="Arial"/>
              <a:buChar char="●"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Делится на train, test, valid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" name="Google Shape;65;p9"/>
          <p:cNvGraphicFramePr/>
          <p:nvPr/>
        </p:nvGraphicFramePr>
        <p:xfrm>
          <a:off x="3009865" y="742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{CA0C5B65-DA7F-499D-8733-FA3D7B37536D}</a:tableStyleId>
              </a:tblPr>
              <a:tblGrid>
                <a:gridCol w="520725"/>
                <a:gridCol w="520725"/>
              </a:tblGrid>
              <a:tr h="27085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5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5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5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5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50"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667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50">
                <a:tc>
                  <a:txBody>
                    <a:bodyPr/>
                    <a:lstStyle/>
                    <a:p>
                      <a:pPr indent="0" lvl="0" marL="12128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128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850">
                <a:tc>
                  <a:txBody>
                    <a:bodyPr/>
                    <a:lstStyle/>
                    <a:p>
                      <a:pPr indent="0" lvl="0" marL="984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i="1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84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i="1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165100" y="209550"/>
            <a:ext cx="42672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Тренировочный под-датасет 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ru-RU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используется для обучения нашей модели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Валидационный датасет </a:t>
            </a:r>
            <a:r>
              <a:rPr lang="ru-RU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нужен для того, чтобы подстраивать параметры обучения нашей модели.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Тестовый датасет </a:t>
            </a:r>
            <a:r>
              <a:rPr lang="ru-RU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 на нем проверяется окончательный результат</a:t>
            </a:r>
            <a:endParaRPr/>
          </a:p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/>
        </p:nvSpPr>
        <p:spPr>
          <a:xfrm>
            <a:off x="392302" y="281343"/>
            <a:ext cx="348551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Пример задачи: восстановление зависимости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2391155" y="2865323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х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339191" y="128134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392303" y="1281341"/>
            <a:ext cx="2083652" cy="179567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Пример задачи: восстановление зависимости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2391155" y="2865323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339191" y="128134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339191" y="1200151"/>
            <a:ext cx="2136764" cy="18768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2908300" y="919302"/>
            <a:ext cx="1219200" cy="362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i="1"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  </a:t>
            </a: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20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Пример задачи: восстановление зависимости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2391155" y="2865323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39191" y="128134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339191" y="988339"/>
            <a:ext cx="2416708" cy="20886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2755899" y="788283"/>
            <a:ext cx="14939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baseline="-25000" i="1" lang="ru-RU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ru-RU" sz="20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ru-RU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ru-RU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)+ε</a:t>
            </a:r>
            <a:r>
              <a:rPr baseline="-25000" i="1" lang="ru-RU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0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Пример задачи: восстановление зависимости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2391155" y="2865323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39191" y="128134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339190" y="971550"/>
            <a:ext cx="2340509" cy="20810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2391155" y="788283"/>
            <a:ext cx="206248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ru-RU" sz="14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)+ε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aseline="-25000" i="1" sz="14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)-</a:t>
            </a:r>
            <a:r>
              <a:rPr lang="ru-RU" sz="1400">
                <a:solidFill>
                  <a:srgbClr val="D4D5D6"/>
                </a:solidFill>
                <a:latin typeface="Calibri"/>
                <a:ea typeface="Calibri"/>
                <a:cs typeface="Calibri"/>
                <a:sym typeface="Calibri"/>
              </a:rPr>
              <a:t>скрытая зависимость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Пример задачи: восстановление зависимости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2391155" y="2865323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339191" y="128134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241301" y="1263573"/>
            <a:ext cx="2234654" cy="18134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275168" y="2865323"/>
            <a:ext cx="261532" cy="21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475955" y="691621"/>
            <a:ext cx="2062481" cy="1143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ru-RU" sz="14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)+ε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aseline="-25000" i="1" sz="14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)-</a:t>
            </a:r>
            <a:r>
              <a:rPr lang="ru-RU" sz="1400">
                <a:solidFill>
                  <a:srgbClr val="D4D5D6"/>
                </a:solidFill>
                <a:latin typeface="Calibri"/>
                <a:ea typeface="Calibri"/>
                <a:cs typeface="Calibri"/>
                <a:sym typeface="Calibri"/>
              </a:rPr>
              <a:t>скрытая зависимость</a:t>
            </a:r>
            <a:endParaRPr sz="1400">
              <a:solidFill>
                <a:srgbClr val="D4D5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ru-RU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координата замера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Пример задачи: восстановление зависимости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2391155" y="2865323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339191" y="128134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1275168" y="2865323"/>
            <a:ext cx="1543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39191" y="1200151"/>
            <a:ext cx="2136764" cy="18768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241300" y="2001329"/>
            <a:ext cx="226999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460724" y="641983"/>
            <a:ext cx="2062481" cy="135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ru-RU" sz="14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)+ε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aseline="-25000" i="1" sz="14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)-</a:t>
            </a:r>
            <a:r>
              <a:rPr lang="ru-RU" sz="1400">
                <a:solidFill>
                  <a:srgbClr val="D4D5D6"/>
                </a:solidFill>
                <a:latin typeface="Calibri"/>
                <a:ea typeface="Calibri"/>
                <a:cs typeface="Calibri"/>
                <a:sym typeface="Calibri"/>
              </a:rPr>
              <a:t>скрытая зависимость</a:t>
            </a:r>
            <a:endParaRPr sz="1400">
              <a:solidFill>
                <a:srgbClr val="D4D5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ru-RU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координата замера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измеренное значение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Пример задачи: восстановление зависимости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2391155" y="2865323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339191" y="128134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1275168" y="2865323"/>
            <a:ext cx="1543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324789" y="2001329"/>
            <a:ext cx="14351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96545" y="1200151"/>
            <a:ext cx="2079410" cy="18768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361566" y="2109330"/>
            <a:ext cx="13970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ε</a:t>
            </a:r>
            <a:r>
              <a:rPr baseline="-25000" i="1" lang="ru-RU" sz="1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438313" y="638459"/>
            <a:ext cx="2062481" cy="1123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ru-RU" sz="14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)+ε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aseline="-25000" i="1" sz="14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)-</a:t>
            </a:r>
            <a:r>
              <a:rPr lang="ru-RU" sz="1400">
                <a:solidFill>
                  <a:srgbClr val="D4D5D6"/>
                </a:solidFill>
                <a:latin typeface="Calibri"/>
                <a:ea typeface="Calibri"/>
                <a:cs typeface="Calibri"/>
                <a:sym typeface="Calibri"/>
              </a:rPr>
              <a:t>скрытая зависимость</a:t>
            </a:r>
            <a:endParaRPr sz="1400">
              <a:solidFill>
                <a:srgbClr val="D4D5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ru-RU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ru-RU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координата замера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измеренное значение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r>
              <a:rPr baseline="-25000" i="1" lang="ru-RU" sz="14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 </a:t>
            </a: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шум</a:t>
            </a:r>
            <a:endParaRPr/>
          </a:p>
        </p:txBody>
      </p:sp>
      <p:sp>
        <p:nvSpPr>
          <p:cNvPr id="148" name="Google Shape;148;p17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Компоненты нейронной сети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Компоненты нейронной сети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30847" y="635889"/>
            <a:ext cx="1892935" cy="21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065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Архитектура нейронной сети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Компоненты нейронной сети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30847" y="635889"/>
            <a:ext cx="189293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065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Архитектура нейронной сети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Компоненты нейронной сети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530847" y="635889"/>
            <a:ext cx="189293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065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Архитектура нейронной сети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Метод оптимизации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Компоненты нейронной сети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530847" y="635889"/>
            <a:ext cx="1892935" cy="846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065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Архитектура нейронной сети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Метод оптимизации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Метрики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ctrTitle"/>
          </p:nvPr>
        </p:nvSpPr>
        <p:spPr>
          <a:xfrm>
            <a:off x="165100" y="971550"/>
            <a:ext cx="4267200" cy="1039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Построение первой нейронной сети</a:t>
            </a:r>
            <a:br>
              <a:rPr lang="ru-RU" sz="16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88" name="Google Shape;188;p2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Нейронная сеть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231190" y="1821332"/>
            <a:ext cx="154305" cy="369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х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1959165" y="1713344"/>
            <a:ext cx="14351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99" y="1085850"/>
            <a:ext cx="3475639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Нейронная сеть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231190" y="1821332"/>
            <a:ext cx="1543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1959165" y="1713344"/>
            <a:ext cx="14351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584" y="1160893"/>
            <a:ext cx="3612282" cy="141085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Нейронная сеть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231190" y="1821332"/>
            <a:ext cx="1543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1959165" y="1713344"/>
            <a:ext cx="14351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00" y="764056"/>
            <a:ext cx="3075222" cy="242953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Нейронная сеть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6236" y="187302"/>
            <a:ext cx="2057400" cy="162541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/>
          <p:nvPr/>
        </p:nvSpPr>
        <p:spPr>
          <a:xfrm>
            <a:off x="159870" y="1924763"/>
            <a:ext cx="419622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помощи линейной комбинации сигмоидных функций, можно с любой точностью приблизить ограниченную функцию, с не более чем счётным числом разрывов.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389606" y="1276350"/>
            <a:ext cx="382358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Функция потерь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Функция потерь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257944" y="570684"/>
            <a:ext cx="4212336" cy="70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Возьмем самую простую функцию потерь</a:t>
            </a:r>
            <a:endParaRPr sz="1100">
              <a:solidFill>
                <a:srgbClr val="D4D5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среднеквадратичную ошибку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или Mean Squared Error (</a:t>
            </a:r>
            <a:r>
              <a:rPr b="1"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) для нашей задачи.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type="title"/>
          </p:nvPr>
        </p:nvSpPr>
        <p:spPr>
          <a:xfrm>
            <a:off x="392302" y="133351"/>
            <a:ext cx="3823589" cy="37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Функция потерь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257944" y="570684"/>
            <a:ext cx="4212336" cy="70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Возьмем самую простую функцию потерь</a:t>
            </a:r>
            <a:endParaRPr sz="1400">
              <a:solidFill>
                <a:srgbClr val="D4D5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 среднеквадратичную ошибку или Mean Squared Error (MSE) для нашей задачи.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100" y="1504950"/>
            <a:ext cx="2971800" cy="837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317500" y="209550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Функция потерь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392302" y="570684"/>
            <a:ext cx="3874770" cy="70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Возьмем самую простую функцию потерь среднеквадратичную ошибку или Mean Squared Error (MSE) для нашей задачи.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414" y="1352550"/>
            <a:ext cx="3471486" cy="161273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392302" y="281343"/>
            <a:ext cx="3823589" cy="3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Метрики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393700" y="895350"/>
            <a:ext cx="3683647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065" lvl="0" marL="15113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Метриками можно выбрать любые функции, в том числе функции потерь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13589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Для нашей задачи сделаем метрику «доля точек с отклонением меньше заданного»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392302" y="281343"/>
            <a:ext cx="3823589" cy="3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Метрики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393700" y="895350"/>
            <a:ext cx="3683647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065" lvl="0" marL="15113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Метриками можно выбрать любые функции, в том числе функции потерь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13589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Для нашей задачи сделаем метрику «доля точек с отклонением меньше заданного»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1885950"/>
            <a:ext cx="2618014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ctrTitle"/>
          </p:nvPr>
        </p:nvSpPr>
        <p:spPr>
          <a:xfrm>
            <a:off x="165100" y="971550"/>
            <a:ext cx="4267200" cy="1039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Градиентный спуск</a:t>
            </a:r>
            <a:br>
              <a:rPr lang="ru-RU" sz="16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73" name="Google Shape;273;p3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градиентный спуск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5"/>
          <p:cNvSpPr txBox="1"/>
          <p:nvPr/>
        </p:nvSpPr>
        <p:spPr>
          <a:xfrm>
            <a:off x="106997" y="1086954"/>
            <a:ext cx="16827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2518956" y="2937319"/>
            <a:ext cx="16129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1258976" y="2363711"/>
            <a:ext cx="270510" cy="175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ru-RU" sz="12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i="1" lang="ru-RU" sz="6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=0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5"/>
          <p:cNvSpPr txBox="1"/>
          <p:nvPr/>
        </p:nvSpPr>
        <p:spPr>
          <a:xfrm>
            <a:off x="80022" y="2919501"/>
            <a:ext cx="114300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 �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- некоторые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80022" y="3091573"/>
            <a:ext cx="58483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веса сети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5"/>
          <p:cNvSpPr/>
          <p:nvPr/>
        </p:nvSpPr>
        <p:spPr>
          <a:xfrm>
            <a:off x="2592374" y="3112742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5"/>
          <p:cNvSpPr/>
          <p:nvPr/>
        </p:nvSpPr>
        <p:spPr>
          <a:xfrm>
            <a:off x="193381" y="1291001"/>
            <a:ext cx="56523" cy="30464"/>
          </a:xfrm>
          <a:custGeom>
            <a:rect b="b" l="l" r="r" t="t"/>
            <a:pathLst>
              <a:path extrusionOk="0" h="30464" w="56523">
                <a:moveTo>
                  <a:pt x="0" y="21408"/>
                </a:moveTo>
                <a:lnTo>
                  <a:pt x="12293" y="17193"/>
                </a:lnTo>
                <a:lnTo>
                  <a:pt x="24859" y="8221"/>
                </a:lnTo>
                <a:lnTo>
                  <a:pt x="32928" y="0"/>
                </a:lnTo>
                <a:lnTo>
                  <a:pt x="37396" y="8817"/>
                </a:lnTo>
                <a:lnTo>
                  <a:pt x="46157" y="21349"/>
                </a:lnTo>
                <a:lnTo>
                  <a:pt x="56523" y="30464"/>
                </a:lnTo>
              </a:path>
            </a:pathLst>
          </a:custGeom>
          <a:noFill/>
          <a:ln cap="flat" cmpd="sng" w="10125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11" y="799666"/>
            <a:ext cx="2952750" cy="249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8300" y="590550"/>
            <a:ext cx="1545336" cy="221532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градиентный спуск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1258976" y="2363711"/>
            <a:ext cx="270510" cy="175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ru-RU" sz="12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i="1" lang="ru-RU" sz="6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=0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1258976" y="2615425"/>
            <a:ext cx="526415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𝛻</a:t>
            </a: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aseline="30000" i="1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30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=0</a:t>
            </a:r>
            <a:r>
              <a:rPr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546" y="715217"/>
            <a:ext cx="1684337" cy="22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градиентный спуск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42" y="1047750"/>
            <a:ext cx="4555461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градиентный спуск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" y="895350"/>
            <a:ext cx="4467167" cy="187094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8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градиентный спуск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9" y="848411"/>
            <a:ext cx="4566402" cy="1963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9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градиентный спуск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" y="895350"/>
            <a:ext cx="455502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0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градиентный спуск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03" y="894400"/>
            <a:ext cx="4574674" cy="190729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 функции потерь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241300" y="570684"/>
            <a:ext cx="4135167" cy="1620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Ограничения</a:t>
            </a:r>
            <a:endParaRPr/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841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 потерь должна быть дифференцируема</a:t>
            </a:r>
            <a:endParaRPr/>
          </a:p>
          <a:p>
            <a:pPr indent="-101600" lvl="0" marL="1841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92075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 функции потерь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3"/>
          <p:cNvSpPr txBox="1"/>
          <p:nvPr/>
        </p:nvSpPr>
        <p:spPr>
          <a:xfrm>
            <a:off x="165100" y="570684"/>
            <a:ext cx="4211367" cy="2153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Ограничения</a:t>
            </a:r>
            <a:endParaRPr/>
          </a:p>
          <a:p>
            <a:pPr indent="-171450" lvl="0" marL="1841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 потерь должна быть дифференцируема</a:t>
            </a:r>
            <a:endParaRPr/>
          </a:p>
          <a:p>
            <a:pPr indent="-82550" lvl="0" marL="1841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Однако! </a:t>
            </a:r>
            <a:endParaRPr/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если, например, в какой-то точке или в каком-то небольшом множестве точек (например, множестве точек меры 0), производная не определена, то можно её до-определить для того, чтобы мы могли вычислить производную в любой точке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92075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 функции потерь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4"/>
          <p:cNvSpPr txBox="1"/>
          <p:nvPr/>
        </p:nvSpPr>
        <p:spPr>
          <a:xfrm>
            <a:off x="165100" y="570684"/>
            <a:ext cx="4114799" cy="283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Ограничения</a:t>
            </a:r>
            <a:endParaRPr/>
          </a:p>
          <a:p>
            <a:pPr indent="-171450" lvl="0" marL="1841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 потерь должна быть дифференцируема</a:t>
            </a:r>
            <a:endParaRPr/>
          </a:p>
          <a:p>
            <a:pPr indent="-82550" lvl="0" marL="1841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Однако! </a:t>
            </a:r>
            <a:endParaRPr/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если, например, в какой-то точке или в каком-то небольшом множестве точек (например, множестве точек меры 0), производная не определена, то можно её до-определить для того, чтобы мы могли вычислить производную в любой точке</a:t>
            </a:r>
            <a:endParaRPr/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84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производная функции потерь, в каком-то достаточно большом множестве точек, должна быть равна не нулю, а какому-то значению. 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92075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 функции потерь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5"/>
          <p:cNvSpPr txBox="1"/>
          <p:nvPr/>
        </p:nvSpPr>
        <p:spPr>
          <a:xfrm>
            <a:off x="392302" y="570684"/>
            <a:ext cx="3985895" cy="477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Для  того,  чтобы  можно  было  осуществить  такой  спуск,  нам  и нужна дифференциируемая функция потерь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92075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00" y="1195388"/>
            <a:ext cx="2971800" cy="837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Настройка сети: градиент функции потерь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6"/>
          <p:cNvSpPr txBox="1"/>
          <p:nvPr/>
        </p:nvSpPr>
        <p:spPr>
          <a:xfrm>
            <a:off x="392302" y="570684"/>
            <a:ext cx="3985895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Для  того,  чтобы  можно  было  осуществить  такой  спуск,  нам  и нужна дифференциируемая функция потерь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92075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499" y="1091385"/>
            <a:ext cx="2815293" cy="151032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На функцию потерь накладываются следующие ограничения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7"/>
          <p:cNvSpPr txBox="1"/>
          <p:nvPr/>
        </p:nvSpPr>
        <p:spPr>
          <a:xfrm>
            <a:off x="165100" y="819150"/>
            <a:ext cx="4211367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841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 потерь должна быть в большом наборе точек  дифференцируема</a:t>
            </a:r>
            <a:endParaRPr/>
          </a:p>
          <a:p>
            <a:pPr indent="-82550" lvl="0" marL="1841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984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 потерь должна быть в большом наборе точек не равной нулю</a:t>
            </a:r>
            <a:endParaRPr/>
          </a:p>
          <a:p>
            <a:pPr indent="-196850" lvl="0" marL="2984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270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этом случае мы сможем как-то обучать нашу нейронную сеть. </a:t>
            </a:r>
            <a:endParaRPr/>
          </a:p>
          <a:p>
            <a:pPr indent="-196850" lvl="0" marL="2984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0" marL="2984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7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/>
        </p:nvSpPr>
        <p:spPr>
          <a:xfrm>
            <a:off x="241300" y="570684"/>
            <a:ext cx="4159122" cy="2458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того чтобы осуществить градиентный спуск нам нужно знать производные по всем параметрам. 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Мы знаем производную функции потерь.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Но, как вычислить производные по всем параметрам сети?</a:t>
            </a:r>
            <a:endParaRPr/>
          </a:p>
        </p:txBody>
      </p:sp>
      <p:sp>
        <p:nvSpPr>
          <p:cNvPr id="382" name="Google Shape;382;p48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Расчитываем градиенты: правило цепочки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9"/>
          <p:cNvSpPr txBox="1"/>
          <p:nvPr/>
        </p:nvSpPr>
        <p:spPr>
          <a:xfrm>
            <a:off x="392302" y="570684"/>
            <a:ext cx="400812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знаем производную функции потерь. Но как вычислить производные по всем параметрам сети?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77" y="1047750"/>
            <a:ext cx="4310063" cy="1198563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9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Расчитываем градиенты: правило цепочки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0"/>
          <p:cNvSpPr txBox="1"/>
          <p:nvPr/>
        </p:nvSpPr>
        <p:spPr>
          <a:xfrm>
            <a:off x="392302" y="570684"/>
            <a:ext cx="400812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знаем производную функции потерь. Но как вычислить произ- водные по всем параметрам сети?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88" y="1047750"/>
            <a:ext cx="4516437" cy="17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0"/>
          <p:cNvPicPr preferRelativeResize="0"/>
          <p:nvPr/>
        </p:nvPicPr>
        <p:blipFill/>
        <p:spPr>
          <a:xfrm>
            <a:off x="88900" y="2038350"/>
            <a:ext cx="2812265" cy="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0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Расчитываем градиенты: правило цепочки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1"/>
          <p:cNvSpPr txBox="1"/>
          <p:nvPr/>
        </p:nvSpPr>
        <p:spPr>
          <a:xfrm>
            <a:off x="392302" y="570684"/>
            <a:ext cx="400812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знаем производную функции потерь. Но как вычислить произ- водные по всем параметрам сети?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4" y="960959"/>
            <a:ext cx="4383086" cy="237331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Расчитываем градиенты: правило цепочки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2"/>
          <p:cNvSpPr txBox="1"/>
          <p:nvPr/>
        </p:nvSpPr>
        <p:spPr>
          <a:xfrm>
            <a:off x="392302" y="570684"/>
            <a:ext cx="400812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знаем производную функции потерь. Но как вычислить произ- водные по всем параметрам сети?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91" y="943437"/>
            <a:ext cx="4361609" cy="240506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Расчитываем градиенты: правило цепочки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3"/>
          <p:cNvSpPr txBox="1"/>
          <p:nvPr/>
        </p:nvSpPr>
        <p:spPr>
          <a:xfrm>
            <a:off x="392302" y="570684"/>
            <a:ext cx="400812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знаем производную функции потерь. Но как вычислить произ- водные по всем параметрам сети?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87" y="1019026"/>
            <a:ext cx="4414013" cy="221715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4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Расчитываем градиенты: правило цепочки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4"/>
          <p:cNvSpPr txBox="1"/>
          <p:nvPr/>
        </p:nvSpPr>
        <p:spPr>
          <a:xfrm>
            <a:off x="392302" y="570684"/>
            <a:ext cx="400812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знаем производную функции потерь. Но как вычислить произ- водные по всем параметрам сети?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84" y="923744"/>
            <a:ext cx="4463116" cy="23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5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Расчитываем градиенты: правило цепочки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5"/>
          <p:cNvSpPr txBox="1"/>
          <p:nvPr/>
        </p:nvSpPr>
        <p:spPr>
          <a:xfrm>
            <a:off x="392302" y="570684"/>
            <a:ext cx="400812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знаем производную функции потерь. Но как вычислить произ- водные по всем параметрам сети?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61" y="1008057"/>
            <a:ext cx="4355861" cy="232052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Расчитываем градиенты: правило цепочки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6"/>
          <p:cNvSpPr txBox="1"/>
          <p:nvPr/>
        </p:nvSpPr>
        <p:spPr>
          <a:xfrm>
            <a:off x="392302" y="570684"/>
            <a:ext cx="400812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знаем производную функции потерь. Но как вычислить произ- водные по всем параметрам сети?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25" y="936308"/>
            <a:ext cx="4358175" cy="2405063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7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Расчитываем градиенты: правило цепочки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7"/>
          <p:cNvSpPr txBox="1"/>
          <p:nvPr/>
        </p:nvSpPr>
        <p:spPr>
          <a:xfrm>
            <a:off x="392302" y="570684"/>
            <a:ext cx="400812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знаем производную функции потерь. Но как вычислить произ- водные по всем параметрам сети?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0" y="929499"/>
            <a:ext cx="4368799" cy="2373313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7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8"/>
          <p:cNvSpPr txBox="1"/>
          <p:nvPr/>
        </p:nvSpPr>
        <p:spPr>
          <a:xfrm>
            <a:off x="101600" y="1047750"/>
            <a:ext cx="43647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обратного распространения ошибки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58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9"/>
          <p:cNvSpPr txBox="1"/>
          <p:nvPr/>
        </p:nvSpPr>
        <p:spPr>
          <a:xfrm>
            <a:off x="0" y="938530"/>
            <a:ext cx="4597400" cy="252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9063" lvl="0" marL="182563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Лосс-функция (функция потерь)  была дифференцируема.</a:t>
            </a:r>
            <a:endParaRPr/>
          </a:p>
          <a:p>
            <a:pPr indent="-55562" lvl="0" marL="182563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9063" lvl="0" marL="182563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Все операции, используемые в графе вычислений должны быть дифференцируемы . </a:t>
            </a:r>
            <a:endParaRPr/>
          </a:p>
          <a:p>
            <a:pPr indent="-55562" lvl="0" marL="182563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82563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Производная лосс функции по выходам нейронной сети должна иметь некоторые ненулевые значения на достаточно большом множестве точек. </a:t>
            </a:r>
            <a:endParaRPr/>
          </a:p>
          <a:p>
            <a:pPr indent="-55562" lvl="0" marL="182563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82563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Операции, используемые в графе вычисления, должны иметь ненулевые производные на достаточно большом множестве точек.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59"/>
          <p:cNvSpPr txBox="1"/>
          <p:nvPr>
            <p:ph type="title"/>
          </p:nvPr>
        </p:nvSpPr>
        <p:spPr>
          <a:xfrm>
            <a:off x="165100" y="133350"/>
            <a:ext cx="4288536" cy="766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того чтобы иметь возможность посчитать производную лосс-функции по любому параметру, необходимо, чтобы</a:t>
            </a:r>
            <a:endParaRPr sz="1600">
              <a:solidFill>
                <a:srgbClr val="FFC000"/>
              </a:solidFill>
            </a:endParaRPr>
          </a:p>
        </p:txBody>
      </p:sp>
      <p:sp>
        <p:nvSpPr>
          <p:cNvPr id="468" name="Google Shape;468;p59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0"/>
          <p:cNvSpPr txBox="1"/>
          <p:nvPr/>
        </p:nvSpPr>
        <p:spPr>
          <a:xfrm>
            <a:off x="88900" y="938530"/>
            <a:ext cx="4364736" cy="252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6850" lvl="0" marL="29845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60"/>
          <p:cNvSpPr txBox="1"/>
          <p:nvPr>
            <p:ph type="title"/>
          </p:nvPr>
        </p:nvSpPr>
        <p:spPr>
          <a:xfrm>
            <a:off x="127000" y="209550"/>
            <a:ext cx="4288536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0215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Понимание обратного распространения ошибки очень важно для того чтобы дальше проходить наш курс!!!</a:t>
            </a:r>
            <a:endParaRPr sz="14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0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1"/>
          <p:cNvSpPr txBox="1"/>
          <p:nvPr>
            <p:ph idx="1" type="body"/>
          </p:nvPr>
        </p:nvSpPr>
        <p:spPr>
          <a:xfrm>
            <a:off x="2451099" y="666783"/>
            <a:ext cx="1981201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2F2F2"/>
                </a:solidFill>
              </a:rPr>
              <a:t>НЕ ПОДХОДИТ</a:t>
            </a:r>
            <a:endParaRPr/>
          </a:p>
        </p:txBody>
      </p:sp>
      <p:pic>
        <p:nvPicPr>
          <p:cNvPr id="482" name="Google Shape;48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532" y="533400"/>
            <a:ext cx="20383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2"/>
          <p:cNvSpPr txBox="1"/>
          <p:nvPr>
            <p:ph idx="1" type="body"/>
          </p:nvPr>
        </p:nvSpPr>
        <p:spPr>
          <a:xfrm>
            <a:off x="2451100" y="819150"/>
            <a:ext cx="1828801" cy="202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2F2F2"/>
                </a:solidFill>
              </a:rPr>
              <a:t>ПОДХОДИТ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F2F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F2F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F2F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2F2F2"/>
                </a:solidFill>
              </a:rPr>
              <a:t>ПОДХОДИТ</a:t>
            </a:r>
            <a:endParaRPr/>
          </a:p>
        </p:txBody>
      </p:sp>
      <p:pic>
        <p:nvPicPr>
          <p:cNvPr id="489" name="Google Shape;48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31" y="1800290"/>
            <a:ext cx="1409700" cy="83300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" name="Google Shape;491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499" y="895350"/>
            <a:ext cx="1890165" cy="532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3"/>
          <p:cNvSpPr txBox="1"/>
          <p:nvPr/>
        </p:nvSpPr>
        <p:spPr>
          <a:xfrm>
            <a:off x="392302" y="978712"/>
            <a:ext cx="38234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Тема 3: Реализация градиентного спуска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3"/>
          <p:cNvSpPr/>
          <p:nvPr/>
        </p:nvSpPr>
        <p:spPr>
          <a:xfrm>
            <a:off x="417652" y="1257731"/>
            <a:ext cx="3798050" cy="0"/>
          </a:xfrm>
          <a:custGeom>
            <a:rect b="b" l="l" r="r" t="t"/>
            <a:pathLst>
              <a:path extrusionOk="0" h="120000"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noFill/>
          <a:ln cap="flat" cmpd="sng" w="25300">
            <a:solidFill>
              <a:srgbClr val="FFD56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4"/>
          <p:cNvSpPr txBox="1"/>
          <p:nvPr>
            <p:ph idx="1" type="body"/>
          </p:nvPr>
        </p:nvSpPr>
        <p:spPr>
          <a:xfrm>
            <a:off x="469900" y="971550"/>
            <a:ext cx="3546500" cy="1219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4" name="Google Shape;50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00" y="199465"/>
            <a:ext cx="3605212" cy="2901973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6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00" y="361950"/>
            <a:ext cx="2752725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6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50" y="361950"/>
            <a:ext cx="40005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6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098" y="133351"/>
            <a:ext cx="357120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7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100" y="209550"/>
            <a:ext cx="3184927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68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300" y="209550"/>
            <a:ext cx="3437431" cy="300513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69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0"/>
          <p:cNvSpPr txBox="1"/>
          <p:nvPr>
            <p:ph type="ctrTitle"/>
          </p:nvPr>
        </p:nvSpPr>
        <p:spPr>
          <a:xfrm>
            <a:off x="393700" y="1074800"/>
            <a:ext cx="3868879" cy="887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FFC000"/>
                </a:solidFill>
              </a:rPr>
              <a:t>Запрограммируем градиентный спуск</a:t>
            </a:r>
            <a:endParaRPr/>
          </a:p>
        </p:txBody>
      </p:sp>
      <p:sp>
        <p:nvSpPr>
          <p:cNvPr id="541" name="Google Shape;541;p70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38" y="398463"/>
            <a:ext cx="4424362" cy="2671762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7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99" y="514350"/>
            <a:ext cx="4435523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7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688" y="666750"/>
            <a:ext cx="4010025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7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35" y="309465"/>
            <a:ext cx="4422565" cy="292007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4"/>
          <p:cNvSpPr txBox="1"/>
          <p:nvPr>
            <p:ph idx="12" type="sldNum"/>
          </p:nvPr>
        </p:nvSpPr>
        <p:spPr>
          <a:xfrm>
            <a:off x="4203700" y="3257550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" y="133350"/>
            <a:ext cx="4413738" cy="3130033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5"/>
          <p:cNvSpPr txBox="1"/>
          <p:nvPr>
            <p:ph idx="12" type="sldNum"/>
          </p:nvPr>
        </p:nvSpPr>
        <p:spPr>
          <a:xfrm>
            <a:off x="4241726" y="3263383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" y="209550"/>
            <a:ext cx="4463638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" y="361950"/>
            <a:ext cx="4493524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7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" y="166688"/>
            <a:ext cx="4532313" cy="3135312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78"/>
          <p:cNvSpPr txBox="1"/>
          <p:nvPr>
            <p:ph idx="12" type="sldNum"/>
          </p:nvPr>
        </p:nvSpPr>
        <p:spPr>
          <a:xfrm>
            <a:off x="4203700" y="3302000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50" y="31750"/>
            <a:ext cx="3667125" cy="340518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79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413" y="50800"/>
            <a:ext cx="3582987" cy="33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80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46" y="437078"/>
            <a:ext cx="4548554" cy="2439472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8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075" y="339725"/>
            <a:ext cx="3141663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8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3"/>
          <p:cNvSpPr/>
          <p:nvPr/>
        </p:nvSpPr>
        <p:spPr>
          <a:xfrm>
            <a:off x="88900" y="209550"/>
            <a:ext cx="4267200" cy="216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Пройти по ссылке.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https://github.com/Alfira233/NN/blob/main/Metod_gradient_descent.ipynb</a:t>
            </a:r>
            <a:endParaRPr sz="18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Здесь хранится код, который был представлен ранее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8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349" y="625142"/>
            <a:ext cx="3778952" cy="358231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84"/>
          <p:cNvSpPr/>
          <p:nvPr/>
        </p:nvSpPr>
        <p:spPr>
          <a:xfrm>
            <a:off x="88900" y="40367"/>
            <a:ext cx="44196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</a:t>
            </a:r>
            <a:endParaRPr sz="16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889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Реализуйте расчет градиента для функции</a:t>
            </a:r>
            <a:endParaRPr/>
          </a:p>
        </p:txBody>
      </p:sp>
      <p:sp>
        <p:nvSpPr>
          <p:cNvPr id="626" name="Google Shape;626;p84"/>
          <p:cNvSpPr/>
          <p:nvPr/>
        </p:nvSpPr>
        <p:spPr>
          <a:xfrm>
            <a:off x="88900" y="999792"/>
            <a:ext cx="4419600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Реализуйте градиентный спуск для той же функции. Пусть начальным приближением будет                                     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шаг градиентного спуска </a:t>
            </a:r>
            <a:r>
              <a:rPr i="1"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alpha=0.001.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Чему будет равен              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Перепишите пример 2, используя torch.optim.SGD. Изменился ли ответ?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Постройте график реализации градиентного спуска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Подсказка: </a:t>
            </a: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перемножить все значения функции можно с помощью метода </a:t>
            </a:r>
            <a:r>
              <a:rPr lang="ru-RU" sz="1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.prod()</a:t>
            </a:r>
            <a:endParaRPr sz="12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7" name="Google Shape;627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1672" y="1900929"/>
            <a:ext cx="501015" cy="28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9671" y="1372832"/>
            <a:ext cx="1502335" cy="20701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8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