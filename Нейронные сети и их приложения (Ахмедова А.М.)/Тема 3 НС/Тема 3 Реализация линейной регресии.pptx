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3467100" cx="4597400"/>
  <p:notesSz cx="4597400" cy="34671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1992313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603500" y="0"/>
            <a:ext cx="1992313" cy="173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3292475"/>
            <a:ext cx="1992313" cy="174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603500" y="3292475"/>
            <a:ext cx="1992313" cy="174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3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7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8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9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0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1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:notes"/>
          <p:cNvSpPr txBox="1"/>
          <p:nvPr>
            <p:ph idx="1" type="body"/>
          </p:nvPr>
        </p:nvSpPr>
        <p:spPr>
          <a:xfrm>
            <a:off x="460375" y="1646238"/>
            <a:ext cx="3676650" cy="15605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2:notes"/>
          <p:cNvSpPr/>
          <p:nvPr>
            <p:ph idx="2" type="sldImg"/>
          </p:nvPr>
        </p:nvSpPr>
        <p:spPr>
          <a:xfrm>
            <a:off x="1436688" y="260350"/>
            <a:ext cx="1724025" cy="13001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230409" y="797433"/>
            <a:ext cx="2004564" cy="2288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2" type="body"/>
          </p:nvPr>
        </p:nvSpPr>
        <p:spPr>
          <a:xfrm>
            <a:off x="2373220" y="797433"/>
            <a:ext cx="2004564" cy="2288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ctrTitle"/>
          </p:nvPr>
        </p:nvSpPr>
        <p:spPr>
          <a:xfrm>
            <a:off x="345614" y="1074801"/>
            <a:ext cx="3916965" cy="72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691229" y="1941576"/>
            <a:ext cx="3225736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530847" y="666783"/>
            <a:ext cx="3546500" cy="95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4608004" cy="3455989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530847" y="666783"/>
            <a:ext cx="3546500" cy="95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4192536" y="3193592"/>
            <a:ext cx="260912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/11</a:t>
            </a:r>
            <a:endParaRPr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hub.com/Alfira233/NN/blob/main/Line_regr_sin.ipynb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/>
        </p:nvSpPr>
        <p:spPr>
          <a:xfrm>
            <a:off x="392302" y="978712"/>
            <a:ext cx="382340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Тема 4: Реализация линейной регресии</a:t>
            </a:r>
            <a:endParaRPr sz="1600">
              <a:solidFill>
                <a:srgbClr val="FFD56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417652" y="1257731"/>
            <a:ext cx="3798050" cy="0"/>
          </a:xfrm>
          <a:custGeom>
            <a:rect b="b" l="l" r="r" t="t"/>
            <a:pathLst>
              <a:path extrusionOk="0" h="120000" w="3798050">
                <a:moveTo>
                  <a:pt x="0" y="0"/>
                </a:moveTo>
                <a:lnTo>
                  <a:pt x="3798050" y="0"/>
                </a:lnTo>
              </a:path>
            </a:pathLst>
          </a:custGeom>
          <a:noFill/>
          <a:ln cap="flat" cmpd="sng" w="25300">
            <a:solidFill>
              <a:srgbClr val="FFD56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Задача регрессии (восстановление зависимости)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 txBox="1"/>
          <p:nvPr/>
        </p:nvSpPr>
        <p:spPr>
          <a:xfrm>
            <a:off x="2391155" y="2865323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339191" y="128134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241300" y="819151"/>
            <a:ext cx="2819400" cy="22578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Задача регрессии (восстановление зависимости)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2070100" y="2958985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241300" y="1708012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241300" y="1850123"/>
            <a:ext cx="1828800" cy="134346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9761" y="666750"/>
            <a:ext cx="2171957" cy="148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392302" y="281343"/>
            <a:ext cx="3823589" cy="22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Задача регрессии (восстановление зависимости)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971550"/>
            <a:ext cx="2590800" cy="158598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/>
          <p:nvPr/>
        </p:nvSpPr>
        <p:spPr>
          <a:xfrm>
            <a:off x="2984500" y="1657350"/>
            <a:ext cx="152400" cy="152400"/>
          </a:xfrm>
          <a:prstGeom prst="ellipse">
            <a:avLst/>
          </a:prstGeom>
          <a:solidFill>
            <a:schemeClr val="accent1"/>
          </a:solidFill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10"/>
          <p:cNvCxnSpPr>
            <a:stCxn id="76" idx="3"/>
            <a:endCxn id="76" idx="7"/>
          </p:cNvCxnSpPr>
          <p:nvPr/>
        </p:nvCxnSpPr>
        <p:spPr>
          <a:xfrm flipH="1" rot="10800000">
            <a:off x="3006818" y="1679732"/>
            <a:ext cx="107700" cy="1077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0"/>
          <p:cNvSpPr/>
          <p:nvPr/>
        </p:nvSpPr>
        <p:spPr>
          <a:xfrm>
            <a:off x="3006818" y="1962150"/>
            <a:ext cx="434882" cy="152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MSE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0"/>
          <p:cNvSpPr txBox="1"/>
          <p:nvPr/>
        </p:nvSpPr>
        <p:spPr>
          <a:xfrm>
            <a:off x="3670300" y="1899850"/>
            <a:ext cx="8136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Средний квадрат ошибки</a:t>
            </a:r>
            <a:endParaRPr/>
          </a:p>
        </p:txBody>
      </p:sp>
      <p:cxnSp>
        <p:nvCxnSpPr>
          <p:cNvPr id="80" name="Google Shape;80;p10"/>
          <p:cNvCxnSpPr>
            <a:stCxn id="79" idx="1"/>
            <a:endCxn id="78" idx="3"/>
          </p:cNvCxnSpPr>
          <p:nvPr/>
        </p:nvCxnSpPr>
        <p:spPr>
          <a:xfrm rot="10800000">
            <a:off x="3441700" y="2038350"/>
            <a:ext cx="2286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1" name="Google Shape;81;p10"/>
          <p:cNvSpPr txBox="1"/>
          <p:nvPr/>
        </p:nvSpPr>
        <p:spPr>
          <a:xfrm>
            <a:off x="2991338" y="971550"/>
            <a:ext cx="81362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Линейная функция активации</a:t>
            </a:r>
            <a:endParaRPr/>
          </a:p>
        </p:txBody>
      </p:sp>
      <p:cxnSp>
        <p:nvCxnSpPr>
          <p:cNvPr id="82" name="Google Shape;82;p10"/>
          <p:cNvCxnSpPr>
            <a:endCxn id="76" idx="0"/>
          </p:cNvCxnSpPr>
          <p:nvPr/>
        </p:nvCxnSpPr>
        <p:spPr>
          <a:xfrm flipH="1">
            <a:off x="3060700" y="1248450"/>
            <a:ext cx="54000" cy="4089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type="ctrTitle"/>
          </p:nvPr>
        </p:nvSpPr>
        <p:spPr>
          <a:xfrm>
            <a:off x="393700" y="1074800"/>
            <a:ext cx="3868879" cy="887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FFC000"/>
                </a:solidFill>
              </a:rPr>
              <a:t>Реализации задачи линейной регрессии</a:t>
            </a:r>
            <a:endParaRPr/>
          </a:p>
        </p:txBody>
      </p:sp>
      <p:sp>
        <p:nvSpPr>
          <p:cNvPr id="88" name="Google Shape;88;p1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/>
          <p:nvPr>
            <p:ph type="ctrTitle"/>
          </p:nvPr>
        </p:nvSpPr>
        <p:spPr>
          <a:xfrm>
            <a:off x="380922" y="666750"/>
            <a:ext cx="3868879" cy="887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Задача линейной регрессии:</a:t>
            </a:r>
            <a:b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как предсказать функцию </a:t>
            </a:r>
            <a:r>
              <a:rPr i="1"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y= sin(х) </a:t>
            </a:r>
            <a:endParaRPr/>
          </a:p>
        </p:txBody>
      </p:sp>
      <p:sp>
        <p:nvSpPr>
          <p:cNvPr id="94" name="Google Shape;94;p1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0" y="28361"/>
            <a:ext cx="4572000" cy="317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4249801" y="327070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91" y="133350"/>
            <a:ext cx="4520678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00" y="209550"/>
            <a:ext cx="4472162" cy="233706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23" y="133350"/>
            <a:ext cx="4530238" cy="271621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815" y="666750"/>
            <a:ext cx="3914775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0" y="133350"/>
            <a:ext cx="4574781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8" y="57150"/>
            <a:ext cx="4590562" cy="299196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29" y="209550"/>
            <a:ext cx="4532771" cy="229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23" y="209549"/>
            <a:ext cx="4543886" cy="280581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9" y="285750"/>
            <a:ext cx="4554284" cy="1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60" y="57150"/>
            <a:ext cx="4506809" cy="296148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ctrTitle"/>
          </p:nvPr>
        </p:nvSpPr>
        <p:spPr>
          <a:xfrm>
            <a:off x="241300" y="1074800"/>
            <a:ext cx="4212336" cy="887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rgbClr val="FFC000"/>
                </a:solidFill>
              </a:rPr>
              <a:t>Где мы могли ошибиться?</a:t>
            </a: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65" y="285750"/>
            <a:ext cx="4513086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3350"/>
            <a:ext cx="4597400" cy="29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330" y="209550"/>
            <a:ext cx="4492248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33350"/>
            <a:ext cx="4580203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34" y="285750"/>
            <a:ext cx="4508319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30" y="148003"/>
            <a:ext cx="4489939" cy="293328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68" y="209549"/>
            <a:ext cx="4511042" cy="243840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88" y="133350"/>
            <a:ext cx="4543104" cy="297873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/>
          <p:nvPr/>
        </p:nvSpPr>
        <p:spPr>
          <a:xfrm>
            <a:off x="88900" y="40367"/>
            <a:ext cx="4419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0215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Основные этапы создания нейросети:</a:t>
            </a:r>
            <a:endParaRPr/>
          </a:p>
        </p:txBody>
      </p:sp>
      <p:sp>
        <p:nvSpPr>
          <p:cNvPr id="220" name="Google Shape;220;p33"/>
          <p:cNvSpPr/>
          <p:nvPr/>
        </p:nvSpPr>
        <p:spPr>
          <a:xfrm>
            <a:off x="241300" y="423373"/>
            <a:ext cx="4191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rabicPeriod"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Взяли трейновый датасет в правильном формате</a:t>
            </a:r>
            <a:endParaRPr/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rabicPeriod"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Взяли валидационный датасет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rabicPeriod"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Задали архитектуру нейросети в классе SineNet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rabicPeriod"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Задали оптимайзер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rabicPeriod"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Задали loss function (функция потерь)</a:t>
            </a:r>
            <a:endParaRPr/>
          </a:p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rabicPeriod"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Провели обучение нейросети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221" name="Google Shape;221;p3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60" y="57150"/>
            <a:ext cx="4506809" cy="296148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4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/>
          <p:nvPr/>
        </p:nvSpPr>
        <p:spPr>
          <a:xfrm>
            <a:off x="88900" y="209550"/>
            <a:ext cx="4267200" cy="216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021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 ссылке</a:t>
            </a:r>
            <a:endParaRPr/>
          </a:p>
          <a:p>
            <a:pPr indent="45021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https://github.com/Alfira233/NN/blob/main/Line_regr_sin.ipynb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0215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хранится код, который был представлен ранее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/>
          <p:nvPr/>
        </p:nvSpPr>
        <p:spPr>
          <a:xfrm>
            <a:off x="88900" y="40367"/>
            <a:ext cx="4419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0215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Задача:</a:t>
            </a:r>
            <a:endParaRPr sz="16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6"/>
          <p:cNvSpPr/>
          <p:nvPr/>
        </p:nvSpPr>
        <p:spPr>
          <a:xfrm>
            <a:off x="88900" y="423373"/>
            <a:ext cx="44196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Обучить нейронную сеть для задачи регрессии: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Возьмем более сложную функцию в качестве таргета: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Кроме того, мы хотим получить хорошую метрику MAE на валидации: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тогда как знакомая нам MSE выглядит как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240" name="Google Shape;24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00" y="1047750"/>
            <a:ext cx="1295400" cy="250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800" y="1875155"/>
            <a:ext cx="3113405" cy="283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535" y="2733824"/>
            <a:ext cx="3156585" cy="31559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/>
          <p:nvPr/>
        </p:nvSpPr>
        <p:spPr>
          <a:xfrm>
            <a:off x="241300" y="57150"/>
            <a:ext cx="41148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Вот пример того, как нейросеть может отрабатывать на данной функции:</a:t>
            </a:r>
            <a:endParaRPr/>
          </a:p>
        </p:txBody>
      </p:sp>
      <p:pic>
        <p:nvPicPr>
          <p:cNvPr id="249" name="Google Shape;24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72" y="720290"/>
            <a:ext cx="4029455" cy="165936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7"/>
          <p:cNvSpPr/>
          <p:nvPr/>
        </p:nvSpPr>
        <p:spPr>
          <a:xfrm>
            <a:off x="241300" y="2343150"/>
            <a:ext cx="4191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Данный пример показывает MAE на валидации ~0.021 </a:t>
            </a:r>
            <a:endParaRPr/>
          </a:p>
        </p:txBody>
      </p:sp>
      <p:sp>
        <p:nvSpPr>
          <p:cNvPr id="251" name="Google Shape;251;p3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/>
          <p:nvPr/>
        </p:nvSpPr>
        <p:spPr>
          <a:xfrm>
            <a:off x="88900" y="211612"/>
            <a:ext cx="4419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0215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Что можно варьировать</a:t>
            </a:r>
            <a:endParaRPr sz="16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8"/>
          <p:cNvSpPr/>
          <p:nvPr/>
        </p:nvSpPr>
        <p:spPr>
          <a:xfrm>
            <a:off x="88900" y="423373"/>
            <a:ext cx="44196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Архитектуру сети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loss-функцию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lr оптимизатора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Количество эпох в обучении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Удачи!</a:t>
            </a:r>
            <a:endParaRPr/>
          </a:p>
        </p:txBody>
      </p:sp>
      <p:sp>
        <p:nvSpPr>
          <p:cNvPr id="258" name="Google Shape;258;p3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