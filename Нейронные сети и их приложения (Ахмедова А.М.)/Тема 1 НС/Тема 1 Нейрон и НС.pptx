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</p:sldIdLst>
  <p:sldSz cy="3467100" cx="4597400"/>
  <p:notesSz cx="4597400" cy="3467100"/>
  <p:embeddedFontLst>
    <p:embeddedFont>
      <p:font typeface="Quattrocento Sans"/>
      <p:regular r:id="rId74"/>
      <p:bold r:id="rId75"/>
      <p:italic r:id="rId76"/>
      <p:boldItalic r:id="rId7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79C74CB-AA8B-467A-80D8-45226C0A96BB}">
  <a:tblStyle styleId="{F79C74CB-AA8B-467A-80D8-45226C0A96B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font" Target="fonts/QuattrocentoSans-bold.fntdata"/><Relationship Id="rId30" Type="http://schemas.openxmlformats.org/officeDocument/2006/relationships/slide" Target="slides/slide24.xml"/><Relationship Id="rId74" Type="http://schemas.openxmlformats.org/officeDocument/2006/relationships/font" Target="fonts/QuattrocentoSans-regular.fntdata"/><Relationship Id="rId33" Type="http://schemas.openxmlformats.org/officeDocument/2006/relationships/slide" Target="slides/slide27.xml"/><Relationship Id="rId77" Type="http://schemas.openxmlformats.org/officeDocument/2006/relationships/font" Target="fonts/QuattrocentoSans-boldItalic.fntdata"/><Relationship Id="rId32" Type="http://schemas.openxmlformats.org/officeDocument/2006/relationships/slide" Target="slides/slide26.xml"/><Relationship Id="rId76" Type="http://schemas.openxmlformats.org/officeDocument/2006/relationships/font" Target="fonts/QuattrocentoSans-italic.fntdata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1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2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2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2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p2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p2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2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2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2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3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3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3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3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3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3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3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3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3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3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3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0" name="Google Shape;720;p3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7" name="Google Shape;737;p3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3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8" name="Google Shape;758;p3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9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4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1" name="Google Shape;781;p4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4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4" name="Google Shape;804;p4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p4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6" name="Google Shape;826;p4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p4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9" name="Google Shape;849;p4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1" name="Shape 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2" name="Google Shape;872;p4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3" name="Google Shape;873;p4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1" name="Shape 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2" name="Google Shape;882;p4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3" name="Google Shape;883;p4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0" name="Shape 8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1" name="Google Shape;891;p4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4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7" name="Shape 9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8" name="Google Shape;908;p4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9" name="Google Shape;909;p4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7" name="Shape 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8" name="Google Shape;928;p4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9" name="Google Shape;929;p4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p4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3" name="Google Shape;953;p4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5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9" name="Google Shape;969;p5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4" name="Shape 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5" name="Google Shape;975;p5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6" name="Google Shape;976;p5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2" name="Google Shape;982;p5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3" name="Google Shape;983;p5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8" name="Shape 9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9" name="Google Shape;989;p5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0" name="Google Shape;990;p5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5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7" name="Google Shape;997;p5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5" name="Shape 10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6" name="Google Shape;1006;p5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7" name="Google Shape;1007;p5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6" name="Google Shape;1016;p5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3" name="Google Shape;1023;p5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8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58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0" name="Google Shape;1030;p58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p59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5" name="Google Shape;1045;p59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60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1" name="Google Shape;1061;p60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5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6" name="Google Shape;1076;p61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7" name="Google Shape;1077;p61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62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4" name="Google Shape;1094;p62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0" name="Google Shape;1110;p63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1" name="Google Shape;1111;p63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p64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8" name="Google Shape;1128;p64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p65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5" name="Google Shape;1145;p65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66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2" name="Google Shape;1162;p66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67:notes"/>
          <p:cNvSpPr txBox="1"/>
          <p:nvPr>
            <p:ph idx="1" type="body"/>
          </p:nvPr>
        </p:nvSpPr>
        <p:spPr>
          <a:xfrm>
            <a:off x="459725" y="1646850"/>
            <a:ext cx="3677900" cy="1560175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8" name="Google Shape;1168;p67:notes"/>
          <p:cNvSpPr/>
          <p:nvPr>
            <p:ph idx="2" type="sldImg"/>
          </p:nvPr>
        </p:nvSpPr>
        <p:spPr>
          <a:xfrm>
            <a:off x="766375" y="260025"/>
            <a:ext cx="3065075" cy="1300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obj">
  <p:cSld name="OBJEC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84899" y="635889"/>
            <a:ext cx="3638396" cy="13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30409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2" type="body"/>
          </p:nvPr>
        </p:nvSpPr>
        <p:spPr>
          <a:xfrm>
            <a:off x="2373220" y="797433"/>
            <a:ext cx="2004564" cy="22882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/>
          <p:nvPr>
            <p:ph type="ctrTitle"/>
          </p:nvPr>
        </p:nvSpPr>
        <p:spPr>
          <a:xfrm>
            <a:off x="345614" y="1074801"/>
            <a:ext cx="3916965" cy="728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" type="subTitle"/>
          </p:nvPr>
        </p:nvSpPr>
        <p:spPr>
          <a:xfrm>
            <a:off x="691229" y="1941576"/>
            <a:ext cx="3225736" cy="866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0" y="0"/>
            <a:ext cx="4608004" cy="3455989"/>
          </a:xfrm>
          <a:prstGeom prst="rect">
            <a:avLst/>
          </a:prstGeom>
          <a:blipFill rotWithShape="1">
            <a:blip r:embed="rId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484899" y="635889"/>
            <a:ext cx="3638396" cy="13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566786" y="3224403"/>
            <a:ext cx="1474622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0" type="dt"/>
          </p:nvPr>
        </p:nvSpPr>
        <p:spPr>
          <a:xfrm>
            <a:off x="230409" y="3224403"/>
            <a:ext cx="1059884" cy="1733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0" lvl="0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25400" marR="0" rtl="0" algn="l">
              <a:lnSpc>
                <a:spcPct val="100000"/>
              </a:lnSpc>
              <a:spcBef>
                <a:spcPts val="0"/>
              </a:spcBef>
              <a:buNone/>
              <a:defRPr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254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r>
              <a:rPr lang="ru-RU"/>
              <a:t>/13</a:t>
            </a:r>
            <a:endParaRPr>
              <a:solidFill>
                <a:schemeClr val="dk1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9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9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9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7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3.png"/><Relationship Id="rId4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3.png"/><Relationship Id="rId4" Type="http://schemas.openxmlformats.org/officeDocument/2006/relationships/image" Target="../media/image1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3.png"/><Relationship Id="rId4" Type="http://schemas.openxmlformats.org/officeDocument/2006/relationships/image" Target="../media/image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3.png"/><Relationship Id="rId4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90.png"/><Relationship Id="rId4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5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2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0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7.png"/><Relationship Id="rId4" Type="http://schemas.openxmlformats.org/officeDocument/2006/relationships/image" Target="../media/image2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2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35.png"/><Relationship Id="rId4" Type="http://schemas.openxmlformats.org/officeDocument/2006/relationships/image" Target="../media/image26.png"/><Relationship Id="rId5" Type="http://schemas.openxmlformats.org/officeDocument/2006/relationships/image" Target="../media/image31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35.png"/><Relationship Id="rId4" Type="http://schemas.openxmlformats.org/officeDocument/2006/relationships/image" Target="../media/image32.png"/><Relationship Id="rId5" Type="http://schemas.openxmlformats.org/officeDocument/2006/relationships/image" Target="../media/image26.png"/><Relationship Id="rId6" Type="http://schemas.openxmlformats.org/officeDocument/2006/relationships/image" Target="../media/image34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39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26.png"/><Relationship Id="rId6" Type="http://schemas.openxmlformats.org/officeDocument/2006/relationships/image" Target="../media/image42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35.png"/><Relationship Id="rId4" Type="http://schemas.openxmlformats.org/officeDocument/2006/relationships/image" Target="../media/image44.png"/><Relationship Id="rId5" Type="http://schemas.openxmlformats.org/officeDocument/2006/relationships/image" Target="../media/image26.png"/><Relationship Id="rId6" Type="http://schemas.openxmlformats.org/officeDocument/2006/relationships/image" Target="../media/image4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5.png"/><Relationship Id="rId4" Type="http://schemas.openxmlformats.org/officeDocument/2006/relationships/image" Target="../media/image48.png"/><Relationship Id="rId5" Type="http://schemas.openxmlformats.org/officeDocument/2006/relationships/image" Target="../media/image26.png"/><Relationship Id="rId6" Type="http://schemas.openxmlformats.org/officeDocument/2006/relationships/image" Target="../media/image54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3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2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35.png"/><Relationship Id="rId4" Type="http://schemas.openxmlformats.org/officeDocument/2006/relationships/image" Target="../media/image52.png"/><Relationship Id="rId5" Type="http://schemas.openxmlformats.org/officeDocument/2006/relationships/image" Target="../media/image55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52.png"/><Relationship Id="rId4" Type="http://schemas.openxmlformats.org/officeDocument/2006/relationships/image" Target="../media/image57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5.png"/><Relationship Id="rId4" Type="http://schemas.openxmlformats.org/officeDocument/2006/relationships/image" Target="../media/image58.png"/><Relationship Id="rId5" Type="http://schemas.openxmlformats.org/officeDocument/2006/relationships/image" Target="../media/image52.png"/><Relationship Id="rId6" Type="http://schemas.openxmlformats.org/officeDocument/2006/relationships/image" Target="../media/image62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4.png"/><Relationship Id="rId4" Type="http://schemas.openxmlformats.org/officeDocument/2006/relationships/image" Target="../media/image52.png"/><Relationship Id="rId5" Type="http://schemas.openxmlformats.org/officeDocument/2006/relationships/image" Target="../media/image6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6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67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68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69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69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4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2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1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96.png"/><Relationship Id="rId4" Type="http://schemas.openxmlformats.org/officeDocument/2006/relationships/image" Target="../media/image74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96.png"/><Relationship Id="rId4" Type="http://schemas.openxmlformats.org/officeDocument/2006/relationships/image" Target="../media/image75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96.png"/><Relationship Id="rId4" Type="http://schemas.openxmlformats.org/officeDocument/2006/relationships/image" Target="../media/image76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96.png"/><Relationship Id="rId4" Type="http://schemas.openxmlformats.org/officeDocument/2006/relationships/image" Target="../media/image78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96.png"/><Relationship Id="rId4" Type="http://schemas.openxmlformats.org/officeDocument/2006/relationships/image" Target="../media/image81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96.png"/><Relationship Id="rId4" Type="http://schemas.openxmlformats.org/officeDocument/2006/relationships/image" Target="../media/image82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96.png"/><Relationship Id="rId4" Type="http://schemas.openxmlformats.org/officeDocument/2006/relationships/image" Target="../media/image84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96.png"/><Relationship Id="rId4" Type="http://schemas.openxmlformats.org/officeDocument/2006/relationships/image" Target="../media/image87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7F7F7F"/>
            </a:gs>
            <a:gs pos="51000">
              <a:srgbClr val="B8B8B8"/>
            </a:gs>
            <a:gs pos="100000">
              <a:schemeClr val="accent1"/>
            </a:gs>
          </a:gsLst>
          <a:lin ang="5400000" scaled="0"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/>
        </p:nvSpPr>
        <p:spPr>
          <a:xfrm>
            <a:off x="393700" y="1163497"/>
            <a:ext cx="3886200" cy="3781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Часть 1: Нейрон и нейронная сеть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93700" y="1581150"/>
            <a:ext cx="3798050" cy="0"/>
          </a:xfrm>
          <a:custGeom>
            <a:rect b="b" l="l" r="r" t="t"/>
            <a:pathLst>
              <a:path extrusionOk="0" h="120000" w="3798050">
                <a:moveTo>
                  <a:pt x="0" y="0"/>
                </a:moveTo>
                <a:lnTo>
                  <a:pt x="3798050" y="0"/>
                </a:lnTo>
              </a:path>
            </a:pathLst>
          </a:custGeom>
          <a:noFill/>
          <a:ln cap="flat" cmpd="sng" w="25300">
            <a:solidFill>
              <a:srgbClr val="FFD56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1003300" y="133350"/>
            <a:ext cx="2516849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Нервная система человека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8"/>
          <p:cNvSpPr/>
          <p:nvPr/>
        </p:nvSpPr>
        <p:spPr>
          <a:xfrm>
            <a:off x="1155700" y="598170"/>
            <a:ext cx="2211413" cy="259542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226772" y="133350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Нервная система человека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9"/>
          <p:cNvSpPr/>
          <p:nvPr/>
        </p:nvSpPr>
        <p:spPr>
          <a:xfrm>
            <a:off x="165100" y="590550"/>
            <a:ext cx="2286000" cy="2603041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9"/>
          <p:cNvSpPr txBox="1"/>
          <p:nvPr/>
        </p:nvSpPr>
        <p:spPr>
          <a:xfrm>
            <a:off x="2488248" y="1116974"/>
            <a:ext cx="1976183" cy="775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59690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Мозг   (обработка информации,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82245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принятие решения)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219787" y="133350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Нервная система человека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" name="Google Shape;66;p10"/>
          <p:cNvSpPr/>
          <p:nvPr/>
        </p:nvSpPr>
        <p:spPr>
          <a:xfrm>
            <a:off x="165100" y="590550"/>
            <a:ext cx="2057400" cy="26030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0"/>
          <p:cNvSpPr/>
          <p:nvPr/>
        </p:nvSpPr>
        <p:spPr>
          <a:xfrm>
            <a:off x="2870987" y="1724952"/>
            <a:ext cx="0" cy="359994"/>
          </a:xfrm>
          <a:custGeom>
            <a:rect b="b" l="l" r="r" t="t"/>
            <a:pathLst>
              <a:path extrusionOk="0" h="359994" w="120000">
                <a:moveTo>
                  <a:pt x="0" y="3599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10"/>
          <p:cNvSpPr txBox="1"/>
          <p:nvPr/>
        </p:nvSpPr>
        <p:spPr>
          <a:xfrm>
            <a:off x="2298700" y="895350"/>
            <a:ext cx="1951101" cy="16763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596900" lvl="0" marL="14859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Мозг    (обработка информации,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31877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принятие решения)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58333"/>
              </a:lnSpc>
              <a:spcBef>
                <a:spcPts val="19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50101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✻</a:t>
            </a:r>
            <a:endParaRPr sz="12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83333"/>
              </a:lnSpc>
              <a:spcBef>
                <a:spcPts val="94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103504" lvl="0" marL="12700" marR="75374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4D5D6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103504" lvl="0" marL="12700" marR="75374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Сигналы от органов чувств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1"/>
          <p:cNvSpPr txBox="1"/>
          <p:nvPr>
            <p:ph type="title"/>
          </p:nvPr>
        </p:nvSpPr>
        <p:spPr>
          <a:xfrm>
            <a:off x="207493" y="133350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Нервная система человека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11"/>
          <p:cNvSpPr/>
          <p:nvPr/>
        </p:nvSpPr>
        <p:spPr>
          <a:xfrm>
            <a:off x="165100" y="666750"/>
            <a:ext cx="2057400" cy="252684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1"/>
          <p:cNvSpPr/>
          <p:nvPr/>
        </p:nvSpPr>
        <p:spPr>
          <a:xfrm>
            <a:off x="2870987" y="1724952"/>
            <a:ext cx="0" cy="359994"/>
          </a:xfrm>
          <a:custGeom>
            <a:rect b="b" l="l" r="r" t="t"/>
            <a:pathLst>
              <a:path extrusionOk="0" h="359994" w="120000">
                <a:moveTo>
                  <a:pt x="0" y="3599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1"/>
          <p:cNvSpPr/>
          <p:nvPr/>
        </p:nvSpPr>
        <p:spPr>
          <a:xfrm>
            <a:off x="3734980" y="1724952"/>
            <a:ext cx="0" cy="359994"/>
          </a:xfrm>
          <a:custGeom>
            <a:rect b="b" l="l" r="r" t="t"/>
            <a:pathLst>
              <a:path extrusionOk="0" h="359994" w="120000">
                <a:moveTo>
                  <a:pt x="0" y="359994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BEFA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1"/>
          <p:cNvSpPr txBox="1"/>
          <p:nvPr/>
        </p:nvSpPr>
        <p:spPr>
          <a:xfrm>
            <a:off x="2505938" y="1047750"/>
            <a:ext cx="1743863" cy="1066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2700" lvl="0" marL="127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Мозг                               (обработка информации,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186055" rtl="0" algn="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принятие решения)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63636"/>
              </a:lnSpc>
              <a:spcBef>
                <a:spcPts val="19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3644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✻</a:t>
            </a:r>
            <a:endParaRPr sz="11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8"/>
              </a:spcBef>
              <a:spcAft>
                <a:spcPts val="0"/>
              </a:spcAft>
              <a:buNone/>
            </a:pPr>
            <a:r>
              <a:t/>
            </a:r>
            <a:endParaRPr sz="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7970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BEFA94"/>
                </a:solidFill>
                <a:latin typeface="Meiryo"/>
                <a:ea typeface="Meiryo"/>
                <a:cs typeface="Meiryo"/>
                <a:sym typeface="Meiryo"/>
              </a:rPr>
              <a:t>❄</a:t>
            </a:r>
            <a:endParaRPr sz="1000">
              <a:solidFill>
                <a:schemeClr val="dk1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1"/>
          <p:cNvSpPr txBox="1"/>
          <p:nvPr/>
        </p:nvSpPr>
        <p:spPr>
          <a:xfrm>
            <a:off x="2298699" y="2142843"/>
            <a:ext cx="1079169" cy="4289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103504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Сигналы от органов чувств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11"/>
          <p:cNvSpPr txBox="1"/>
          <p:nvPr/>
        </p:nvSpPr>
        <p:spPr>
          <a:xfrm>
            <a:off x="3443655" y="2145090"/>
            <a:ext cx="908063" cy="4266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53340" lvl="0" marL="6540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Сигналы к мышцам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2"/>
          <p:cNvSpPr txBox="1"/>
          <p:nvPr>
            <p:ph idx="1" type="body"/>
          </p:nvPr>
        </p:nvSpPr>
        <p:spPr>
          <a:xfrm>
            <a:off x="165100" y="209550"/>
            <a:ext cx="4191000" cy="28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0215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>
                <a:solidFill>
                  <a:srgbClr val="D8D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Нервная система состоит из нескольких компонент. </a:t>
            </a:r>
            <a:endParaRPr/>
          </a:p>
          <a:p>
            <a:pPr indent="450215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>
                <a:solidFill>
                  <a:srgbClr val="D8D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Эти компоненты отвечают за разные задачи. </a:t>
            </a:r>
            <a:endParaRPr/>
          </a:p>
          <a:p>
            <a:pPr indent="450215" lvl="0" marL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>
                <a:solidFill>
                  <a:srgbClr val="D8D8D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Однако, все эти компоненты состоят из примерно одинаковых клеток которые называются </a:t>
            </a:r>
            <a:r>
              <a:rPr b="1" i="1" lang="ru-RU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нейронами.</a:t>
            </a:r>
            <a:endParaRPr sz="1600">
              <a:solidFill>
                <a:srgbClr val="FFC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/>
          <p:nvPr>
            <p:ph type="title"/>
          </p:nvPr>
        </p:nvSpPr>
        <p:spPr>
          <a:xfrm>
            <a:off x="321704" y="209550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Биологический нейрон</a:t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393700" y="819150"/>
            <a:ext cx="3781298" cy="22098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Биологический нейрон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4"/>
          <p:cNvSpPr/>
          <p:nvPr/>
        </p:nvSpPr>
        <p:spPr>
          <a:xfrm>
            <a:off x="270002" y="819243"/>
            <a:ext cx="2638298" cy="17559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3301466" y="1968624"/>
            <a:ext cx="50673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9779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Тело нейрона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2438996" y="819243"/>
            <a:ext cx="1799970" cy="19554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Биологический нейрон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270002" y="1002145"/>
            <a:ext cx="2160021" cy="15730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2663266" y="1699018"/>
            <a:ext cx="1144905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Дендриты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97790" lvl="0" marL="650875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Тело нейрона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2438996" y="819243"/>
            <a:ext cx="1799970" cy="19554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Биологический нейрон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/>
          <p:nvPr/>
        </p:nvSpPr>
        <p:spPr>
          <a:xfrm>
            <a:off x="270002" y="1002145"/>
            <a:ext cx="2160021" cy="15730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2663266" y="1699018"/>
            <a:ext cx="1297940" cy="9944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Дендриты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97790" lvl="0" marL="650875" marR="1651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Тело нейрона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Аксон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/>
          <p:nvPr/>
        </p:nvSpPr>
        <p:spPr>
          <a:xfrm>
            <a:off x="2438996" y="819243"/>
            <a:ext cx="1799970" cy="19554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Биологический нейрон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7"/>
          <p:cNvSpPr/>
          <p:nvPr/>
        </p:nvSpPr>
        <p:spPr>
          <a:xfrm>
            <a:off x="270002" y="1002145"/>
            <a:ext cx="2160021" cy="1573058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2474048" y="816645"/>
            <a:ext cx="1631950" cy="1877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546100" marR="1270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Аксоны 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Синапсы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5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2019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Дендриты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840105" marR="309880" rtl="0" algn="ctr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Тело нейрона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15684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Аксон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7"/>
          <p:cNvSpPr/>
          <p:nvPr/>
        </p:nvSpPr>
        <p:spPr>
          <a:xfrm>
            <a:off x="2438996" y="819243"/>
            <a:ext cx="1799970" cy="1955465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80111" y="425033"/>
            <a:ext cx="2159901" cy="1440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80111" y="425033"/>
            <a:ext cx="2159901" cy="1440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20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0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20"/>
          <p:cNvSpPr/>
          <p:nvPr/>
        </p:nvSpPr>
        <p:spPr>
          <a:xfrm>
            <a:off x="80111" y="425033"/>
            <a:ext cx="2159901" cy="1440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21"/>
          <p:cNvSpPr txBox="1"/>
          <p:nvPr/>
        </p:nvSpPr>
        <p:spPr>
          <a:xfrm>
            <a:off x="247408" y="718007"/>
            <a:ext cx="1605280" cy="4870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7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	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247408" y="1344396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21"/>
          <p:cNvSpPr/>
          <p:nvPr/>
        </p:nvSpPr>
        <p:spPr>
          <a:xfrm>
            <a:off x="80111" y="425033"/>
            <a:ext cx="2159901" cy="144066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2046516" y="919302"/>
            <a:ext cx="185166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8" name="Google Shape;1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214" y="160350"/>
            <a:ext cx="4586186" cy="19696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22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22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22"/>
          <p:cNvSpPr txBox="1"/>
          <p:nvPr/>
        </p:nvSpPr>
        <p:spPr>
          <a:xfrm>
            <a:off x="247408" y="718007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247408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247408" y="1344396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1327391" y="1006005"/>
            <a:ext cx="52578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22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22"/>
          <p:cNvSpPr txBox="1"/>
          <p:nvPr/>
        </p:nvSpPr>
        <p:spPr>
          <a:xfrm>
            <a:off x="211404" y="515480"/>
            <a:ext cx="12287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Синаптические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533793" y="870483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22"/>
          <p:cNvSpPr txBox="1"/>
          <p:nvPr/>
        </p:nvSpPr>
        <p:spPr>
          <a:xfrm>
            <a:off x="434606" y="1135595"/>
            <a:ext cx="17843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33793" y="149687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80111" y="550857"/>
            <a:ext cx="2159901" cy="13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2"/>
          <p:cNvSpPr txBox="1"/>
          <p:nvPr/>
        </p:nvSpPr>
        <p:spPr>
          <a:xfrm>
            <a:off x="2046516" y="919302"/>
            <a:ext cx="2200275" cy="70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22"/>
          <p:cNvSpPr txBox="1"/>
          <p:nvPr/>
        </p:nvSpPr>
        <p:spPr>
          <a:xfrm>
            <a:off x="2145703" y="1494409"/>
            <a:ext cx="56642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9" name="Google Shape;18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9330"/>
            <a:ext cx="4589531" cy="18290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247408" y="718007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23"/>
          <p:cNvSpPr txBox="1"/>
          <p:nvPr/>
        </p:nvSpPr>
        <p:spPr>
          <a:xfrm>
            <a:off x="247408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247408" y="1344396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327391" y="1006005"/>
            <a:ext cx="52578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211404" y="515480"/>
            <a:ext cx="12287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Синаптические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533793" y="870483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34606" y="1135595"/>
            <a:ext cx="17843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533793" y="149687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1219390" y="1656232"/>
            <a:ext cx="63881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1147394" y="1308404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80111" y="550857"/>
            <a:ext cx="2159901" cy="13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2046516" y="919302"/>
            <a:ext cx="2428875" cy="70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 txBox="1"/>
          <p:nvPr/>
        </p:nvSpPr>
        <p:spPr>
          <a:xfrm>
            <a:off x="2145703" y="1494409"/>
            <a:ext cx="56642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 txBox="1"/>
          <p:nvPr/>
        </p:nvSpPr>
        <p:spPr>
          <a:xfrm>
            <a:off x="2046516" y="1607604"/>
            <a:ext cx="83248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3" name="Google Shape;213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614" y="253682"/>
            <a:ext cx="4560786" cy="17268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4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4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4"/>
          <p:cNvSpPr txBox="1"/>
          <p:nvPr/>
        </p:nvSpPr>
        <p:spPr>
          <a:xfrm>
            <a:off x="247408" y="718007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247408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247408" y="1344396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1327391" y="1006005"/>
            <a:ext cx="52578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4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211404" y="515480"/>
            <a:ext cx="12287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Синаптические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33793" y="870483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434606" y="1135595"/>
            <a:ext cx="17843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533793" y="149687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1219390" y="1656232"/>
            <a:ext cx="63881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1147394" y="1308404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24"/>
          <p:cNvSpPr/>
          <p:nvPr/>
        </p:nvSpPr>
        <p:spPr>
          <a:xfrm>
            <a:off x="80111" y="550857"/>
            <a:ext cx="2159901" cy="13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046516" y="919302"/>
            <a:ext cx="2428875" cy="70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2145703" y="1494409"/>
            <a:ext cx="56642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2046516" y="1607604"/>
            <a:ext cx="83248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4"/>
          <p:cNvSpPr txBox="1"/>
          <p:nvPr/>
        </p:nvSpPr>
        <p:spPr>
          <a:xfrm>
            <a:off x="2046516" y="1957463"/>
            <a:ext cx="1650364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∑︀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24"/>
          <p:cNvSpPr txBox="1"/>
          <p:nvPr/>
        </p:nvSpPr>
        <p:spPr>
          <a:xfrm>
            <a:off x="2878810" y="1762112"/>
            <a:ext cx="9201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(︂ 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)︂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2046516" y="2120214"/>
            <a:ext cx="2082164" cy="2832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3334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настраиваемые параметры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0" name="Google Shape;240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82022"/>
            <a:ext cx="4597400" cy="2262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247408" y="718007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 txBox="1"/>
          <p:nvPr/>
        </p:nvSpPr>
        <p:spPr>
          <a:xfrm>
            <a:off x="247408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25"/>
          <p:cNvSpPr txBox="1"/>
          <p:nvPr/>
        </p:nvSpPr>
        <p:spPr>
          <a:xfrm>
            <a:off x="247408" y="1344396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5"/>
          <p:cNvSpPr txBox="1"/>
          <p:nvPr/>
        </p:nvSpPr>
        <p:spPr>
          <a:xfrm>
            <a:off x="1327391" y="1006005"/>
            <a:ext cx="52578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5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25"/>
          <p:cNvSpPr txBox="1"/>
          <p:nvPr/>
        </p:nvSpPr>
        <p:spPr>
          <a:xfrm>
            <a:off x="211404" y="515480"/>
            <a:ext cx="12287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Синаптические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25"/>
          <p:cNvSpPr txBox="1"/>
          <p:nvPr/>
        </p:nvSpPr>
        <p:spPr>
          <a:xfrm>
            <a:off x="533793" y="870483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25"/>
          <p:cNvSpPr txBox="1"/>
          <p:nvPr/>
        </p:nvSpPr>
        <p:spPr>
          <a:xfrm>
            <a:off x="434606" y="1135595"/>
            <a:ext cx="17843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5"/>
          <p:cNvSpPr txBox="1"/>
          <p:nvPr/>
        </p:nvSpPr>
        <p:spPr>
          <a:xfrm>
            <a:off x="533793" y="149687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5"/>
          <p:cNvSpPr txBox="1"/>
          <p:nvPr/>
        </p:nvSpPr>
        <p:spPr>
          <a:xfrm>
            <a:off x="1219390" y="1656232"/>
            <a:ext cx="63881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25"/>
          <p:cNvSpPr txBox="1"/>
          <p:nvPr/>
        </p:nvSpPr>
        <p:spPr>
          <a:xfrm>
            <a:off x="1147394" y="1308404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80111" y="550857"/>
            <a:ext cx="2159901" cy="13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 txBox="1"/>
          <p:nvPr/>
        </p:nvSpPr>
        <p:spPr>
          <a:xfrm>
            <a:off x="2046516" y="919302"/>
            <a:ext cx="2428875" cy="70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2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5"/>
          <p:cNvSpPr txBox="1"/>
          <p:nvPr/>
        </p:nvSpPr>
        <p:spPr>
          <a:xfrm>
            <a:off x="2145703" y="1494409"/>
            <a:ext cx="56642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25"/>
          <p:cNvSpPr txBox="1"/>
          <p:nvPr/>
        </p:nvSpPr>
        <p:spPr>
          <a:xfrm>
            <a:off x="2046516" y="1607604"/>
            <a:ext cx="83248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5"/>
          <p:cNvSpPr txBox="1"/>
          <p:nvPr/>
        </p:nvSpPr>
        <p:spPr>
          <a:xfrm>
            <a:off x="2046516" y="1957463"/>
            <a:ext cx="1650364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∑︀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5"/>
          <p:cNvSpPr txBox="1"/>
          <p:nvPr/>
        </p:nvSpPr>
        <p:spPr>
          <a:xfrm>
            <a:off x="2878810" y="1762112"/>
            <a:ext cx="9201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(︂ 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)︂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>
            <a:off x="2046516" y="2120214"/>
            <a:ext cx="2082164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3334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настраиваемые параметры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⟨</a:t>
            </a:r>
            <a:r>
              <a:rPr b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⟩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6223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⟨</a:t>
            </a:r>
            <a:r>
              <a:rPr b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⟩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скалярное произведение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7" name="Google Shape;267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190511"/>
            <a:ext cx="4591568" cy="28384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Математическая модель нейрона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26"/>
          <p:cNvSpPr txBox="1"/>
          <p:nvPr/>
        </p:nvSpPr>
        <p:spPr>
          <a:xfrm>
            <a:off x="1219390" y="718007"/>
            <a:ext cx="6280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Сумматор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26"/>
          <p:cNvSpPr txBox="1"/>
          <p:nvPr/>
        </p:nvSpPr>
        <p:spPr>
          <a:xfrm rot="-5400000">
            <a:off x="-485038" y="1160983"/>
            <a:ext cx="123253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От других нейронов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6"/>
          <p:cNvSpPr txBox="1"/>
          <p:nvPr/>
        </p:nvSpPr>
        <p:spPr>
          <a:xfrm>
            <a:off x="247408" y="718007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26"/>
          <p:cNvSpPr txBox="1"/>
          <p:nvPr/>
        </p:nvSpPr>
        <p:spPr>
          <a:xfrm>
            <a:off x="247408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26"/>
          <p:cNvSpPr txBox="1"/>
          <p:nvPr/>
        </p:nvSpPr>
        <p:spPr>
          <a:xfrm>
            <a:off x="247408" y="1344396"/>
            <a:ext cx="311785" cy="280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-25000" i="1" lang="ru-RU" sz="16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6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26"/>
          <p:cNvSpPr txBox="1"/>
          <p:nvPr/>
        </p:nvSpPr>
        <p:spPr>
          <a:xfrm>
            <a:off x="1327391" y="1006005"/>
            <a:ext cx="52578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	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6"/>
          <p:cNvSpPr txBox="1"/>
          <p:nvPr/>
        </p:nvSpPr>
        <p:spPr>
          <a:xfrm>
            <a:off x="1528978" y="1128407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26"/>
          <p:cNvSpPr txBox="1"/>
          <p:nvPr/>
        </p:nvSpPr>
        <p:spPr>
          <a:xfrm>
            <a:off x="211404" y="515480"/>
            <a:ext cx="1228725" cy="176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Синаптические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6"/>
          <p:cNvSpPr txBox="1"/>
          <p:nvPr/>
        </p:nvSpPr>
        <p:spPr>
          <a:xfrm>
            <a:off x="533793" y="870483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6"/>
          <p:cNvSpPr txBox="1"/>
          <p:nvPr/>
        </p:nvSpPr>
        <p:spPr>
          <a:xfrm>
            <a:off x="434606" y="1135595"/>
            <a:ext cx="17843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26"/>
          <p:cNvSpPr txBox="1"/>
          <p:nvPr/>
        </p:nvSpPr>
        <p:spPr>
          <a:xfrm>
            <a:off x="533793" y="149687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26"/>
          <p:cNvSpPr txBox="1"/>
          <p:nvPr/>
        </p:nvSpPr>
        <p:spPr>
          <a:xfrm>
            <a:off x="67411" y="1656232"/>
            <a:ext cx="1791335" cy="6375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45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2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575945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6"/>
          <p:cNvSpPr txBox="1"/>
          <p:nvPr/>
        </p:nvSpPr>
        <p:spPr>
          <a:xfrm>
            <a:off x="1147394" y="1308404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6"/>
          <p:cNvSpPr/>
          <p:nvPr/>
        </p:nvSpPr>
        <p:spPr>
          <a:xfrm>
            <a:off x="80111" y="550857"/>
            <a:ext cx="2159901" cy="131483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113296" y="2445982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26"/>
          <p:cNvSpPr txBox="1"/>
          <p:nvPr/>
        </p:nvSpPr>
        <p:spPr>
          <a:xfrm>
            <a:off x="559041" y="2310506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6"/>
          <p:cNvSpPr txBox="1"/>
          <p:nvPr/>
        </p:nvSpPr>
        <p:spPr>
          <a:xfrm>
            <a:off x="2046516" y="919302"/>
            <a:ext cx="2428875" cy="7054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функция активации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входные значения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веса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"/>
          <p:cNvSpPr txBox="1"/>
          <p:nvPr/>
        </p:nvSpPr>
        <p:spPr>
          <a:xfrm>
            <a:off x="2145703" y="1494409"/>
            <a:ext cx="56642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	1	2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>
            <a:off x="2046516" y="1607604"/>
            <a:ext cx="83248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смещение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2046516" y="1957463"/>
            <a:ext cx="1650364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∑︀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26"/>
          <p:cNvSpPr txBox="1"/>
          <p:nvPr/>
        </p:nvSpPr>
        <p:spPr>
          <a:xfrm>
            <a:off x="2878810" y="1762112"/>
            <a:ext cx="920115" cy="26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(︂ 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)︂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 txBox="1"/>
          <p:nvPr/>
        </p:nvSpPr>
        <p:spPr>
          <a:xfrm>
            <a:off x="2046516" y="2120214"/>
            <a:ext cx="2082164" cy="772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3334" rtl="0" algn="ctr">
              <a:lnSpc>
                <a:spcPct val="119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85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i="1" lang="ru-RU" sz="12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настраиваемые параметры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⟨</a:t>
            </a:r>
            <a:r>
              <a:rPr b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⟩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62230" rtl="0" algn="ctr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⟨</a:t>
            </a:r>
            <a:r>
              <a:rPr b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⟩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– скалярное произведение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6" name="Google Shape;296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7731"/>
            <a:ext cx="4582863" cy="27459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27"/>
          <p:cNvSpPr/>
          <p:nvPr/>
        </p:nvSpPr>
        <p:spPr>
          <a:xfrm>
            <a:off x="143395" y="329495"/>
            <a:ext cx="2159956" cy="2832182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2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Разделяющая поверхность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5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7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21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27"/>
          <p:cNvSpPr txBox="1"/>
          <p:nvPr/>
        </p:nvSpPr>
        <p:spPr>
          <a:xfrm>
            <a:off x="1570672" y="1941995"/>
            <a:ext cx="1409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27"/>
          <p:cNvSpPr txBox="1"/>
          <p:nvPr/>
        </p:nvSpPr>
        <p:spPr>
          <a:xfrm>
            <a:off x="2002663" y="273397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7"/>
          <p:cNvSpPr txBox="1"/>
          <p:nvPr/>
        </p:nvSpPr>
        <p:spPr>
          <a:xfrm>
            <a:off x="2173084" y="914943"/>
            <a:ext cx="2080895" cy="577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Разделяющая поверхность одного нейрона: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5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⟨</a:t>
            </a:r>
            <a:r>
              <a:rPr b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⟩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" name="Google Shape;307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8" y="238204"/>
            <a:ext cx="4298086" cy="2923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2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28"/>
          <p:cNvSpPr txBox="1"/>
          <p:nvPr>
            <p:ph idx="12" type="sldNum"/>
          </p:nvPr>
        </p:nvSpPr>
        <p:spPr>
          <a:xfrm>
            <a:off x="4237101" y="3193592"/>
            <a:ext cx="216349" cy="109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5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6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8"/>
          <p:cNvSpPr txBox="1"/>
          <p:nvPr/>
        </p:nvSpPr>
        <p:spPr>
          <a:xfrm>
            <a:off x="142316" y="638817"/>
            <a:ext cx="1273175" cy="5410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8469" marR="0" rtl="0" algn="l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28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28"/>
          <p:cNvSpPr txBox="1"/>
          <p:nvPr/>
        </p:nvSpPr>
        <p:spPr>
          <a:xfrm>
            <a:off x="699681" y="1202880"/>
            <a:ext cx="71628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7" name="Google Shape;317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8900" y="285750"/>
            <a:ext cx="4448752" cy="14082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29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29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9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29"/>
          <p:cNvSpPr txBox="1"/>
          <p:nvPr/>
        </p:nvSpPr>
        <p:spPr>
          <a:xfrm>
            <a:off x="70319" y="1998802"/>
            <a:ext cx="94615" cy="58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9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9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9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9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9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1251242" y="2520848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29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9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216" y="274118"/>
            <a:ext cx="4031284" cy="3144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30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0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0"/>
          <p:cNvSpPr txBox="1"/>
          <p:nvPr/>
        </p:nvSpPr>
        <p:spPr>
          <a:xfrm>
            <a:off x="70319" y="1998802"/>
            <a:ext cx="94615" cy="585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8"/>
              </a:spcBef>
              <a:spcAft>
                <a:spcPts val="0"/>
              </a:spcAft>
              <a:buNone/>
            </a:pPr>
            <a:r>
              <a:t/>
            </a:r>
            <a:endParaRPr sz="7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30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0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0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0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0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0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0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0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0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0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0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0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0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0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30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30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30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0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0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0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1" name="Google Shape;371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239" y="243118"/>
            <a:ext cx="4209093" cy="3163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31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31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31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31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31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31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31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31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31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3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31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31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2921101" y="929297"/>
            <a:ext cx="1219835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04" name="Google Shape;404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971" y="325475"/>
            <a:ext cx="4077593" cy="3084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3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32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32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32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32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32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32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2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2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2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2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2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2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2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2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2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2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2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32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32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32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32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3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32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88" y="285749"/>
            <a:ext cx="4130146" cy="3126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33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33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33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33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33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33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33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33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3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33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3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3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33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3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3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3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33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" name="Google Shape;463;p33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33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3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2921101" y="1215250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id="471" name="Google Shape;47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878" y="285749"/>
            <a:ext cx="4214658" cy="3126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34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34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34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4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34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34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4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4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4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4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4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4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4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4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34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34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34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4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34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p34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34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34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4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0" name="Google Shape;500;p34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34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34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3" name="Google Shape;503;p34"/>
          <p:cNvSpPr txBox="1"/>
          <p:nvPr/>
        </p:nvSpPr>
        <p:spPr>
          <a:xfrm>
            <a:off x="2921101" y="1215250"/>
            <a:ext cx="143510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04" name="Google Shape;50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06549"/>
            <a:ext cx="4607006" cy="3254001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34"/>
          <p:cNvSpPr txBox="1"/>
          <p:nvPr/>
        </p:nvSpPr>
        <p:spPr>
          <a:xfrm>
            <a:off x="4147980" y="3240711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34"/>
          <p:cNvSpPr/>
          <p:nvPr/>
        </p:nvSpPr>
        <p:spPr>
          <a:xfrm>
            <a:off x="4347307" y="3103726"/>
            <a:ext cx="245585" cy="1581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5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35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35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35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35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35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5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5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5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5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5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5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5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5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5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5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35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35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5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5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2" name="Google Shape;532;p35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3" name="Google Shape;533;p35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5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5/13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6" name="Google Shape;536;p35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5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8" name="Google Shape;538;p35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9" name="Google Shape;539;p35"/>
          <p:cNvSpPr txBox="1"/>
          <p:nvPr/>
        </p:nvSpPr>
        <p:spPr>
          <a:xfrm>
            <a:off x="2921101" y="1096896"/>
            <a:ext cx="1435100" cy="5918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0 0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40" name="Google Shape;54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75" y="191135"/>
            <a:ext cx="4529525" cy="3218967"/>
          </a:xfrm>
          <a:prstGeom prst="rect">
            <a:avLst/>
          </a:prstGeom>
          <a:noFill/>
          <a:ln>
            <a:noFill/>
          </a:ln>
        </p:spPr>
      </p:pic>
      <p:sp>
        <p:nvSpPr>
          <p:cNvPr id="541" name="Google Shape;541;p35"/>
          <p:cNvSpPr txBox="1"/>
          <p:nvPr/>
        </p:nvSpPr>
        <p:spPr>
          <a:xfrm>
            <a:off x="4118737" y="3275965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2" name="Google Shape;542;p35"/>
          <p:cNvSpPr/>
          <p:nvPr/>
        </p:nvSpPr>
        <p:spPr>
          <a:xfrm>
            <a:off x="4356201" y="3143669"/>
            <a:ext cx="245585" cy="1581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36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6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36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36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36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36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6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6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6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6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6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0" name="Google Shape;560;p36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6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6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p36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4" name="Google Shape;564;p36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6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6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36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36"/>
          <p:cNvSpPr txBox="1"/>
          <p:nvPr/>
        </p:nvSpPr>
        <p:spPr>
          <a:xfrm>
            <a:off x="2242692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36"/>
          <p:cNvSpPr/>
          <p:nvPr/>
        </p:nvSpPr>
        <p:spPr>
          <a:xfrm>
            <a:off x="2124786" y="1206436"/>
            <a:ext cx="314985" cy="0"/>
          </a:xfrm>
          <a:custGeom>
            <a:rect b="b" l="l" r="r" t="t"/>
            <a:pathLst>
              <a:path extrusionOk="0" h="120000" w="314985">
                <a:moveTo>
                  <a:pt x="0" y="0"/>
                </a:moveTo>
                <a:lnTo>
                  <a:pt x="314985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6"/>
          <p:cNvSpPr txBox="1"/>
          <p:nvPr/>
        </p:nvSpPr>
        <p:spPr>
          <a:xfrm>
            <a:off x="2112086" y="1190472"/>
            <a:ext cx="33147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30000" i="1"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</a:t>
            </a:r>
            <a:endParaRPr baseline="30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1" name="Google Shape;571;p3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5/13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2" name="Google Shape;572;p36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3" name="Google Shape;573;p36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4" name="Google Shape;574;p36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5" name="Google Shape;575;p36"/>
          <p:cNvSpPr txBox="1"/>
          <p:nvPr/>
        </p:nvSpPr>
        <p:spPr>
          <a:xfrm>
            <a:off x="2921101" y="1096896"/>
            <a:ext cx="1435100" cy="87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0 0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(0) = 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6" name="Google Shape;57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308" y="186177"/>
            <a:ext cx="4557963" cy="322392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36"/>
          <p:cNvSpPr txBox="1"/>
          <p:nvPr/>
        </p:nvSpPr>
        <p:spPr>
          <a:xfrm>
            <a:off x="4115269" y="3280923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8" name="Google Shape;578;p36"/>
          <p:cNvSpPr/>
          <p:nvPr/>
        </p:nvSpPr>
        <p:spPr>
          <a:xfrm>
            <a:off x="4347307" y="3130760"/>
            <a:ext cx="245585" cy="1581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4" name="Google Shape;584;p37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5" name="Google Shape;585;p37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6" name="Google Shape;586;p37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7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8" name="Google Shape;588;p37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7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7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7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2" name="Google Shape;592;p37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3" name="Google Shape;593;p37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4" name="Google Shape;594;p37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7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37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7" name="Google Shape;597;p37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980305" y="1412140"/>
            <a:ext cx="270937" cy="1072542"/>
          </a:xfrm>
          <a:custGeom>
            <a:rect b="b" l="l" r="r" t="t"/>
            <a:pathLst>
              <a:path extrusionOk="0" h="1072542" w="270937">
                <a:moveTo>
                  <a:pt x="263466" y="1072542"/>
                </a:moveTo>
                <a:lnTo>
                  <a:pt x="213231" y="1019607"/>
                </a:lnTo>
                <a:lnTo>
                  <a:pt x="168289" y="966566"/>
                </a:lnTo>
                <a:lnTo>
                  <a:pt x="128647" y="913423"/>
                </a:lnTo>
                <a:lnTo>
                  <a:pt x="94310" y="860185"/>
                </a:lnTo>
                <a:lnTo>
                  <a:pt x="65282" y="806858"/>
                </a:lnTo>
                <a:lnTo>
                  <a:pt x="41571" y="753447"/>
                </a:lnTo>
                <a:lnTo>
                  <a:pt x="23182" y="699957"/>
                </a:lnTo>
                <a:lnTo>
                  <a:pt x="10120" y="646394"/>
                </a:lnTo>
                <a:lnTo>
                  <a:pt x="2390" y="592764"/>
                </a:lnTo>
                <a:lnTo>
                  <a:pt x="0" y="539072"/>
                </a:lnTo>
                <a:lnTo>
                  <a:pt x="2953" y="485325"/>
                </a:lnTo>
                <a:lnTo>
                  <a:pt x="11255" y="431527"/>
                </a:lnTo>
                <a:lnTo>
                  <a:pt x="24913" y="377684"/>
                </a:lnTo>
                <a:lnTo>
                  <a:pt x="43932" y="323802"/>
                </a:lnTo>
                <a:lnTo>
                  <a:pt x="68317" y="269886"/>
                </a:lnTo>
                <a:lnTo>
                  <a:pt x="98075" y="215942"/>
                </a:lnTo>
                <a:lnTo>
                  <a:pt x="133210" y="161976"/>
                </a:lnTo>
                <a:lnTo>
                  <a:pt x="173728" y="107993"/>
                </a:lnTo>
                <a:lnTo>
                  <a:pt x="219635" y="53999"/>
                </a:lnTo>
                <a:lnTo>
                  <a:pt x="270937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1208753" y="2448358"/>
            <a:ext cx="40207" cy="40702"/>
          </a:xfrm>
          <a:custGeom>
            <a:rect b="b" l="l" r="r" t="t"/>
            <a:pathLst>
              <a:path extrusionOk="0" h="40702" w="40207">
                <a:moveTo>
                  <a:pt x="40207" y="0"/>
                </a:moveTo>
                <a:lnTo>
                  <a:pt x="36493" y="12456"/>
                </a:lnTo>
                <a:lnTo>
                  <a:pt x="36495" y="27895"/>
                </a:lnTo>
                <a:lnTo>
                  <a:pt x="38498" y="39219"/>
                </a:lnTo>
                <a:lnTo>
                  <a:pt x="28718" y="37714"/>
                </a:lnTo>
                <a:lnTo>
                  <a:pt x="13427" y="37558"/>
                </a:lnTo>
                <a:lnTo>
                  <a:pt x="0" y="40702"/>
                </a:lnTo>
              </a:path>
            </a:pathLst>
          </a:custGeom>
          <a:noFill/>
          <a:ln cap="flat" cmpd="sng" w="1010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1250195" y="1304145"/>
            <a:ext cx="757061" cy="1393636"/>
          </a:xfrm>
          <a:custGeom>
            <a:rect b="b" l="l" r="r" t="t"/>
            <a:pathLst>
              <a:path extrusionOk="0" h="1393636" w="757061">
                <a:moveTo>
                  <a:pt x="142978" y="1393636"/>
                </a:moveTo>
                <a:lnTo>
                  <a:pt x="125395" y="1315424"/>
                </a:lnTo>
                <a:lnTo>
                  <a:pt x="105272" y="1239522"/>
                </a:lnTo>
                <a:lnTo>
                  <a:pt x="83879" y="1165694"/>
                </a:lnTo>
                <a:lnTo>
                  <a:pt x="62486" y="1093705"/>
                </a:lnTo>
                <a:lnTo>
                  <a:pt x="42364" y="1023319"/>
                </a:lnTo>
                <a:lnTo>
                  <a:pt x="24784" y="954301"/>
                </a:lnTo>
                <a:lnTo>
                  <a:pt x="11016" y="886417"/>
                </a:lnTo>
                <a:lnTo>
                  <a:pt x="2331" y="819430"/>
                </a:lnTo>
                <a:lnTo>
                  <a:pt x="0" y="753105"/>
                </a:lnTo>
                <a:lnTo>
                  <a:pt x="5292" y="687209"/>
                </a:lnTo>
                <a:lnTo>
                  <a:pt x="19479" y="621504"/>
                </a:lnTo>
                <a:lnTo>
                  <a:pt x="43831" y="555756"/>
                </a:lnTo>
                <a:lnTo>
                  <a:pt x="79619" y="489730"/>
                </a:lnTo>
                <a:lnTo>
                  <a:pt x="128113" y="423191"/>
                </a:lnTo>
                <a:lnTo>
                  <a:pt x="190584" y="355903"/>
                </a:lnTo>
                <a:lnTo>
                  <a:pt x="268302" y="287631"/>
                </a:lnTo>
                <a:lnTo>
                  <a:pt x="362538" y="218140"/>
                </a:lnTo>
                <a:lnTo>
                  <a:pt x="474563" y="147194"/>
                </a:lnTo>
                <a:lnTo>
                  <a:pt x="605647" y="74559"/>
                </a:lnTo>
                <a:lnTo>
                  <a:pt x="757061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1361603" y="2670385"/>
            <a:ext cx="56083" cy="31703"/>
          </a:xfrm>
          <a:custGeom>
            <a:rect b="b" l="l" r="r" t="t"/>
            <a:pathLst>
              <a:path extrusionOk="0" h="31703" w="56083">
                <a:moveTo>
                  <a:pt x="56083" y="0"/>
                </a:moveTo>
                <a:lnTo>
                  <a:pt x="46083" y="8297"/>
                </a:lnTo>
                <a:lnTo>
                  <a:pt x="37511" y="21142"/>
                </a:lnTo>
                <a:lnTo>
                  <a:pt x="32872" y="31703"/>
                </a:lnTo>
                <a:lnTo>
                  <a:pt x="25566" y="25054"/>
                </a:lnTo>
                <a:lnTo>
                  <a:pt x="12930" y="16447"/>
                </a:lnTo>
                <a:lnTo>
                  <a:pt x="0" y="11589"/>
                </a:lnTo>
              </a:path>
            </a:pathLst>
          </a:custGeom>
          <a:noFill/>
          <a:ln cap="flat" cmpd="sng" w="101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7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3" name="Google Shape;603;p37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4" name="Google Shape;604;p37"/>
          <p:cNvSpPr txBox="1"/>
          <p:nvPr/>
        </p:nvSpPr>
        <p:spPr>
          <a:xfrm>
            <a:off x="2300846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2124786" y="1206436"/>
            <a:ext cx="431292" cy="0"/>
          </a:xfrm>
          <a:custGeom>
            <a:rect b="b" l="l" r="r" t="t"/>
            <a:pathLst>
              <a:path extrusionOk="0" h="120000" w="431292">
                <a:moveTo>
                  <a:pt x="0" y="0"/>
                </a:moveTo>
                <a:lnTo>
                  <a:pt x="431292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6" name="Google Shape;606;p37"/>
          <p:cNvSpPr txBox="1"/>
          <p:nvPr/>
        </p:nvSpPr>
        <p:spPr>
          <a:xfrm>
            <a:off x="2112086" y="1170089"/>
            <a:ext cx="438150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−�/</a:t>
            </a:r>
            <a:r>
              <a:rPr i="1"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7" name="Google Shape;607;p3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5/13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8" name="Google Shape;608;p37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7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0" name="Google Shape;610;p37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37"/>
          <p:cNvSpPr txBox="1"/>
          <p:nvPr/>
        </p:nvSpPr>
        <p:spPr>
          <a:xfrm>
            <a:off x="2921101" y="1096896"/>
            <a:ext cx="1435100" cy="87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0 0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(0) = 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2" name="Google Shape;612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515" y="187910"/>
            <a:ext cx="4564370" cy="3167211"/>
          </a:xfrm>
          <a:prstGeom prst="rect">
            <a:avLst/>
          </a:prstGeom>
          <a:noFill/>
          <a:ln>
            <a:noFill/>
          </a:ln>
        </p:spPr>
      </p:pic>
      <p:sp>
        <p:nvSpPr>
          <p:cNvPr id="613" name="Google Shape;613;p37"/>
          <p:cNvSpPr/>
          <p:nvPr/>
        </p:nvSpPr>
        <p:spPr>
          <a:xfrm>
            <a:off x="4296366" y="3103726"/>
            <a:ext cx="245585" cy="1581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7"/>
          <p:cNvSpPr/>
          <p:nvPr/>
        </p:nvSpPr>
        <p:spPr>
          <a:xfrm>
            <a:off x="4351815" y="3088638"/>
            <a:ext cx="245585" cy="158159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4115269" y="3280923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p3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Функции активации (передаточные функции)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1" name="Google Shape;621;p38"/>
          <p:cNvSpPr txBox="1"/>
          <p:nvPr/>
        </p:nvSpPr>
        <p:spPr>
          <a:xfrm>
            <a:off x="142316" y="638817"/>
            <a:ext cx="1273175" cy="353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Пороговая функция активации: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142316" y="1092974"/>
            <a:ext cx="4330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8"/>
          <p:cNvSpPr txBox="1"/>
          <p:nvPr/>
        </p:nvSpPr>
        <p:spPr>
          <a:xfrm>
            <a:off x="588073" y="957498"/>
            <a:ext cx="827405" cy="434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11760" lvl="0" marL="123825" marR="12700" rtl="0" algn="l">
              <a:lnSpc>
                <a:spcPct val="123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{︃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:::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0 1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,	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if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&gt;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4" name="Google Shape;624;p38"/>
          <p:cNvSpPr txBox="1"/>
          <p:nvPr/>
        </p:nvSpPr>
        <p:spPr>
          <a:xfrm>
            <a:off x="70319" y="2394801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5" name="Google Shape;625;p38"/>
          <p:cNvSpPr txBox="1"/>
          <p:nvPr/>
        </p:nvSpPr>
        <p:spPr>
          <a:xfrm>
            <a:off x="70319" y="1998802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6" name="Google Shape;626;p38"/>
          <p:cNvSpPr/>
          <p:nvPr/>
        </p:nvSpPr>
        <p:spPr>
          <a:xfrm>
            <a:off x="257623" y="3212160"/>
            <a:ext cx="2055850" cy="0"/>
          </a:xfrm>
          <a:custGeom>
            <a:rect b="b" l="l" r="r" t="t"/>
            <a:pathLst>
              <a:path extrusionOk="0" h="120000" w="2055850">
                <a:moveTo>
                  <a:pt x="0" y="0"/>
                </a:moveTo>
                <a:lnTo>
                  <a:pt x="205585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8"/>
          <p:cNvSpPr/>
          <p:nvPr/>
        </p:nvSpPr>
        <p:spPr>
          <a:xfrm>
            <a:off x="2291458" y="3182806"/>
            <a:ext cx="26523" cy="57211"/>
          </a:xfrm>
          <a:custGeom>
            <a:rect b="b" l="l" r="r" t="t"/>
            <a:pathLst>
              <a:path extrusionOk="0" h="57211" w="26523">
                <a:moveTo>
                  <a:pt x="0" y="0"/>
                </a:moveTo>
                <a:lnTo>
                  <a:pt x="6182" y="11433"/>
                </a:lnTo>
                <a:lnTo>
                  <a:pt x="17100" y="22349"/>
                </a:lnTo>
                <a:lnTo>
                  <a:pt x="26523" y="28940"/>
                </a:lnTo>
                <a:lnTo>
                  <a:pt x="18544" y="34791"/>
                </a:lnTo>
                <a:lnTo>
                  <a:pt x="7620" y="45493"/>
                </a:lnTo>
                <a:lnTo>
                  <a:pt x="349" y="57211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8"/>
          <p:cNvSpPr/>
          <p:nvPr/>
        </p:nvSpPr>
        <p:spPr>
          <a:xfrm>
            <a:off x="257623" y="2142712"/>
            <a:ext cx="0" cy="1069448"/>
          </a:xfrm>
          <a:custGeom>
            <a:rect b="b" l="l" r="r" t="t"/>
            <a:pathLst>
              <a:path extrusionOk="0" h="1069448" w="120000">
                <a:moveTo>
                  <a:pt x="0" y="106944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8"/>
          <p:cNvSpPr/>
          <p:nvPr/>
        </p:nvSpPr>
        <p:spPr>
          <a:xfrm>
            <a:off x="228268" y="2138204"/>
            <a:ext cx="57211" cy="26523"/>
          </a:xfrm>
          <a:custGeom>
            <a:rect b="b" l="l" r="r" t="t"/>
            <a:pathLst>
              <a:path extrusionOk="0" h="26523" w="57211">
                <a:moveTo>
                  <a:pt x="0" y="26523"/>
                </a:moveTo>
                <a:lnTo>
                  <a:pt x="11433" y="20341"/>
                </a:lnTo>
                <a:lnTo>
                  <a:pt x="22349" y="9423"/>
                </a:lnTo>
                <a:lnTo>
                  <a:pt x="28940" y="0"/>
                </a:lnTo>
                <a:lnTo>
                  <a:pt x="34791" y="7978"/>
                </a:lnTo>
                <a:lnTo>
                  <a:pt x="45493" y="18902"/>
                </a:lnTo>
                <a:lnTo>
                  <a:pt x="57211" y="26173"/>
                </a:lnTo>
              </a:path>
            </a:pathLst>
          </a:custGeom>
          <a:noFill/>
          <a:ln cap="flat" cmpd="sng" w="1010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0" name="Google Shape;630;p38"/>
          <p:cNvSpPr/>
          <p:nvPr/>
        </p:nvSpPr>
        <p:spPr>
          <a:xfrm>
            <a:off x="207223" y="2492151"/>
            <a:ext cx="100799" cy="0"/>
          </a:xfrm>
          <a:custGeom>
            <a:rect b="b" l="l" r="r" t="t"/>
            <a:pathLst>
              <a:path extrusionOk="0" h="120000" w="100799">
                <a:moveTo>
                  <a:pt x="0" y="0"/>
                </a:moveTo>
                <a:lnTo>
                  <a:pt x="100799" y="0"/>
                </a:lnTo>
              </a:path>
            </a:pathLst>
          </a:custGeom>
          <a:noFill/>
          <a:ln cap="flat" cmpd="sng" w="12650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8"/>
          <p:cNvSpPr/>
          <p:nvPr/>
        </p:nvSpPr>
        <p:spPr>
          <a:xfrm>
            <a:off x="257623" y="3212160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8"/>
          <p:cNvSpPr/>
          <p:nvPr/>
        </p:nvSpPr>
        <p:spPr>
          <a:xfrm>
            <a:off x="1265631" y="2492151"/>
            <a:ext cx="0" cy="720008"/>
          </a:xfrm>
          <a:custGeom>
            <a:rect b="b" l="l" r="r" t="t"/>
            <a:pathLst>
              <a:path extrusionOk="0" h="720008" w="120000">
                <a:moveTo>
                  <a:pt x="0" y="720008"/>
                </a:moveTo>
                <a:lnTo>
                  <a:pt x="0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38"/>
          <p:cNvSpPr/>
          <p:nvPr/>
        </p:nvSpPr>
        <p:spPr>
          <a:xfrm>
            <a:off x="1265631" y="2492151"/>
            <a:ext cx="1008008" cy="0"/>
          </a:xfrm>
          <a:custGeom>
            <a:rect b="b" l="l" r="r" t="t"/>
            <a:pathLst>
              <a:path extrusionOk="0" h="120000" w="1008008">
                <a:moveTo>
                  <a:pt x="0" y="0"/>
                </a:moveTo>
                <a:lnTo>
                  <a:pt x="1008008" y="0"/>
                </a:lnTo>
              </a:path>
            </a:pathLst>
          </a:custGeom>
          <a:noFill/>
          <a:ln cap="flat" cmpd="sng" w="12650">
            <a:solidFill>
              <a:srgbClr val="FF860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4" name="Google Shape;634;p38"/>
          <p:cNvSpPr/>
          <p:nvPr/>
        </p:nvSpPr>
        <p:spPr>
          <a:xfrm>
            <a:off x="257623" y="2781095"/>
            <a:ext cx="2016016" cy="142120"/>
          </a:xfrm>
          <a:custGeom>
            <a:rect b="b" l="l" r="r" t="t"/>
            <a:pathLst>
              <a:path extrusionOk="0" h="142120" w="2016016">
                <a:moveTo>
                  <a:pt x="0" y="142120"/>
                </a:moveTo>
                <a:lnTo>
                  <a:pt x="83999" y="136331"/>
                </a:lnTo>
                <a:lnTo>
                  <a:pt x="168002" y="130508"/>
                </a:lnTo>
                <a:lnTo>
                  <a:pt x="252002" y="124652"/>
                </a:lnTo>
                <a:lnTo>
                  <a:pt x="336001" y="118774"/>
                </a:lnTo>
                <a:lnTo>
                  <a:pt x="420004" y="112875"/>
                </a:lnTo>
                <a:lnTo>
                  <a:pt x="504004" y="106942"/>
                </a:lnTo>
                <a:lnTo>
                  <a:pt x="588003" y="100987"/>
                </a:lnTo>
                <a:lnTo>
                  <a:pt x="672006" y="95021"/>
                </a:lnTo>
                <a:lnTo>
                  <a:pt x="756006" y="89045"/>
                </a:lnTo>
                <a:lnTo>
                  <a:pt x="840005" y="83057"/>
                </a:lnTo>
                <a:lnTo>
                  <a:pt x="924008" y="77058"/>
                </a:lnTo>
                <a:lnTo>
                  <a:pt x="1008008" y="71060"/>
                </a:lnTo>
                <a:lnTo>
                  <a:pt x="1092007" y="65062"/>
                </a:lnTo>
                <a:lnTo>
                  <a:pt x="1176010" y="59063"/>
                </a:lnTo>
                <a:lnTo>
                  <a:pt x="1260009" y="53075"/>
                </a:lnTo>
                <a:lnTo>
                  <a:pt x="1344009" y="47099"/>
                </a:lnTo>
                <a:lnTo>
                  <a:pt x="1428012" y="41133"/>
                </a:lnTo>
                <a:lnTo>
                  <a:pt x="1512011" y="35178"/>
                </a:lnTo>
                <a:lnTo>
                  <a:pt x="1596011" y="29245"/>
                </a:lnTo>
                <a:lnTo>
                  <a:pt x="1680014" y="23346"/>
                </a:lnTo>
                <a:lnTo>
                  <a:pt x="1764013" y="17468"/>
                </a:lnTo>
                <a:lnTo>
                  <a:pt x="1848013" y="11612"/>
                </a:lnTo>
                <a:lnTo>
                  <a:pt x="1932016" y="5789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5" name="Google Shape;635;p38"/>
          <p:cNvSpPr/>
          <p:nvPr/>
        </p:nvSpPr>
        <p:spPr>
          <a:xfrm>
            <a:off x="257623" y="2642347"/>
            <a:ext cx="2016016" cy="419617"/>
          </a:xfrm>
          <a:custGeom>
            <a:rect b="b" l="l" r="r" t="t"/>
            <a:pathLst>
              <a:path extrusionOk="0" h="419617" w="2016016">
                <a:moveTo>
                  <a:pt x="0" y="419617"/>
                </a:moveTo>
                <a:lnTo>
                  <a:pt x="83999" y="405971"/>
                </a:lnTo>
                <a:lnTo>
                  <a:pt x="168002" y="391491"/>
                </a:lnTo>
                <a:lnTo>
                  <a:pt x="252002" y="376176"/>
                </a:lnTo>
                <a:lnTo>
                  <a:pt x="336001" y="360048"/>
                </a:lnTo>
                <a:lnTo>
                  <a:pt x="420004" y="343151"/>
                </a:lnTo>
                <a:lnTo>
                  <a:pt x="504004" y="325561"/>
                </a:lnTo>
                <a:lnTo>
                  <a:pt x="588003" y="307313"/>
                </a:lnTo>
                <a:lnTo>
                  <a:pt x="672006" y="288515"/>
                </a:lnTo>
                <a:lnTo>
                  <a:pt x="756006" y="269256"/>
                </a:lnTo>
                <a:lnTo>
                  <a:pt x="840005" y="249645"/>
                </a:lnTo>
                <a:lnTo>
                  <a:pt x="924008" y="229793"/>
                </a:lnTo>
                <a:lnTo>
                  <a:pt x="1008008" y="209808"/>
                </a:lnTo>
                <a:lnTo>
                  <a:pt x="1092007" y="189823"/>
                </a:lnTo>
                <a:lnTo>
                  <a:pt x="1176010" y="169971"/>
                </a:lnTo>
                <a:lnTo>
                  <a:pt x="1260009" y="150360"/>
                </a:lnTo>
                <a:lnTo>
                  <a:pt x="1344009" y="131101"/>
                </a:lnTo>
                <a:lnTo>
                  <a:pt x="1428012" y="112303"/>
                </a:lnTo>
                <a:lnTo>
                  <a:pt x="1512011" y="94055"/>
                </a:lnTo>
                <a:lnTo>
                  <a:pt x="1596011" y="76465"/>
                </a:lnTo>
                <a:lnTo>
                  <a:pt x="1680014" y="59568"/>
                </a:lnTo>
                <a:lnTo>
                  <a:pt x="1764013" y="43440"/>
                </a:lnTo>
                <a:lnTo>
                  <a:pt x="1848013" y="28125"/>
                </a:lnTo>
                <a:lnTo>
                  <a:pt x="1932016" y="13645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38"/>
          <p:cNvSpPr/>
          <p:nvPr/>
        </p:nvSpPr>
        <p:spPr>
          <a:xfrm>
            <a:off x="257623" y="2505104"/>
            <a:ext cx="2016016" cy="694103"/>
          </a:xfrm>
          <a:custGeom>
            <a:rect b="b" l="l" r="r" t="t"/>
            <a:pathLst>
              <a:path extrusionOk="0" h="694103" w="2016016">
                <a:moveTo>
                  <a:pt x="0" y="694103"/>
                </a:moveTo>
                <a:lnTo>
                  <a:pt x="83999" y="689114"/>
                </a:lnTo>
                <a:lnTo>
                  <a:pt x="168002" y="682248"/>
                </a:lnTo>
                <a:lnTo>
                  <a:pt x="252002" y="672910"/>
                </a:lnTo>
                <a:lnTo>
                  <a:pt x="336001" y="660275"/>
                </a:lnTo>
                <a:lnTo>
                  <a:pt x="420004" y="643411"/>
                </a:lnTo>
                <a:lnTo>
                  <a:pt x="504004" y="621230"/>
                </a:lnTo>
                <a:lnTo>
                  <a:pt x="588003" y="592665"/>
                </a:lnTo>
                <a:lnTo>
                  <a:pt x="672006" y="556860"/>
                </a:lnTo>
                <a:lnTo>
                  <a:pt x="756006" y="513419"/>
                </a:lnTo>
                <a:lnTo>
                  <a:pt x="840005" y="462804"/>
                </a:lnTo>
                <a:lnTo>
                  <a:pt x="924008" y="406499"/>
                </a:lnTo>
                <a:lnTo>
                  <a:pt x="1008008" y="347051"/>
                </a:lnTo>
                <a:lnTo>
                  <a:pt x="1092007" y="287603"/>
                </a:lnTo>
                <a:lnTo>
                  <a:pt x="1176010" y="231298"/>
                </a:lnTo>
                <a:lnTo>
                  <a:pt x="1260009" y="180683"/>
                </a:lnTo>
                <a:lnTo>
                  <a:pt x="1344009" y="137243"/>
                </a:lnTo>
                <a:lnTo>
                  <a:pt x="1428012" y="101437"/>
                </a:lnTo>
                <a:lnTo>
                  <a:pt x="1512011" y="72873"/>
                </a:lnTo>
                <a:lnTo>
                  <a:pt x="1596011" y="50691"/>
                </a:lnTo>
                <a:lnTo>
                  <a:pt x="1680014" y="33827"/>
                </a:lnTo>
                <a:lnTo>
                  <a:pt x="1764013" y="21193"/>
                </a:lnTo>
                <a:lnTo>
                  <a:pt x="1848013" y="11854"/>
                </a:lnTo>
                <a:lnTo>
                  <a:pt x="1932016" y="4987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8"/>
          <p:cNvSpPr/>
          <p:nvPr/>
        </p:nvSpPr>
        <p:spPr>
          <a:xfrm>
            <a:off x="257623" y="2492151"/>
            <a:ext cx="2016016" cy="720008"/>
          </a:xfrm>
          <a:custGeom>
            <a:rect b="b" l="l" r="r" t="t"/>
            <a:pathLst>
              <a:path extrusionOk="0" h="720008" w="2016016">
                <a:moveTo>
                  <a:pt x="0" y="720008"/>
                </a:moveTo>
                <a:lnTo>
                  <a:pt x="29216" y="720008"/>
                </a:lnTo>
                <a:lnTo>
                  <a:pt x="58432" y="720008"/>
                </a:lnTo>
                <a:lnTo>
                  <a:pt x="87652" y="719998"/>
                </a:lnTo>
                <a:lnTo>
                  <a:pt x="116872" y="719998"/>
                </a:lnTo>
                <a:lnTo>
                  <a:pt x="146088" y="719998"/>
                </a:lnTo>
                <a:lnTo>
                  <a:pt x="175304" y="719998"/>
                </a:lnTo>
                <a:lnTo>
                  <a:pt x="204520" y="719998"/>
                </a:lnTo>
                <a:lnTo>
                  <a:pt x="233741" y="719976"/>
                </a:lnTo>
                <a:lnTo>
                  <a:pt x="262960" y="719976"/>
                </a:lnTo>
                <a:lnTo>
                  <a:pt x="292177" y="719954"/>
                </a:lnTo>
                <a:lnTo>
                  <a:pt x="350609" y="719888"/>
                </a:lnTo>
                <a:lnTo>
                  <a:pt x="409045" y="719745"/>
                </a:lnTo>
                <a:lnTo>
                  <a:pt x="467481" y="719448"/>
                </a:lnTo>
                <a:lnTo>
                  <a:pt x="525918" y="718789"/>
                </a:lnTo>
                <a:lnTo>
                  <a:pt x="584350" y="717361"/>
                </a:lnTo>
                <a:lnTo>
                  <a:pt x="642786" y="714307"/>
                </a:lnTo>
                <a:lnTo>
                  <a:pt x="701223" y="707781"/>
                </a:lnTo>
                <a:lnTo>
                  <a:pt x="759659" y="694026"/>
                </a:lnTo>
                <a:lnTo>
                  <a:pt x="818095" y="665988"/>
                </a:lnTo>
                <a:lnTo>
                  <a:pt x="876527" y="612429"/>
                </a:lnTo>
                <a:lnTo>
                  <a:pt x="905744" y="572087"/>
                </a:lnTo>
                <a:lnTo>
                  <a:pt x="934963" y="521549"/>
                </a:lnTo>
                <a:lnTo>
                  <a:pt x="964184" y="461530"/>
                </a:lnTo>
                <a:lnTo>
                  <a:pt x="993400" y="394678"/>
                </a:lnTo>
                <a:lnTo>
                  <a:pt x="1022615" y="325331"/>
                </a:lnTo>
                <a:lnTo>
                  <a:pt x="1051831" y="258478"/>
                </a:lnTo>
                <a:lnTo>
                  <a:pt x="1081052" y="198459"/>
                </a:lnTo>
                <a:lnTo>
                  <a:pt x="1110271" y="147921"/>
                </a:lnTo>
                <a:lnTo>
                  <a:pt x="1139488" y="107579"/>
                </a:lnTo>
                <a:lnTo>
                  <a:pt x="1168704" y="76773"/>
                </a:lnTo>
                <a:lnTo>
                  <a:pt x="1227140" y="37606"/>
                </a:lnTo>
                <a:lnTo>
                  <a:pt x="1285576" y="17864"/>
                </a:lnTo>
                <a:lnTo>
                  <a:pt x="1344009" y="8360"/>
                </a:lnTo>
                <a:lnTo>
                  <a:pt x="1402445" y="3878"/>
                </a:lnTo>
                <a:lnTo>
                  <a:pt x="1460881" y="1802"/>
                </a:lnTo>
                <a:lnTo>
                  <a:pt x="1519317" y="824"/>
                </a:lnTo>
                <a:lnTo>
                  <a:pt x="1577750" y="384"/>
                </a:lnTo>
                <a:lnTo>
                  <a:pt x="1636186" y="176"/>
                </a:lnTo>
                <a:lnTo>
                  <a:pt x="1694622" y="77"/>
                </a:lnTo>
                <a:lnTo>
                  <a:pt x="1753055" y="33"/>
                </a:lnTo>
                <a:lnTo>
                  <a:pt x="1782274" y="33"/>
                </a:lnTo>
                <a:lnTo>
                  <a:pt x="1811495" y="11"/>
                </a:lnTo>
                <a:lnTo>
                  <a:pt x="1840711" y="11"/>
                </a:lnTo>
                <a:lnTo>
                  <a:pt x="1869927" y="11"/>
                </a:lnTo>
                <a:lnTo>
                  <a:pt x="1899143" y="11"/>
                </a:lnTo>
                <a:lnTo>
                  <a:pt x="1928363" y="11"/>
                </a:lnTo>
                <a:lnTo>
                  <a:pt x="1957583" y="0"/>
                </a:lnTo>
                <a:lnTo>
                  <a:pt x="1986799" y="0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8"/>
          <p:cNvSpPr/>
          <p:nvPr/>
        </p:nvSpPr>
        <p:spPr>
          <a:xfrm>
            <a:off x="257623" y="2492151"/>
            <a:ext cx="2016016" cy="720008"/>
          </a:xfrm>
          <a:custGeom>
            <a:rect b="b" l="l" r="r" t="t"/>
            <a:pathLst>
              <a:path extrusionOk="0" h="720008" w="2016016">
                <a:moveTo>
                  <a:pt x="0" y="720008"/>
                </a:moveTo>
                <a:lnTo>
                  <a:pt x="0" y="720008"/>
                </a:lnTo>
                <a:lnTo>
                  <a:pt x="692367" y="720008"/>
                </a:lnTo>
                <a:lnTo>
                  <a:pt x="712731" y="719998"/>
                </a:lnTo>
                <a:lnTo>
                  <a:pt x="733096" y="719998"/>
                </a:lnTo>
                <a:lnTo>
                  <a:pt x="753460" y="719976"/>
                </a:lnTo>
                <a:lnTo>
                  <a:pt x="794189" y="719855"/>
                </a:lnTo>
                <a:lnTo>
                  <a:pt x="834914" y="719262"/>
                </a:lnTo>
                <a:lnTo>
                  <a:pt x="875643" y="716262"/>
                </a:lnTo>
                <a:lnTo>
                  <a:pt x="916368" y="701530"/>
                </a:lnTo>
                <a:lnTo>
                  <a:pt x="957097" y="635699"/>
                </a:lnTo>
                <a:lnTo>
                  <a:pt x="977461" y="554893"/>
                </a:lnTo>
                <a:lnTo>
                  <a:pt x="997826" y="431757"/>
                </a:lnTo>
                <a:lnTo>
                  <a:pt x="1018189" y="288252"/>
                </a:lnTo>
                <a:lnTo>
                  <a:pt x="1038554" y="165115"/>
                </a:lnTo>
                <a:lnTo>
                  <a:pt x="1058918" y="84310"/>
                </a:lnTo>
                <a:lnTo>
                  <a:pt x="1079283" y="40188"/>
                </a:lnTo>
                <a:lnTo>
                  <a:pt x="1120008" y="8360"/>
                </a:lnTo>
                <a:lnTo>
                  <a:pt x="1160737" y="1681"/>
                </a:lnTo>
                <a:lnTo>
                  <a:pt x="1201465" y="329"/>
                </a:lnTo>
                <a:lnTo>
                  <a:pt x="1242190" y="66"/>
                </a:lnTo>
                <a:lnTo>
                  <a:pt x="1282919" y="11"/>
                </a:lnTo>
                <a:lnTo>
                  <a:pt x="1303284" y="11"/>
                </a:lnTo>
                <a:lnTo>
                  <a:pt x="1323648" y="0"/>
                </a:lnTo>
                <a:lnTo>
                  <a:pt x="1995651" y="0"/>
                </a:lnTo>
                <a:lnTo>
                  <a:pt x="2016016" y="0"/>
                </a:lnTo>
              </a:path>
            </a:pathLst>
          </a:custGeom>
          <a:noFill/>
          <a:ln cap="flat" cmpd="sng" w="126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8"/>
          <p:cNvSpPr/>
          <p:nvPr/>
        </p:nvSpPr>
        <p:spPr>
          <a:xfrm>
            <a:off x="2021637" y="2801750"/>
            <a:ext cx="252002" cy="194405"/>
          </a:xfrm>
          <a:custGeom>
            <a:rect b="b" l="l" r="r" t="t"/>
            <a:pathLst>
              <a:path extrusionOk="0" h="194405" w="252002">
                <a:moveTo>
                  <a:pt x="0" y="0"/>
                </a:moveTo>
                <a:lnTo>
                  <a:pt x="252002" y="194405"/>
                </a:lnTo>
              </a:path>
            </a:pathLst>
          </a:custGeom>
          <a:noFill/>
          <a:ln cap="flat" cmpd="sng" w="9525">
            <a:solidFill>
              <a:srgbClr val="FFCC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38"/>
          <p:cNvSpPr txBox="1"/>
          <p:nvPr/>
        </p:nvSpPr>
        <p:spPr>
          <a:xfrm>
            <a:off x="2308707" y="2929140"/>
            <a:ext cx="354330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10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1" name="Google Shape;641;p38"/>
          <p:cNvSpPr/>
          <p:nvPr/>
        </p:nvSpPr>
        <p:spPr>
          <a:xfrm>
            <a:off x="2021637" y="2686557"/>
            <a:ext cx="252002" cy="71994"/>
          </a:xfrm>
          <a:custGeom>
            <a:rect b="b" l="l" r="r" t="t"/>
            <a:pathLst>
              <a:path extrusionOk="0" h="71994" w="252002">
                <a:moveTo>
                  <a:pt x="0" y="0"/>
                </a:moveTo>
                <a:lnTo>
                  <a:pt x="252002" y="71994"/>
                </a:lnTo>
              </a:path>
            </a:pathLst>
          </a:custGeom>
          <a:noFill/>
          <a:ln cap="flat" cmpd="sng" w="9525">
            <a:solidFill>
              <a:srgbClr val="FF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2021637" y="2528154"/>
            <a:ext cx="252002" cy="71994"/>
          </a:xfrm>
          <a:custGeom>
            <a:rect b="b" l="l" r="r" t="t"/>
            <a:pathLst>
              <a:path extrusionOk="0" h="71994" w="252002">
                <a:moveTo>
                  <a:pt x="0" y="0"/>
                </a:moveTo>
                <a:lnTo>
                  <a:pt x="252002" y="71994"/>
                </a:lnTo>
              </a:path>
            </a:pathLst>
          </a:custGeom>
          <a:noFill/>
          <a:ln cap="flat" cmpd="sng" w="9525">
            <a:solidFill>
              <a:srgbClr val="FF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8"/>
          <p:cNvSpPr txBox="1"/>
          <p:nvPr/>
        </p:nvSpPr>
        <p:spPr>
          <a:xfrm>
            <a:off x="2308707" y="2533142"/>
            <a:ext cx="300355" cy="298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8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4" name="Google Shape;644;p38"/>
          <p:cNvSpPr/>
          <p:nvPr/>
        </p:nvSpPr>
        <p:spPr>
          <a:xfrm>
            <a:off x="1391632" y="2276146"/>
            <a:ext cx="126001" cy="331209"/>
          </a:xfrm>
          <a:custGeom>
            <a:rect b="b" l="l" r="r" t="t"/>
            <a:pathLst>
              <a:path extrusionOk="0" h="331209" w="126001">
                <a:moveTo>
                  <a:pt x="0" y="331209"/>
                </a:moveTo>
                <a:lnTo>
                  <a:pt x="126001" y="0"/>
                </a:lnTo>
              </a:path>
            </a:pathLst>
          </a:custGeom>
          <a:noFill/>
          <a:ln cap="flat" cmpd="sng" w="9525">
            <a:solidFill>
              <a:srgbClr val="FF333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38"/>
          <p:cNvSpPr txBox="1"/>
          <p:nvPr/>
        </p:nvSpPr>
        <p:spPr>
          <a:xfrm>
            <a:off x="1552702" y="2209139"/>
            <a:ext cx="3841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6" name="Google Shape;646;p38"/>
          <p:cNvSpPr/>
          <p:nvPr/>
        </p:nvSpPr>
        <p:spPr>
          <a:xfrm>
            <a:off x="1265631" y="2276146"/>
            <a:ext cx="126000" cy="223201"/>
          </a:xfrm>
          <a:custGeom>
            <a:rect b="b" l="l" r="r" t="t"/>
            <a:pathLst>
              <a:path extrusionOk="0" h="223201" w="126000">
                <a:moveTo>
                  <a:pt x="126000" y="223201"/>
                </a:moveTo>
                <a:lnTo>
                  <a:pt x="0" y="0"/>
                </a:lnTo>
              </a:path>
            </a:pathLst>
          </a:cu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38"/>
          <p:cNvSpPr txBox="1"/>
          <p:nvPr/>
        </p:nvSpPr>
        <p:spPr>
          <a:xfrm>
            <a:off x="846772" y="2209139"/>
            <a:ext cx="3841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 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0</a:t>
            </a:r>
            <a:r>
              <a:rPr i="1"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8" name="Google Shape;648;p38"/>
          <p:cNvSpPr txBox="1"/>
          <p:nvPr/>
        </p:nvSpPr>
        <p:spPr>
          <a:xfrm>
            <a:off x="1626666" y="929297"/>
            <a:ext cx="6540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Сигмоида: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9" name="Google Shape;649;p38"/>
          <p:cNvSpPr txBox="1"/>
          <p:nvPr/>
        </p:nvSpPr>
        <p:spPr>
          <a:xfrm>
            <a:off x="1626666" y="1101369"/>
            <a:ext cx="45720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0" name="Google Shape;650;p38"/>
          <p:cNvSpPr txBox="1"/>
          <p:nvPr/>
        </p:nvSpPr>
        <p:spPr>
          <a:xfrm>
            <a:off x="2300846" y="1084922"/>
            <a:ext cx="79375" cy="1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8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1" name="Google Shape;651;p38"/>
          <p:cNvSpPr/>
          <p:nvPr/>
        </p:nvSpPr>
        <p:spPr>
          <a:xfrm>
            <a:off x="2124786" y="1206436"/>
            <a:ext cx="431292" cy="0"/>
          </a:xfrm>
          <a:custGeom>
            <a:rect b="b" l="l" r="r" t="t"/>
            <a:pathLst>
              <a:path extrusionOk="0" h="120000" w="431292">
                <a:moveTo>
                  <a:pt x="0" y="0"/>
                </a:moveTo>
                <a:lnTo>
                  <a:pt x="431292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38"/>
          <p:cNvSpPr txBox="1"/>
          <p:nvPr/>
        </p:nvSpPr>
        <p:spPr>
          <a:xfrm>
            <a:off x="2112086" y="1170089"/>
            <a:ext cx="438150" cy="1695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1+</a:t>
            </a:r>
            <a:r>
              <a:rPr baseline="-25000" i="1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i="1"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−�/</a:t>
            </a:r>
            <a:r>
              <a:rPr i="1" lang="ru-RU" sz="6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3" name="Google Shape;653;p38"/>
          <p:cNvSpPr txBox="1"/>
          <p:nvPr/>
        </p:nvSpPr>
        <p:spPr>
          <a:xfrm>
            <a:off x="2921101" y="929297"/>
            <a:ext cx="132715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4" name="Google Shape;654;p38"/>
          <p:cNvSpPr txBox="1"/>
          <p:nvPr/>
        </p:nvSpPr>
        <p:spPr>
          <a:xfrm>
            <a:off x="2921101" y="1096896"/>
            <a:ext cx="1435100" cy="8775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70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−∞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0 0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�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31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(0) = 0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5" name="Google Shape;655;p38"/>
          <p:cNvSpPr txBox="1"/>
          <p:nvPr/>
        </p:nvSpPr>
        <p:spPr>
          <a:xfrm>
            <a:off x="2921101" y="2073084"/>
            <a:ext cx="1156970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при </a:t>
            </a:r>
            <a:r>
              <a:rPr i="1" lang="ru-RU" sz="11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→</a:t>
            </a:r>
            <a:endParaRPr sz="1100">
              <a:solidFill>
                <a:schemeClr val="dk1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656" name="Google Shape;656;p38"/>
          <p:cNvSpPr/>
          <p:nvPr/>
        </p:nvSpPr>
        <p:spPr>
          <a:xfrm>
            <a:off x="4067479" y="2088154"/>
            <a:ext cx="360004" cy="180002"/>
          </a:xfrm>
          <a:custGeom>
            <a:rect b="b" l="l" r="r" t="t"/>
            <a:pathLst>
              <a:path extrusionOk="0" h="180002" w="360004">
                <a:moveTo>
                  <a:pt x="0" y="180002"/>
                </a:moveTo>
                <a:lnTo>
                  <a:pt x="180002" y="180002"/>
                </a:lnTo>
                <a:lnTo>
                  <a:pt x="180002" y="0"/>
                </a:lnTo>
                <a:lnTo>
                  <a:pt x="360004" y="0"/>
                </a:lnTo>
              </a:path>
            </a:pathLst>
          </a:custGeom>
          <a:noFill/>
          <a:ln cap="flat" cmpd="sng" w="9525">
            <a:solidFill>
              <a:srgbClr val="D4D5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3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5/13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8" name="Google Shape;658;p38"/>
          <p:cNvSpPr txBox="1"/>
          <p:nvPr/>
        </p:nvSpPr>
        <p:spPr>
          <a:xfrm>
            <a:off x="2302281" y="3222777"/>
            <a:ext cx="9017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8"/>
          <p:cNvSpPr txBox="1"/>
          <p:nvPr/>
        </p:nvSpPr>
        <p:spPr>
          <a:xfrm>
            <a:off x="1222298" y="3222777"/>
            <a:ext cx="94615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0" name="Google Shape;66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673" y="214022"/>
            <a:ext cx="4583600" cy="3196080"/>
          </a:xfrm>
          <a:prstGeom prst="rect">
            <a:avLst/>
          </a:prstGeom>
          <a:noFill/>
          <a:ln>
            <a:noFill/>
          </a:ln>
        </p:spPr>
      </p:pic>
      <p:sp>
        <p:nvSpPr>
          <p:cNvPr id="661" name="Google Shape;661;p38"/>
          <p:cNvSpPr/>
          <p:nvPr/>
        </p:nvSpPr>
        <p:spPr>
          <a:xfrm>
            <a:off x="4347307" y="3182806"/>
            <a:ext cx="245585" cy="15094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8"/>
          <p:cNvSpPr txBox="1"/>
          <p:nvPr/>
        </p:nvSpPr>
        <p:spPr>
          <a:xfrm>
            <a:off x="4115269" y="3280923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3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“НЕ”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39"/>
          <p:cNvSpPr/>
          <p:nvPr/>
        </p:nvSpPr>
        <p:spPr>
          <a:xfrm>
            <a:off x="1116609" y="979957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9" name="Google Shape;669;p39"/>
          <p:cNvSpPr txBox="1"/>
          <p:nvPr/>
        </p:nvSpPr>
        <p:spPr>
          <a:xfrm>
            <a:off x="1103909" y="919302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0" name="Google Shape;670;p39"/>
          <p:cNvSpPr/>
          <p:nvPr/>
        </p:nvSpPr>
        <p:spPr>
          <a:xfrm>
            <a:off x="1340116" y="1373111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3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2" name="Google Shape;672;p39"/>
          <p:cNvSpPr txBox="1"/>
          <p:nvPr/>
        </p:nvSpPr>
        <p:spPr>
          <a:xfrm>
            <a:off x="2299690" y="629003"/>
            <a:ext cx="1843405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Задача: сделать нейрон, который выполняет операцию отрицания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73" name="Google Shape;673;p39"/>
          <p:cNvGraphicFramePr/>
          <p:nvPr/>
        </p:nvGraphicFramePr>
        <p:xfrm>
          <a:off x="705567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25"/>
                <a:gridCol w="447025"/>
              </a:tblGrid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х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74" name="Google Shape;6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5438" y="742950"/>
            <a:ext cx="1666491" cy="181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4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“НЕ”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0" name="Google Shape;680;p40"/>
          <p:cNvSpPr/>
          <p:nvPr/>
        </p:nvSpPr>
        <p:spPr>
          <a:xfrm>
            <a:off x="1116609" y="979957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0"/>
          <p:cNvSpPr txBox="1"/>
          <p:nvPr/>
        </p:nvSpPr>
        <p:spPr>
          <a:xfrm>
            <a:off x="1103909" y="919302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2" name="Google Shape;682;p40"/>
          <p:cNvSpPr/>
          <p:nvPr/>
        </p:nvSpPr>
        <p:spPr>
          <a:xfrm>
            <a:off x="1340116" y="1373111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3" name="Google Shape;683;p40"/>
          <p:cNvSpPr txBox="1"/>
          <p:nvPr/>
        </p:nvSpPr>
        <p:spPr>
          <a:xfrm>
            <a:off x="2299690" y="629003"/>
            <a:ext cx="1843405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Задача: сделать нейрон, который выполняет операцию отрицания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4" name="Google Shape;684;p40"/>
          <p:cNvSpPr/>
          <p:nvPr/>
        </p:nvSpPr>
        <p:spPr>
          <a:xfrm>
            <a:off x="2312390" y="1269980"/>
            <a:ext cx="1799878" cy="6787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5" name="Google Shape;685;p40"/>
          <p:cNvSpPr txBox="1"/>
          <p:nvPr/>
        </p:nvSpPr>
        <p:spPr>
          <a:xfrm>
            <a:off x="2407691" y="1413091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6" name="Google Shape;686;p4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7" name="Google Shape;687;p40"/>
          <p:cNvSpPr txBox="1"/>
          <p:nvPr/>
        </p:nvSpPr>
        <p:spPr>
          <a:xfrm>
            <a:off x="3710876" y="1521079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8" name="Google Shape;688;p40"/>
          <p:cNvSpPr txBox="1"/>
          <p:nvPr/>
        </p:nvSpPr>
        <p:spPr>
          <a:xfrm>
            <a:off x="3955669" y="141309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689" name="Google Shape;689;p40"/>
          <p:cNvGraphicFramePr/>
          <p:nvPr/>
        </p:nvGraphicFramePr>
        <p:xfrm>
          <a:off x="705567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25"/>
                <a:gridCol w="447025"/>
              </a:tblGrid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690" name="Google Shape;690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38" y="742950"/>
            <a:ext cx="1666491" cy="181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“НЕ”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6" name="Google Shape;696;p41"/>
          <p:cNvSpPr/>
          <p:nvPr/>
        </p:nvSpPr>
        <p:spPr>
          <a:xfrm>
            <a:off x="1116609" y="979957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1"/>
          <p:cNvSpPr txBox="1"/>
          <p:nvPr/>
        </p:nvSpPr>
        <p:spPr>
          <a:xfrm>
            <a:off x="1103909" y="919302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8" name="Google Shape;698;p41"/>
          <p:cNvSpPr/>
          <p:nvPr/>
        </p:nvSpPr>
        <p:spPr>
          <a:xfrm>
            <a:off x="1340116" y="1373111"/>
            <a:ext cx="79184" cy="0"/>
          </a:xfrm>
          <a:custGeom>
            <a:rect b="b" l="l" r="r" t="t"/>
            <a:pathLst>
              <a:path extrusionOk="0" h="120000" w="79184">
                <a:moveTo>
                  <a:pt x="0" y="0"/>
                </a:moveTo>
                <a:lnTo>
                  <a:pt x="79184" y="0"/>
                </a:lnTo>
              </a:path>
            </a:pathLst>
          </a:custGeom>
          <a:noFill/>
          <a:ln cap="flat" cmpd="sng" w="9525">
            <a:solidFill>
              <a:srgbClr val="FFD56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1"/>
          <p:cNvSpPr txBox="1"/>
          <p:nvPr/>
        </p:nvSpPr>
        <p:spPr>
          <a:xfrm>
            <a:off x="2299690" y="629003"/>
            <a:ext cx="1843405" cy="5378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Задача: сделать нейрон, который выполняет операцию отрицания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0" name="Google Shape;700;p41"/>
          <p:cNvSpPr/>
          <p:nvPr/>
        </p:nvSpPr>
        <p:spPr>
          <a:xfrm>
            <a:off x="2312390" y="1269980"/>
            <a:ext cx="1799878" cy="6787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1"/>
          <p:cNvSpPr txBox="1"/>
          <p:nvPr/>
        </p:nvSpPr>
        <p:spPr>
          <a:xfrm>
            <a:off x="2407691" y="1413091"/>
            <a:ext cx="10477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2" name="Google Shape;702;p4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3" name="Google Shape;703;p41"/>
          <p:cNvSpPr txBox="1"/>
          <p:nvPr/>
        </p:nvSpPr>
        <p:spPr>
          <a:xfrm>
            <a:off x="3710876" y="1521079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f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4" name="Google Shape;704;p41"/>
          <p:cNvSpPr txBox="1"/>
          <p:nvPr/>
        </p:nvSpPr>
        <p:spPr>
          <a:xfrm>
            <a:off x="3955669" y="141309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5" name="Google Shape;705;p41"/>
          <p:cNvSpPr txBox="1"/>
          <p:nvPr/>
        </p:nvSpPr>
        <p:spPr>
          <a:xfrm>
            <a:off x="2587688" y="1521079"/>
            <a:ext cx="202565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6" name="Google Shape;706;p41"/>
          <p:cNvSpPr txBox="1"/>
          <p:nvPr/>
        </p:nvSpPr>
        <p:spPr>
          <a:xfrm>
            <a:off x="3286074" y="1728584"/>
            <a:ext cx="14732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i="1"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07" name="Google Shape;707;p41"/>
          <p:cNvGraphicFramePr/>
          <p:nvPr/>
        </p:nvGraphicFramePr>
        <p:xfrm>
          <a:off x="705567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25"/>
                <a:gridCol w="447025"/>
              </a:tblGrid>
              <a:tr h="3223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08" name="Google Shape;708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5438" y="742950"/>
            <a:ext cx="1666491" cy="18104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4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4" name="Google Shape;714;p4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5" name="Google Shape;715;p42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16" name="Google Shape;716;p42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17" name="Google Shape;71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206" y="886499"/>
            <a:ext cx="1888180" cy="22939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2" name="Google Shape;722;p4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3" name="Google Shape;723;p43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4" name="Google Shape;724;p43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5" name="Google Shape;725;p43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7" name="Google Shape;727;p43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8" name="Google Shape;728;p43"/>
          <p:cNvSpPr txBox="1"/>
          <p:nvPr/>
        </p:nvSpPr>
        <p:spPr>
          <a:xfrm>
            <a:off x="2415184" y="360108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9" name="Google Shape;729;p43"/>
          <p:cNvSpPr txBox="1"/>
          <p:nvPr/>
        </p:nvSpPr>
        <p:spPr>
          <a:xfrm>
            <a:off x="2415184" y="813701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0" name="Google Shape;730;p43"/>
          <p:cNvSpPr txBox="1"/>
          <p:nvPr/>
        </p:nvSpPr>
        <p:spPr>
          <a:xfrm>
            <a:off x="3315169" y="790003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1" name="Google Shape;731;p43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32" name="Google Shape;732;p43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33" name="Google Shape;73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2206" y="886499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34" name="Google Shape;73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893" y="308876"/>
            <a:ext cx="2431352" cy="942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4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0" name="Google Shape;740;p44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1" name="Google Shape;741;p44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4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3" name="Google Shape;743;p4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4" name="Google Shape;744;p44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5" name="Google Shape;745;p44"/>
          <p:cNvSpPr txBox="1"/>
          <p:nvPr/>
        </p:nvSpPr>
        <p:spPr>
          <a:xfrm>
            <a:off x="2415184" y="360108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6" name="Google Shape;746;p44"/>
          <p:cNvSpPr txBox="1"/>
          <p:nvPr/>
        </p:nvSpPr>
        <p:spPr>
          <a:xfrm>
            <a:off x="2415184" y="813701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44"/>
          <p:cNvSpPr txBox="1"/>
          <p:nvPr/>
        </p:nvSpPr>
        <p:spPr>
          <a:xfrm>
            <a:off x="3315169" y="790003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8" name="Google Shape;748;p44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44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0" name="Google Shape;750;p44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4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2" name="Google Shape;752;p44"/>
          <p:cNvSpPr txBox="1"/>
          <p:nvPr/>
        </p:nvSpPr>
        <p:spPr>
          <a:xfrm>
            <a:off x="2294491" y="1844027"/>
            <a:ext cx="107061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53" name="Google Shape;753;p44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54" name="Google Shape;75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2538" y="875515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55" name="Google Shape;755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894" y="360107"/>
            <a:ext cx="2512606" cy="182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9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p4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1" name="Google Shape;761;p45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2" name="Google Shape;762;p45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45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4" name="Google Shape;764;p45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5"/>
          <p:cNvSpPr txBox="1"/>
          <p:nvPr/>
        </p:nvSpPr>
        <p:spPr>
          <a:xfrm>
            <a:off x="2415184" y="360108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6" name="Google Shape;766;p45"/>
          <p:cNvSpPr txBox="1"/>
          <p:nvPr/>
        </p:nvSpPr>
        <p:spPr>
          <a:xfrm>
            <a:off x="2415184" y="813701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7" name="Google Shape;767;p45"/>
          <p:cNvSpPr txBox="1"/>
          <p:nvPr/>
        </p:nvSpPr>
        <p:spPr>
          <a:xfrm>
            <a:off x="3315169" y="790003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8" name="Google Shape;768;p45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9" name="Google Shape;769;p45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0" name="Google Shape;770;p45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1" name="Google Shape;771;p45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2" name="Google Shape;772;p45"/>
          <p:cNvSpPr txBox="1"/>
          <p:nvPr/>
        </p:nvSpPr>
        <p:spPr>
          <a:xfrm>
            <a:off x="2271191" y="1844027"/>
            <a:ext cx="1094105" cy="4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3" name="Google Shape;773;p45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5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5" name="Google Shape;775;p4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76" name="Google Shape;776;p45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777" name="Google Shape;777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009" y="867771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8" name="Google Shape;778;p4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73692" y="138707"/>
            <a:ext cx="2458608" cy="30620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4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4" name="Google Shape;784;p46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5" name="Google Shape;785;p46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6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7" name="Google Shape;787;p46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8" name="Google Shape;788;p46"/>
          <p:cNvSpPr txBox="1"/>
          <p:nvPr/>
        </p:nvSpPr>
        <p:spPr>
          <a:xfrm>
            <a:off x="2415184" y="360108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9" name="Google Shape;789;p46"/>
          <p:cNvSpPr txBox="1"/>
          <p:nvPr/>
        </p:nvSpPr>
        <p:spPr>
          <a:xfrm>
            <a:off x="2415184" y="813701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46"/>
          <p:cNvSpPr txBox="1"/>
          <p:nvPr/>
        </p:nvSpPr>
        <p:spPr>
          <a:xfrm>
            <a:off x="3315169" y="790003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1" name="Google Shape;791;p46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2" name="Google Shape;792;p46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3" name="Google Shape;793;p46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4" name="Google Shape;794;p46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5" name="Google Shape;795;p46"/>
          <p:cNvSpPr txBox="1"/>
          <p:nvPr/>
        </p:nvSpPr>
        <p:spPr>
          <a:xfrm>
            <a:off x="2271191" y="1844027"/>
            <a:ext cx="1094105" cy="4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6" name="Google Shape;796;p46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6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8" name="Google Shape;798;p46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799" name="Google Shape;799;p46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00" name="Google Shape;80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13" y="867771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95893" y="282714"/>
            <a:ext cx="2380318" cy="28789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4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7" name="Google Shape;807;p47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8" name="Google Shape;808;p47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9" name="Google Shape;809;p47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0" name="Google Shape;810;p47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1" name="Google Shape;811;p47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2" name="Google Shape;812;p47"/>
          <p:cNvSpPr txBox="1"/>
          <p:nvPr/>
        </p:nvSpPr>
        <p:spPr>
          <a:xfrm>
            <a:off x="2379179" y="360108"/>
            <a:ext cx="202565" cy="839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3" name="Google Shape;813;p47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4" name="Google Shape;814;p47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5" name="Google Shape;815;p47"/>
          <p:cNvSpPr txBox="1"/>
          <p:nvPr/>
        </p:nvSpPr>
        <p:spPr>
          <a:xfrm>
            <a:off x="3279165" y="790003"/>
            <a:ext cx="147320" cy="315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6" name="Google Shape;816;p47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7" name="Google Shape;817;p47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8" name="Google Shape;818;p47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9" name="Google Shape;819;p47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0" name="Google Shape;820;p47"/>
          <p:cNvSpPr txBox="1"/>
          <p:nvPr/>
        </p:nvSpPr>
        <p:spPr>
          <a:xfrm>
            <a:off x="2271191" y="1844027"/>
            <a:ext cx="1094105" cy="4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21" name="Google Shape;821;p47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22" name="Google Shape;822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4551" y="875039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02731" y="196974"/>
            <a:ext cx="2487250" cy="29719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4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9" name="Google Shape;829;p48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0" name="Google Shape;830;p48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1" name="Google Shape;831;p48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2" name="Google Shape;832;p48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3" name="Google Shape;833;p48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4" name="Google Shape;834;p48"/>
          <p:cNvSpPr txBox="1"/>
          <p:nvPr/>
        </p:nvSpPr>
        <p:spPr>
          <a:xfrm>
            <a:off x="2379179" y="360108"/>
            <a:ext cx="202565" cy="8394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2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−</a:t>
            </a: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5" name="Google Shape;835;p48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6" name="Google Shape;836;p48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7" name="Google Shape;837;p48"/>
          <p:cNvSpPr txBox="1"/>
          <p:nvPr/>
        </p:nvSpPr>
        <p:spPr>
          <a:xfrm>
            <a:off x="3279165" y="790003"/>
            <a:ext cx="147320" cy="315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482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8" name="Google Shape;838;p48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9" name="Google Shape;839;p48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0" name="Google Shape;840;p48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1" name="Google Shape;841;p48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2" name="Google Shape;842;p48"/>
          <p:cNvSpPr txBox="1"/>
          <p:nvPr/>
        </p:nvSpPr>
        <p:spPr>
          <a:xfrm>
            <a:off x="2271191" y="1844027"/>
            <a:ext cx="1094105" cy="4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3" name="Google Shape;843;p48"/>
          <p:cNvSpPr txBox="1"/>
          <p:nvPr/>
        </p:nvSpPr>
        <p:spPr>
          <a:xfrm>
            <a:off x="2847174" y="2589974"/>
            <a:ext cx="42418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Не ОК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44" name="Google Shape;844;p48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45" name="Google Shape;845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713" y="869267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46" name="Google Shape;846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85147" y="240090"/>
            <a:ext cx="2435093" cy="29535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4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2" name="Google Shape;852;p49"/>
          <p:cNvSpPr txBox="1"/>
          <p:nvPr/>
        </p:nvSpPr>
        <p:spPr>
          <a:xfrm>
            <a:off x="747547" y="919302"/>
            <a:ext cx="497205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&amp;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3" name="Google Shape;853;p49"/>
          <p:cNvSpPr/>
          <p:nvPr/>
        </p:nvSpPr>
        <p:spPr>
          <a:xfrm>
            <a:off x="1995893" y="389887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49"/>
          <p:cNvSpPr txBox="1"/>
          <p:nvPr/>
        </p:nvSpPr>
        <p:spPr>
          <a:xfrm>
            <a:off x="2091194" y="4156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5" name="Google Shape;855;p49"/>
          <p:cNvSpPr txBox="1"/>
          <p:nvPr/>
        </p:nvSpPr>
        <p:spPr>
          <a:xfrm>
            <a:off x="2091194" y="861999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9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49"/>
          <p:cNvSpPr txBox="1"/>
          <p:nvPr/>
        </p:nvSpPr>
        <p:spPr>
          <a:xfrm>
            <a:off x="2415184" y="360108"/>
            <a:ext cx="149225" cy="34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826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8" name="Google Shape;858;p49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9" name="Google Shape;859;p49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0" name="Google Shape;860;p49"/>
          <p:cNvSpPr txBox="1"/>
          <p:nvPr/>
        </p:nvSpPr>
        <p:spPr>
          <a:xfrm>
            <a:off x="2415184" y="813701"/>
            <a:ext cx="149225" cy="3435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8260" marR="0" rtl="0" algn="l">
              <a:lnSpc>
                <a:spcPct val="100000"/>
              </a:lnSpc>
              <a:spcBef>
                <a:spcPts val="27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1" name="Google Shape;861;p49"/>
          <p:cNvSpPr txBox="1"/>
          <p:nvPr/>
        </p:nvSpPr>
        <p:spPr>
          <a:xfrm>
            <a:off x="3271977" y="790003"/>
            <a:ext cx="19304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558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318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2" name="Google Shape;862;p49"/>
          <p:cNvSpPr txBox="1"/>
          <p:nvPr/>
        </p:nvSpPr>
        <p:spPr>
          <a:xfrm>
            <a:off x="3826357" y="754011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3" name="Google Shape;863;p49"/>
          <p:cNvSpPr txBox="1"/>
          <p:nvPr/>
        </p:nvSpPr>
        <p:spPr>
          <a:xfrm>
            <a:off x="2294491" y="1342987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5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4" name="Google Shape;864;p49"/>
          <p:cNvSpPr txBox="1"/>
          <p:nvPr/>
        </p:nvSpPr>
        <p:spPr>
          <a:xfrm>
            <a:off x="2294559" y="1376641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5" name="Google Shape;865;p49"/>
          <p:cNvSpPr txBox="1"/>
          <p:nvPr/>
        </p:nvSpPr>
        <p:spPr>
          <a:xfrm>
            <a:off x="2294559" y="1677009"/>
            <a:ext cx="107061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6" name="Google Shape;866;p49"/>
          <p:cNvSpPr txBox="1"/>
          <p:nvPr/>
        </p:nvSpPr>
        <p:spPr>
          <a:xfrm>
            <a:off x="2271191" y="1844027"/>
            <a:ext cx="1094105" cy="404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355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1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7" name="Google Shape;867;p49"/>
          <p:cNvSpPr txBox="1"/>
          <p:nvPr/>
        </p:nvSpPr>
        <p:spPr>
          <a:xfrm>
            <a:off x="2847174" y="2589974"/>
            <a:ext cx="222250" cy="189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ОК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68" name="Google Shape;868;p49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&amp;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69" name="Google Shape;869;p4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74683" y="886852"/>
            <a:ext cx="1888180" cy="22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0" name="Google Shape;870;p4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21814" y="221766"/>
            <a:ext cx="2415214" cy="2971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4" name="Shape 8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5" name="Google Shape;875;p5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6" name="Google Shape;876;p50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7" name="Google Shape;877;p50"/>
          <p:cNvSpPr txBox="1"/>
          <p:nvPr/>
        </p:nvSpPr>
        <p:spPr>
          <a:xfrm>
            <a:off x="762939" y="919302"/>
            <a:ext cx="466725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||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78" name="Google Shape;878;p50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||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79" name="Google Shape;879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819150"/>
            <a:ext cx="1911934" cy="2295386"/>
          </a:xfrm>
          <a:prstGeom prst="rect">
            <a:avLst/>
          </a:prstGeom>
          <a:noFill/>
          <a:ln>
            <a:noFill/>
          </a:ln>
        </p:spPr>
      </p:pic>
      <p:sp>
        <p:nvSpPr>
          <p:cNvPr id="880" name="Google Shape;880;p50"/>
          <p:cNvSpPr/>
          <p:nvPr/>
        </p:nvSpPr>
        <p:spPr>
          <a:xfrm>
            <a:off x="2154936" y="1148537"/>
            <a:ext cx="229870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Смоделируйте нейрон «ИЛИ», подберите два параметра: вес и смещение, продемонстрируйте решение на графике.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>
    <p:fade thruBlk="1"/>
  </p:transition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4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p5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“Исключающее 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6" name="Google Shape;886;p51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7" name="Google Shape;887;p51"/>
          <p:cNvSpPr txBox="1"/>
          <p:nvPr/>
        </p:nvSpPr>
        <p:spPr>
          <a:xfrm>
            <a:off x="762647" y="919302"/>
            <a:ext cx="467359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⊕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888" name="Google Shape;888;p51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⊕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9" name="Google Shape;889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" y="819150"/>
            <a:ext cx="1795977" cy="2224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3" name="Shape 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4" name="Google Shape;894;p5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“Исключающее 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5" name="Google Shape;895;p52"/>
          <p:cNvSpPr txBox="1"/>
          <p:nvPr/>
        </p:nvSpPr>
        <p:spPr>
          <a:xfrm>
            <a:off x="762647" y="919302"/>
            <a:ext cx="467359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⊕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6" name="Google Shape;896;p52"/>
          <p:cNvSpPr/>
          <p:nvPr/>
        </p:nvSpPr>
        <p:spPr>
          <a:xfrm>
            <a:off x="1995893" y="533892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7" name="Google Shape;897;p52"/>
          <p:cNvSpPr txBox="1"/>
          <p:nvPr/>
        </p:nvSpPr>
        <p:spPr>
          <a:xfrm>
            <a:off x="2091194" y="559612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8" name="Google Shape;898;p52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9" name="Google Shape;899;p52"/>
          <p:cNvSpPr txBox="1"/>
          <p:nvPr/>
        </p:nvSpPr>
        <p:spPr>
          <a:xfrm>
            <a:off x="2091194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0" name="Google Shape;900;p52"/>
          <p:cNvSpPr txBox="1"/>
          <p:nvPr/>
        </p:nvSpPr>
        <p:spPr>
          <a:xfrm>
            <a:off x="2415184" y="50411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1" name="Google Shape;901;p52"/>
          <p:cNvSpPr txBox="1"/>
          <p:nvPr/>
        </p:nvSpPr>
        <p:spPr>
          <a:xfrm>
            <a:off x="2415184" y="957707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2" name="Google Shape;902;p52"/>
          <p:cNvSpPr txBox="1"/>
          <p:nvPr/>
        </p:nvSpPr>
        <p:spPr>
          <a:xfrm>
            <a:off x="3315169" y="934008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3" name="Google Shape;903;p52"/>
          <p:cNvSpPr txBox="1"/>
          <p:nvPr/>
        </p:nvSpPr>
        <p:spPr>
          <a:xfrm>
            <a:off x="3826357" y="898004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04" name="Google Shape;904;p52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⊕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05" name="Google Shape;905;p5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37" y="822512"/>
            <a:ext cx="1795977" cy="2224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5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95893" y="501260"/>
            <a:ext cx="2593804" cy="10798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p5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“Исключающее 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53"/>
          <p:cNvSpPr txBox="1"/>
          <p:nvPr/>
        </p:nvSpPr>
        <p:spPr>
          <a:xfrm>
            <a:off x="762647" y="919302"/>
            <a:ext cx="467359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⊕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3" name="Google Shape;913;p53"/>
          <p:cNvSpPr txBox="1"/>
          <p:nvPr/>
        </p:nvSpPr>
        <p:spPr>
          <a:xfrm>
            <a:off x="2091194" y="559612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4" name="Google Shape;914;p53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5" name="Google Shape;915;p53"/>
          <p:cNvSpPr txBox="1"/>
          <p:nvPr/>
        </p:nvSpPr>
        <p:spPr>
          <a:xfrm>
            <a:off x="2091194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6" name="Google Shape;916;p53"/>
          <p:cNvSpPr txBox="1"/>
          <p:nvPr/>
        </p:nvSpPr>
        <p:spPr>
          <a:xfrm>
            <a:off x="2415184" y="50411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7" name="Google Shape;917;p53"/>
          <p:cNvSpPr txBox="1"/>
          <p:nvPr/>
        </p:nvSpPr>
        <p:spPr>
          <a:xfrm>
            <a:off x="2415184" y="957707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8" name="Google Shape;918;p53"/>
          <p:cNvSpPr txBox="1"/>
          <p:nvPr/>
        </p:nvSpPr>
        <p:spPr>
          <a:xfrm>
            <a:off x="3315169" y="934008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9" name="Google Shape;919;p53"/>
          <p:cNvSpPr txBox="1"/>
          <p:nvPr/>
        </p:nvSpPr>
        <p:spPr>
          <a:xfrm>
            <a:off x="3826357" y="898004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0" name="Google Shape;920;p53"/>
          <p:cNvSpPr txBox="1"/>
          <p:nvPr/>
        </p:nvSpPr>
        <p:spPr>
          <a:xfrm>
            <a:off x="2474501" y="1486992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1" name="Google Shape;921;p53"/>
          <p:cNvSpPr txBox="1"/>
          <p:nvPr/>
        </p:nvSpPr>
        <p:spPr>
          <a:xfrm>
            <a:off x="2474569" y="1520634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2" name="Google Shape;922;p53"/>
          <p:cNvSpPr txBox="1"/>
          <p:nvPr/>
        </p:nvSpPr>
        <p:spPr>
          <a:xfrm>
            <a:off x="2474569" y="1821015"/>
            <a:ext cx="106807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3" name="Google Shape;923;p53"/>
          <p:cNvSpPr txBox="1"/>
          <p:nvPr/>
        </p:nvSpPr>
        <p:spPr>
          <a:xfrm>
            <a:off x="2474501" y="1988032"/>
            <a:ext cx="107061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24" name="Google Shape;924;p53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⊕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25" name="Google Shape;92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337" y="821366"/>
            <a:ext cx="1795977" cy="2224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40988" y="504113"/>
            <a:ext cx="2656412" cy="197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p5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“Исключающее 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2" name="Google Shape;932;p54"/>
          <p:cNvSpPr txBox="1"/>
          <p:nvPr/>
        </p:nvSpPr>
        <p:spPr>
          <a:xfrm>
            <a:off x="762647" y="919302"/>
            <a:ext cx="467359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⊕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3" name="Google Shape;933;p54"/>
          <p:cNvSpPr/>
          <p:nvPr/>
        </p:nvSpPr>
        <p:spPr>
          <a:xfrm>
            <a:off x="1995893" y="533892"/>
            <a:ext cx="2339854" cy="89981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4" name="Google Shape;934;p54"/>
          <p:cNvSpPr txBox="1"/>
          <p:nvPr/>
        </p:nvSpPr>
        <p:spPr>
          <a:xfrm>
            <a:off x="2091194" y="559612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5" name="Google Shape;935;p54"/>
          <p:cNvSpPr txBox="1"/>
          <p:nvPr/>
        </p:nvSpPr>
        <p:spPr>
          <a:xfrm>
            <a:off x="2091194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6" name="Google Shape;936;p54"/>
          <p:cNvSpPr txBox="1"/>
          <p:nvPr/>
        </p:nvSpPr>
        <p:spPr>
          <a:xfrm>
            <a:off x="2415184" y="50411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7" name="Google Shape;937;p54"/>
          <p:cNvSpPr txBox="1"/>
          <p:nvPr/>
        </p:nvSpPr>
        <p:spPr>
          <a:xfrm>
            <a:off x="2415184" y="957707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8" name="Google Shape;938;p54"/>
          <p:cNvSpPr txBox="1"/>
          <p:nvPr/>
        </p:nvSpPr>
        <p:spPr>
          <a:xfrm>
            <a:off x="3315169" y="934008"/>
            <a:ext cx="85090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9" name="Google Shape;939;p54"/>
          <p:cNvSpPr txBox="1"/>
          <p:nvPr/>
        </p:nvSpPr>
        <p:spPr>
          <a:xfrm>
            <a:off x="3826357" y="898004"/>
            <a:ext cx="93345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0" name="Google Shape;940;p54"/>
          <p:cNvSpPr txBox="1"/>
          <p:nvPr/>
        </p:nvSpPr>
        <p:spPr>
          <a:xfrm>
            <a:off x="2474501" y="1486992"/>
            <a:ext cx="1070610" cy="3194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⎧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234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⎪⎨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1" name="Google Shape;941;p54"/>
          <p:cNvSpPr txBox="1"/>
          <p:nvPr/>
        </p:nvSpPr>
        <p:spPr>
          <a:xfrm>
            <a:off x="2474569" y="1520634"/>
            <a:ext cx="129539" cy="2178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2" name="Google Shape;942;p54"/>
          <p:cNvSpPr txBox="1"/>
          <p:nvPr/>
        </p:nvSpPr>
        <p:spPr>
          <a:xfrm>
            <a:off x="2474569" y="1821015"/>
            <a:ext cx="1068070" cy="2247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6204" marR="0" rtl="0" algn="l">
              <a:lnSpc>
                <a:spcPct val="685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�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2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9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</a:t>
            </a:r>
            <a:endParaRPr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3" name="Google Shape;943;p54"/>
          <p:cNvSpPr txBox="1"/>
          <p:nvPr/>
        </p:nvSpPr>
        <p:spPr>
          <a:xfrm>
            <a:off x="2474501" y="1988032"/>
            <a:ext cx="1070610" cy="146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⎪⎩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lang="ru-RU" sz="13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 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baseline="30000" i="1" lang="ru-RU" sz="135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baseline="30000" i="1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&lt; </a:t>
            </a:r>
            <a:r>
              <a:rPr baseline="30000" lang="ru-RU" sz="13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aseline="30000"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4" name="Google Shape;944;p54"/>
          <p:cNvSpPr txBox="1"/>
          <p:nvPr/>
        </p:nvSpPr>
        <p:spPr>
          <a:xfrm>
            <a:off x="2271191" y="204998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5" name="Google Shape;945;p54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6" name="Google Shape;946;p54"/>
          <p:cNvSpPr txBox="1"/>
          <p:nvPr/>
        </p:nvSpPr>
        <p:spPr>
          <a:xfrm>
            <a:off x="3063176" y="302197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54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48" name="Google Shape;948;p54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⊕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49" name="Google Shape;949;p5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8337" y="821366"/>
            <a:ext cx="1795977" cy="2224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5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14221" y="504113"/>
            <a:ext cx="2321526" cy="2689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5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Оператор “Исключающее ИЛИ”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6" name="Google Shape;956;p55"/>
          <p:cNvSpPr txBox="1"/>
          <p:nvPr/>
        </p:nvSpPr>
        <p:spPr>
          <a:xfrm>
            <a:off x="762647" y="919302"/>
            <a:ext cx="467359" cy="2292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100">
                <a:solidFill>
                  <a:srgbClr val="FFD56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⊕ </a:t>
            </a: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7" name="Google Shape;957;p55"/>
          <p:cNvSpPr txBox="1"/>
          <p:nvPr/>
        </p:nvSpPr>
        <p:spPr>
          <a:xfrm>
            <a:off x="2091194" y="559612"/>
            <a:ext cx="158750" cy="186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8" name="Google Shape;958;p55"/>
          <p:cNvSpPr txBox="1"/>
          <p:nvPr/>
        </p:nvSpPr>
        <p:spPr>
          <a:xfrm>
            <a:off x="2091194" y="1006005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9" name="Google Shape;959;p55"/>
          <p:cNvSpPr txBox="1"/>
          <p:nvPr/>
        </p:nvSpPr>
        <p:spPr>
          <a:xfrm>
            <a:off x="2720987" y="2026132"/>
            <a:ext cx="7239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0" name="Google Shape;960;p55"/>
          <p:cNvSpPr txBox="1"/>
          <p:nvPr/>
        </p:nvSpPr>
        <p:spPr>
          <a:xfrm>
            <a:off x="3059150" y="2026132"/>
            <a:ext cx="72390" cy="10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1" name="Google Shape;961;p55"/>
          <p:cNvSpPr txBox="1"/>
          <p:nvPr/>
        </p:nvSpPr>
        <p:spPr>
          <a:xfrm>
            <a:off x="2271191" y="204998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2" name="Google Shape;962;p55"/>
          <p:cNvSpPr/>
          <p:nvPr/>
        </p:nvSpPr>
        <p:spPr>
          <a:xfrm>
            <a:off x="2139886" y="2029636"/>
            <a:ext cx="1079870" cy="113204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3" name="Google Shape;963;p55"/>
          <p:cNvSpPr txBox="1"/>
          <p:nvPr/>
        </p:nvSpPr>
        <p:spPr>
          <a:xfrm>
            <a:off x="4249801" y="3193592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49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64" name="Google Shape;964;p55"/>
          <p:cNvGraphicFramePr/>
          <p:nvPr/>
        </p:nvGraphicFramePr>
        <p:xfrm>
          <a:off x="333279" y="124373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{F79C74CB-AA8B-467A-80D8-45226C0A96BB}</a:tableStyleId>
              </a:tblPr>
              <a:tblGrid>
                <a:gridCol w="447050"/>
                <a:gridCol w="447025"/>
                <a:gridCol w="591025"/>
              </a:tblGrid>
              <a:tr h="315375">
                <a:tc>
                  <a:txBody>
                    <a:bodyPr/>
                    <a:lstStyle/>
                    <a:p>
                      <a:pPr indent="0" lvl="0" marL="19113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75565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 </a:t>
                      </a:r>
                      <a:r>
                        <a:rPr lang="ru-RU" sz="1100">
                          <a:solidFill>
                            <a:srgbClr val="FFD564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⊕ </a:t>
                      </a:r>
                      <a:r>
                        <a:rPr i="1"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�</a:t>
                      </a:r>
                      <a:r>
                        <a:rPr baseline="-25000" lang="ru-RU" sz="12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baseline="-25000" sz="12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3334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225"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3175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100">
                          <a:solidFill>
                            <a:srgbClr val="FFD564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endParaRPr sz="1100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0" marB="0" marR="0" marL="0">
                    <a:lnL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D56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965" name="Google Shape;965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337" y="891663"/>
            <a:ext cx="1795977" cy="2224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966" name="Google Shape;966;p5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913669" y="533000"/>
            <a:ext cx="2336131" cy="27786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0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2" name="Google Shape;972;p56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73" name="Google Shape;973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3052" y="700230"/>
            <a:ext cx="3722048" cy="3861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7" name="Shape 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8" name="Google Shape;978;p5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9" name="Google Shape;979;p57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0" name="Google Shape;98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" y="742950"/>
            <a:ext cx="3443435" cy="184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p5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6" name="Google Shape;986;p58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7" name="Google Shape;987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7500" y="666750"/>
            <a:ext cx="3213710" cy="2051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5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3" name="Google Shape;993;p59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94" name="Google Shape;994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1300" y="590550"/>
            <a:ext cx="3494087" cy="2213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8" name="Shape 9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Google Shape;999;p6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Решение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0" name="Google Shape;1000;p60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1" name="Google Shape;1001;p60"/>
          <p:cNvSpPr txBox="1"/>
          <p:nvPr/>
        </p:nvSpPr>
        <p:spPr>
          <a:xfrm>
            <a:off x="2947936" y="1352550"/>
            <a:ext cx="1505585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4572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Сеть позволяет сделать нелинейную операцию!!!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2" name="Google Shape;1002;p60"/>
          <p:cNvSpPr txBox="1"/>
          <p:nvPr/>
        </p:nvSpPr>
        <p:spPr>
          <a:xfrm>
            <a:off x="269352" y="2508721"/>
            <a:ext cx="4030345" cy="4353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12700" rtl="0" algn="l">
              <a:lnSpc>
                <a:spcPct val="102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Мы использовали 5 нейронов. Но для решения задачи можно использовать всего 3.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03" name="Google Shape;1003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9150" y="593570"/>
            <a:ext cx="2798786" cy="1773238"/>
          </a:xfrm>
          <a:prstGeom prst="rect">
            <a:avLst/>
          </a:prstGeom>
          <a:noFill/>
          <a:ln>
            <a:noFill/>
          </a:ln>
        </p:spPr>
      </p:pic>
      <p:sp>
        <p:nvSpPr>
          <p:cNvPr id="1004" name="Google Shape;1004;p60"/>
          <p:cNvSpPr txBox="1"/>
          <p:nvPr/>
        </p:nvSpPr>
        <p:spPr>
          <a:xfrm>
            <a:off x="289090" y="2959632"/>
            <a:ext cx="3686010" cy="3134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Задание 2: придумать как смоделировать нейрон «XOR»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используя три нейрона. Привести формулу и график сети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9" name="Google Shape;1009;p6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Линейность нейрона и нелинейность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0" name="Google Shape;1010;p61"/>
          <p:cNvSpPr/>
          <p:nvPr/>
        </p:nvSpPr>
        <p:spPr>
          <a:xfrm>
            <a:off x="270002" y="827494"/>
            <a:ext cx="1800004" cy="236020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1" name="Google Shape;1011;p61"/>
          <p:cNvSpPr txBox="1"/>
          <p:nvPr/>
        </p:nvSpPr>
        <p:spPr>
          <a:xfrm>
            <a:off x="363808" y="666750"/>
            <a:ext cx="2997200" cy="487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7716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    Разделяющая поверхность нейрона линейна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None/>
            </a:pPr>
            <a:r>
              <a:rPr baseline="-25000" i="1" lang="ru-RU" sz="16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     </a:t>
            </a: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Сети – нелинейна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2" name="Google Shape;1012;p61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3" name="Google Shape;1013;p61"/>
          <p:cNvSpPr txBox="1"/>
          <p:nvPr/>
        </p:nvSpPr>
        <p:spPr>
          <a:xfrm>
            <a:off x="973264" y="2796006"/>
            <a:ext cx="990600" cy="36893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1270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None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Нейрон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7" name="Shape 1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8" name="Google Shape;1018;p62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Линейность нейрона и нелинейность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62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0" name="Google Shape;102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590549"/>
            <a:ext cx="4040136" cy="26295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6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Линейность нейрона и нелинейность сети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6" name="Google Shape;1026;p63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7" name="Google Shape;1027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5100" y="590550"/>
            <a:ext cx="4040136" cy="26382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p64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3" name="Google Shape;1033;p64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4" name="Google Shape;1034;p64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х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5" name="Google Shape;1035;p64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58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6" name="Google Shape;1036;p64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7" name="Google Shape;1037;p64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8" name="Google Shape;1038;p64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9" name="Google Shape;1039;p64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у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64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1" name="Google Shape;1041;p64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w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42" name="Google Shape;1042;p6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3530" y="577913"/>
            <a:ext cx="3512117" cy="16309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65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8" name="Google Shape;1048;p65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9" name="Google Shape;1049;p65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0" name="Google Shape;1050;p65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1" name="Google Shape;1051;p65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2" name="Google Shape;1052;p65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3" name="Google Shape;1053;p65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4" name="Google Shape;1054;p65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5" name="Google Shape;1055;p65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6" name="Google Shape;1056;p65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7" name="Google Shape;1057;p65"/>
          <p:cNvSpPr txBox="1"/>
          <p:nvPr/>
        </p:nvSpPr>
        <p:spPr>
          <a:xfrm>
            <a:off x="2341308" y="987679"/>
            <a:ext cx="1537335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 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58" name="Google Shape;1058;p6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1138" y="646010"/>
            <a:ext cx="4175125" cy="1008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p66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4" name="Google Shape;1064;p66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5" name="Google Shape;1065;p66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6" name="Google Shape;1066;p66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60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66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8" name="Google Shape;1068;p66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9" name="Google Shape;1069;p66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0" name="Google Shape;1070;p66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1" name="Google Shape;1071;p66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2" name="Google Shape;1072;p66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66"/>
          <p:cNvSpPr txBox="1"/>
          <p:nvPr/>
        </p:nvSpPr>
        <p:spPr>
          <a:xfrm>
            <a:off x="2341308" y="987679"/>
            <a:ext cx="1537335" cy="408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 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3"/>
              </a:spcBef>
              <a:spcAft>
                <a:spcPts val="0"/>
              </a:spcAft>
              <a:buNone/>
            </a:pPr>
            <a:r>
              <a:t/>
            </a:r>
            <a:endParaRPr sz="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i="1"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05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+ </a:t>
            </a:r>
            <a:r>
              <a:rPr i="1" lang="ru-RU" sz="10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 </a:t>
            </a:r>
            <a:r>
              <a:rPr lang="ru-RU" sz="10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4" name="Google Shape;107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5263" y="656513"/>
            <a:ext cx="4206875" cy="95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8" name="Shape 1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9" name="Google Shape;1079;p67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0" name="Google Shape;1080;p67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1" name="Google Shape;1081;p67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2" name="Google Shape;1082;p67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61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3" name="Google Shape;1083;p67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4" name="Google Shape;1084;p67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5" name="Google Shape;1085;p67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6" name="Google Shape;1086;p67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7" name="Google Shape;1087;p67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8" name="Google Shape;1088;p67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9" name="Google Shape;1089;p67"/>
          <p:cNvSpPr txBox="1"/>
          <p:nvPr/>
        </p:nvSpPr>
        <p:spPr>
          <a:xfrm>
            <a:off x="701941" y="720115"/>
            <a:ext cx="25717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0" name="Google Shape;1090;p67"/>
          <p:cNvSpPr txBox="1"/>
          <p:nvPr/>
        </p:nvSpPr>
        <p:spPr>
          <a:xfrm>
            <a:off x="701941" y="1368094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1" name="Google Shape;1091;p6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3011" y="641263"/>
            <a:ext cx="4254500" cy="1381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68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7" name="Google Shape;1097;p68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8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9" name="Google Shape;1099;p68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62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0" name="Google Shape;1100;p68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68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2" name="Google Shape;1102;p68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3" name="Google Shape;1103;p68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4" name="Google Shape;1104;p68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5" name="Google Shape;1105;p68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6" name="Google Shape;1106;p68"/>
          <p:cNvSpPr txBox="1"/>
          <p:nvPr/>
        </p:nvSpPr>
        <p:spPr>
          <a:xfrm>
            <a:off x="701941" y="720115"/>
            <a:ext cx="25717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7" name="Google Shape;1107;p68"/>
          <p:cNvSpPr txBox="1"/>
          <p:nvPr/>
        </p:nvSpPr>
        <p:spPr>
          <a:xfrm>
            <a:off x="701941" y="1368094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8" name="Google Shape;1108;p6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9700" y="607217"/>
            <a:ext cx="4318000" cy="1897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2" name="Shape 1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3" name="Google Shape;1113;p69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4" name="Google Shape;1114;p69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5" name="Google Shape;1115;p69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6" name="Google Shape;1116;p69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63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7" name="Google Shape;1117;p69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8" name="Google Shape;1118;p69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9" name="Google Shape;1119;p69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0" name="Google Shape;1120;p69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1" name="Google Shape;1121;p69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2" name="Google Shape;1122;p69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3" name="Google Shape;1123;p69"/>
          <p:cNvSpPr txBox="1"/>
          <p:nvPr/>
        </p:nvSpPr>
        <p:spPr>
          <a:xfrm>
            <a:off x="701941" y="720115"/>
            <a:ext cx="25717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4" name="Google Shape;1124;p69"/>
          <p:cNvSpPr txBox="1"/>
          <p:nvPr/>
        </p:nvSpPr>
        <p:spPr>
          <a:xfrm>
            <a:off x="701941" y="1368094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5" name="Google Shape;1125;p6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575" y="533400"/>
            <a:ext cx="4540250" cy="247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0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1" name="Google Shape;1131;p70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2" name="Google Shape;1132;p70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3" name="Google Shape;1133;p70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4" name="Google Shape;1134;p70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5" name="Google Shape;1135;p70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6" name="Google Shape;1136;p70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7" name="Google Shape;1137;p70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8" name="Google Shape;1138;p70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9" name="Google Shape;1139;p70"/>
          <p:cNvSpPr txBox="1"/>
          <p:nvPr/>
        </p:nvSpPr>
        <p:spPr>
          <a:xfrm>
            <a:off x="701941" y="720115"/>
            <a:ext cx="25717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0" name="Google Shape;1140;p70"/>
          <p:cNvSpPr txBox="1"/>
          <p:nvPr/>
        </p:nvSpPr>
        <p:spPr>
          <a:xfrm>
            <a:off x="701941" y="1368094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1" name="Google Shape;1141;p70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64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42" name="Google Shape;1142;p7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3" y="590092"/>
            <a:ext cx="4587875" cy="260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1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Сеть нейронов с линейной активацией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8" name="Google Shape;1148;p71"/>
          <p:cNvSpPr/>
          <p:nvPr/>
        </p:nvSpPr>
        <p:spPr>
          <a:xfrm>
            <a:off x="426656" y="607217"/>
            <a:ext cx="1799837" cy="1042474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9" name="Google Shape;1149;p71"/>
          <p:cNvSpPr txBox="1"/>
          <p:nvPr/>
        </p:nvSpPr>
        <p:spPr>
          <a:xfrm>
            <a:off x="305955" y="718007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0" name="Google Shape;1150;p71"/>
          <p:cNvSpPr txBox="1"/>
          <p:nvPr/>
        </p:nvSpPr>
        <p:spPr>
          <a:xfrm>
            <a:off x="305955" y="1294003"/>
            <a:ext cx="15875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1" name="Google Shape;1151;p71"/>
          <p:cNvSpPr txBox="1"/>
          <p:nvPr/>
        </p:nvSpPr>
        <p:spPr>
          <a:xfrm>
            <a:off x="1205941" y="646010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2" name="Google Shape;1152;p71"/>
          <p:cNvSpPr txBox="1"/>
          <p:nvPr/>
        </p:nvSpPr>
        <p:spPr>
          <a:xfrm>
            <a:off x="1205941" y="1186002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3" name="Google Shape;1153;p71"/>
          <p:cNvSpPr txBox="1"/>
          <p:nvPr/>
        </p:nvSpPr>
        <p:spPr>
          <a:xfrm>
            <a:off x="1925929" y="934008"/>
            <a:ext cx="147320" cy="1987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11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12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aseline="-25000"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4" name="Google Shape;1154;p71"/>
          <p:cNvSpPr txBox="1"/>
          <p:nvPr/>
        </p:nvSpPr>
        <p:spPr>
          <a:xfrm>
            <a:off x="1565935" y="1224102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5" name="Google Shape;1155;p71"/>
          <p:cNvSpPr txBox="1"/>
          <p:nvPr/>
        </p:nvSpPr>
        <p:spPr>
          <a:xfrm>
            <a:off x="1565935" y="828103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8DCCF6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6" name="Google Shape;1156;p71"/>
          <p:cNvSpPr txBox="1"/>
          <p:nvPr/>
        </p:nvSpPr>
        <p:spPr>
          <a:xfrm>
            <a:off x="701941" y="720115"/>
            <a:ext cx="257175" cy="543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BEFA94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0650" marR="0" rtl="0" algn="l">
              <a:lnSpc>
                <a:spcPct val="100000"/>
              </a:lnSpc>
              <a:spcBef>
                <a:spcPts val="455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7" name="Google Shape;1157;p71"/>
          <p:cNvSpPr txBox="1"/>
          <p:nvPr/>
        </p:nvSpPr>
        <p:spPr>
          <a:xfrm>
            <a:off x="701941" y="1368094"/>
            <a:ext cx="149225" cy="1479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ru-RU" sz="8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�</a:t>
            </a:r>
            <a:r>
              <a:rPr baseline="-25000" lang="ru-RU" sz="900">
                <a:solidFill>
                  <a:srgbClr val="FF860C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aseline="-25000" sz="9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8" name="Google Shape;1158;p71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65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59" name="Google Shape;1159;p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843" y="527442"/>
            <a:ext cx="4316678" cy="26304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 thruBlk="1"/>
  </p:transition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72"/>
          <p:cNvSpPr/>
          <p:nvPr/>
        </p:nvSpPr>
        <p:spPr>
          <a:xfrm>
            <a:off x="245035" y="514350"/>
            <a:ext cx="411480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8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Таким образом, не имеет смысла скармливать результаты работы линейных нейронов в другой линейный нейрон в том случае, если каждый из первых линейных нейронов получал на вход все аргументы, такие же, как все остальные нейроны в этом же слое</a:t>
            </a:r>
            <a:r>
              <a:rPr lang="ru-RU" sz="1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/>
          </a:p>
        </p:txBody>
      </p:sp>
      <p:sp>
        <p:nvSpPr>
          <p:cNvPr id="1165" name="Google Shape;1165;p72"/>
          <p:cNvSpPr txBox="1"/>
          <p:nvPr/>
        </p:nvSpPr>
        <p:spPr>
          <a:xfrm>
            <a:off x="4115269" y="3280923"/>
            <a:ext cx="20383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66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9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p73"/>
          <p:cNvSpPr txBox="1"/>
          <p:nvPr>
            <p:ph type="title"/>
          </p:nvPr>
        </p:nvSpPr>
        <p:spPr>
          <a:xfrm>
            <a:off x="289090" y="281343"/>
            <a:ext cx="4030014" cy="4191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1557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Итог</a:t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1" name="Google Shape;1171;p73"/>
          <p:cNvSpPr txBox="1"/>
          <p:nvPr/>
        </p:nvSpPr>
        <p:spPr>
          <a:xfrm>
            <a:off x="4205236" y="3193592"/>
            <a:ext cx="248285" cy="1092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600">
                <a:solidFill>
                  <a:srgbClr val="FFD564"/>
                </a:solidFill>
                <a:latin typeface="Arial"/>
                <a:ea typeface="Arial"/>
                <a:cs typeface="Arial"/>
                <a:sym typeface="Arial"/>
              </a:rPr>
              <a:t>67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2" name="Google Shape;1172;p73"/>
          <p:cNvSpPr txBox="1"/>
          <p:nvPr>
            <p:ph idx="1" type="body"/>
          </p:nvPr>
        </p:nvSpPr>
        <p:spPr>
          <a:xfrm>
            <a:off x="484899" y="635889"/>
            <a:ext cx="3638396" cy="13604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39065" lvl="0" marL="1968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Quattrocento Sans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Как устроен биологический нейрон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968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Quattrocento Sans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Как сделать математическую модель нейрона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96850" marR="12700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Quattrocento Sans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Как представить некоторые логические операции в виде нейронов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968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Quattrocento Sans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Нейрон линеен, сеть нелинейна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-139065" lvl="0" marL="196850" marR="301625" rtl="0" algn="l">
              <a:lnSpc>
                <a:spcPct val="102600"/>
              </a:lnSpc>
              <a:spcBef>
                <a:spcPts val="300"/>
              </a:spcBef>
              <a:spcAft>
                <a:spcPts val="0"/>
              </a:spcAft>
              <a:buClr>
                <a:srgbClr val="FFD564"/>
              </a:buClr>
              <a:buSzPts val="1100"/>
              <a:buFont typeface="Quattrocento Sans"/>
              <a:buChar char="●"/>
            </a:pPr>
            <a:r>
              <a:rPr lang="ru-RU" sz="1100">
                <a:solidFill>
                  <a:srgbClr val="D4D5D6"/>
                </a:solidFill>
                <a:latin typeface="Arial"/>
                <a:ea typeface="Arial"/>
                <a:cs typeface="Arial"/>
                <a:sym typeface="Arial"/>
              </a:rPr>
              <a:t>Комбинировать полносвязанные линейные нейроны бессмысленно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 thruBlk="1"/>
  </p:transition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Серая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